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slides/slide12.xml" ContentType="application/vnd.openxmlformats-officedocument.presentationml.slide+xml"/>
  <Override PartName="/ppt/slides/slide13.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61" r:id="rId4"/>
    <p:sldId id="269" r:id="rId21"/>
    <p:sldId id="268" r:id="rId20"/>
    <p:sldId id="258" r:id="rId5"/>
    <p:sldId id="259" r:id="rId6"/>
    <p:sldId id="260" r:id="rId7"/>
    <p:sldId id="263" r:id="rId8"/>
    <p:sldId id="264" r:id="rId9"/>
    <p:sldId id="265" r:id="rId10"/>
    <p:sldId id="266" r:id="rId11"/>
    <p:sldId id="26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280BE3C-B0B0-4CFB-816B-712D973A64E0}" v="3" dt="2026-09-15T10:05:24.21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  <Relationship Id="rId20" Type="http://schemas.openxmlformats.org/officeDocument/2006/relationships/slide" Target="slides/slide12.xml"/>
  <Relationship Id="rId21" Type="http://schemas.openxmlformats.org/officeDocument/2006/relationships/slide" Target="slides/slide13.xml"/>
</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SP MADHURI" userId="d5baabbced009fe2" providerId="LiveId" clId="{5C1935DC-7BAA-4BFD-8AE9-FAF66D151093}"/>
    <pc:docChg chg="undo custSel addSld modSld sldOrd">
      <pc:chgData name="TSP MADHURI" userId="d5baabbced009fe2" providerId="LiveId" clId="{5C1935DC-7BAA-4BFD-8AE9-FAF66D151093}" dt="2026-09-15T10:01:58.231" v="188" actId="22"/>
      <pc:docMkLst>
        <pc:docMk/>
      </pc:docMkLst>
      <pc:sldChg chg="addSp delSp modSp mod">
        <pc:chgData name="TSP MADHURI" userId="d5baabbced009fe2" providerId="LiveId" clId="{5C1935DC-7BAA-4BFD-8AE9-FAF66D151093}" dt="2026-09-15T10:01:58.231" v="188" actId="22"/>
        <pc:sldMkLst>
          <pc:docMk/>
          <pc:sldMk cId="1570750093" sldId="256"/>
        </pc:sldMkLst>
        <pc:spChg chg="mod">
          <ac:chgData name="TSP MADHURI" userId="d5baabbced009fe2" providerId="LiveId" clId="{5C1935DC-7BAA-4BFD-8AE9-FAF66D151093}" dt="2026-09-15T09:58:58.254" v="62" actId="20577"/>
          <ac:spMkLst>
            <pc:docMk/>
            <pc:sldMk cId="1570750093" sldId="256"/>
            <ac:spMk id="2" creationId="{81C0CCFF-527E-4AC9-A45F-A8196F49E0C3}"/>
          </ac:spMkLst>
        </pc:spChg>
        <pc:spChg chg="mod">
          <ac:chgData name="TSP MADHURI" userId="d5baabbced009fe2" providerId="LiveId" clId="{5C1935DC-7BAA-4BFD-8AE9-FAF66D151093}" dt="2026-09-15T09:59:08.667" v="65"/>
          <ac:spMkLst>
            <pc:docMk/>
            <pc:sldMk cId="1570750093" sldId="256"/>
            <ac:spMk id="3" creationId="{A452AC95-AA7D-A76A-037F-6B2DB5A27E48}"/>
          </ac:spMkLst>
        </pc:spChg>
        <pc:spChg chg="add del">
          <ac:chgData name="TSP MADHURI" userId="d5baabbced009fe2" providerId="LiveId" clId="{5C1935DC-7BAA-4BFD-8AE9-FAF66D151093}" dt="2026-09-15T09:58:23.995" v="1" actId="22"/>
          <ac:spMkLst>
            <pc:docMk/>
            <pc:sldMk cId="1570750093" sldId="256"/>
            <ac:spMk id="5" creationId="{16E58A68-9A46-73D5-6ACA-6EBDA713DE38}"/>
          </ac:spMkLst>
        </pc:spChg>
        <pc:spChg chg="add del mod">
          <ac:chgData name="TSP MADHURI" userId="d5baabbced009fe2" providerId="LiveId" clId="{5C1935DC-7BAA-4BFD-8AE9-FAF66D151093}" dt="2026-09-15T10:01:58.231" v="188" actId="22"/>
          <ac:spMkLst>
            <pc:docMk/>
            <pc:sldMk cId="1570750093" sldId="256"/>
            <ac:spMk id="7" creationId="{195ACB3F-808A-0A7A-B8BD-A70C42ECC1E5}"/>
          </ac:spMkLst>
        </pc:spChg>
      </pc:sldChg>
      <pc:sldChg chg="modSp new mod">
        <pc:chgData name="TSP MADHURI" userId="d5baabbced009fe2" providerId="LiveId" clId="{5C1935DC-7BAA-4BFD-8AE9-FAF66D151093}" dt="2026-09-15T09:59:16.247" v="74" actId="20577"/>
        <pc:sldMkLst>
          <pc:docMk/>
          <pc:sldMk cId="676338040" sldId="257"/>
        </pc:sldMkLst>
        <pc:spChg chg="mod">
          <ac:chgData name="TSP MADHURI" userId="d5baabbced009fe2" providerId="LiveId" clId="{5C1935DC-7BAA-4BFD-8AE9-FAF66D151093}" dt="2026-09-15T09:59:16.247" v="74" actId="20577"/>
          <ac:spMkLst>
            <pc:docMk/>
            <pc:sldMk cId="676338040" sldId="257"/>
            <ac:spMk id="2" creationId="{EDE71AF3-F02C-0F4C-0929-57F8B753540D}"/>
          </ac:spMkLst>
        </pc:spChg>
      </pc:sldChg>
      <pc:sldChg chg="modSp new mod">
        <pc:chgData name="TSP MADHURI" userId="d5baabbced009fe2" providerId="LiveId" clId="{5C1935DC-7BAA-4BFD-8AE9-FAF66D151093}" dt="2026-09-15T09:59:25.529" v="86" actId="20577"/>
        <pc:sldMkLst>
          <pc:docMk/>
          <pc:sldMk cId="4104242747" sldId="258"/>
        </pc:sldMkLst>
        <pc:spChg chg="mod">
          <ac:chgData name="TSP MADHURI" userId="d5baabbced009fe2" providerId="LiveId" clId="{5C1935DC-7BAA-4BFD-8AE9-FAF66D151093}" dt="2026-09-15T09:59:25.529" v="86" actId="20577"/>
          <ac:spMkLst>
            <pc:docMk/>
            <pc:sldMk cId="4104242747" sldId="258"/>
            <ac:spMk id="2" creationId="{8E154CC5-4FD5-611A-4481-E878E281E2CD}"/>
          </ac:spMkLst>
        </pc:spChg>
      </pc:sldChg>
      <pc:sldChg chg="modSp new mod">
        <pc:chgData name="TSP MADHURI" userId="d5baabbced009fe2" providerId="LiveId" clId="{5C1935DC-7BAA-4BFD-8AE9-FAF66D151093}" dt="2026-09-15T09:59:36.234" v="101" actId="20577"/>
        <pc:sldMkLst>
          <pc:docMk/>
          <pc:sldMk cId="4178111765" sldId="259"/>
        </pc:sldMkLst>
        <pc:spChg chg="mod">
          <ac:chgData name="TSP MADHURI" userId="d5baabbced009fe2" providerId="LiveId" clId="{5C1935DC-7BAA-4BFD-8AE9-FAF66D151093}" dt="2026-09-15T09:59:36.234" v="101" actId="20577"/>
          <ac:spMkLst>
            <pc:docMk/>
            <pc:sldMk cId="4178111765" sldId="259"/>
            <ac:spMk id="2" creationId="{3954FDF4-A21D-11D6-CA7A-382058E2F499}"/>
          </ac:spMkLst>
        </pc:spChg>
      </pc:sldChg>
      <pc:sldChg chg="modSp new mod">
        <pc:chgData name="TSP MADHURI" userId="d5baabbced009fe2" providerId="LiveId" clId="{5C1935DC-7BAA-4BFD-8AE9-FAF66D151093}" dt="2026-09-15T09:59:46.562" v="113" actId="20577"/>
        <pc:sldMkLst>
          <pc:docMk/>
          <pc:sldMk cId="1869875426" sldId="260"/>
        </pc:sldMkLst>
        <pc:spChg chg="mod">
          <ac:chgData name="TSP MADHURI" userId="d5baabbced009fe2" providerId="LiveId" clId="{5C1935DC-7BAA-4BFD-8AE9-FAF66D151093}" dt="2026-09-15T09:59:46.562" v="113" actId="20577"/>
          <ac:spMkLst>
            <pc:docMk/>
            <pc:sldMk cId="1869875426" sldId="260"/>
            <ac:spMk id="2" creationId="{C73BDDFB-DFEC-7A21-D889-17965A225820}"/>
          </ac:spMkLst>
        </pc:spChg>
      </pc:sldChg>
      <pc:sldChg chg="modSp new mod ord">
        <pc:chgData name="TSP MADHURI" userId="d5baabbced009fe2" providerId="LiveId" clId="{5C1935DC-7BAA-4BFD-8AE9-FAF66D151093}" dt="2026-09-15T10:00:14.865" v="149"/>
        <pc:sldMkLst>
          <pc:docMk/>
          <pc:sldMk cId="3980090555" sldId="261"/>
        </pc:sldMkLst>
        <pc:spChg chg="mod">
          <ac:chgData name="TSP MADHURI" userId="d5baabbced009fe2" providerId="LiveId" clId="{5C1935DC-7BAA-4BFD-8AE9-FAF66D151093}" dt="2026-09-15T10:00:08.859" v="147" actId="20577"/>
          <ac:spMkLst>
            <pc:docMk/>
            <pc:sldMk cId="3980090555" sldId="261"/>
            <ac:spMk id="2" creationId="{54D4AC2B-1702-695F-E0B5-9F6550F04B7D}"/>
          </ac:spMkLst>
        </pc:spChg>
      </pc:sldChg>
      <pc:sldChg chg="modSp new mod">
        <pc:chgData name="TSP MADHURI" userId="d5baabbced009fe2" providerId="LiveId" clId="{5C1935DC-7BAA-4BFD-8AE9-FAF66D151093}" dt="2026-09-15T10:00:56.631" v="184" actId="20577"/>
        <pc:sldMkLst>
          <pc:docMk/>
          <pc:sldMk cId="1396777043" sldId="262"/>
        </pc:sldMkLst>
        <pc:spChg chg="mod">
          <ac:chgData name="TSP MADHURI" userId="d5baabbced009fe2" providerId="LiveId" clId="{5C1935DC-7BAA-4BFD-8AE9-FAF66D151093}" dt="2026-09-15T10:00:56.631" v="184" actId="20577"/>
          <ac:spMkLst>
            <pc:docMk/>
            <pc:sldMk cId="1396777043" sldId="262"/>
            <ac:spMk id="2" creationId="{BDCEF2EB-DC8E-A39F-8C45-4CB81854799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27AFC0-00B8-4117-895C-3E834B171036}" type="datetimeFigureOut">
              <a:rPr lang="en-IN" smtClean="0"/>
              <a:t>16-10-2026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3476CA-421D-4B57-8942-5762D93F1AB2}" type="slidenum">
              <a:rPr lang="en-IN" smtClean="0"/>
              <a:t>‹#›</a:t>
            </a:fld>
            <a:endParaRPr lang="en-IN"/>
          </a:p>
        </p:txBody>
      </p:sp>
    </p:spTree>
    <p:extLst>
      <p:ext uri="{BB962C8B-B14F-4D97-AF65-F5344CB8AC3E}">
        <p14:creationId xmlns:p14="http://schemas.microsoft.com/office/powerpoint/2010/main" val="39941649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5F3B8-DDEB-3931-BD30-FCDF92768BD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D0E52B7-3612-C42C-E3C4-1568700EDDB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2E2A539-9977-5E0E-CDC1-067BB186F683}"/>
              </a:ext>
            </a:extLst>
          </p:cNvPr>
          <p:cNvSpPr>
            <a:spLocks noGrp="1"/>
          </p:cNvSpPr>
          <p:nvPr>
            <p:ph type="dt" sz="half" idx="10"/>
          </p:nvPr>
        </p:nvSpPr>
        <p:spPr/>
        <p:txBody>
          <a:bodyPr/>
          <a:lstStyle/>
          <a:p>
            <a:fld id="{16F549C3-E12B-4CC2-9FA1-D4C0643B7241}" type="datetime1">
              <a:rPr lang="en-IN" smtClean="0"/>
              <a:t>16-10-2026</a:t>
            </a:fld>
            <a:endParaRPr lang="en-IN"/>
          </a:p>
        </p:txBody>
      </p:sp>
      <p:sp>
        <p:nvSpPr>
          <p:cNvPr id="5" name="Footer Placeholder 4">
            <a:extLst>
              <a:ext uri="{FF2B5EF4-FFF2-40B4-BE49-F238E27FC236}">
                <a16:creationId xmlns:a16="http://schemas.microsoft.com/office/drawing/2014/main" id="{8DC91C38-BEF3-AA2E-ACFE-DCF1543BE03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71CB7FA-8196-F586-E960-B5BAE429FE29}"/>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8" name="Picture 7">
            <a:extLst>
              <a:ext uri="{FF2B5EF4-FFF2-40B4-BE49-F238E27FC236}">
                <a16:creationId xmlns:a16="http://schemas.microsoft.com/office/drawing/2014/main" id="{EEB3F1FD-0147-797C-0ED6-E694A2BD624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3055596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259C4-DC4A-CF70-25D2-F39535A1F7B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CA6C27E-0A06-D409-8884-852E74A2946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67AC31F-7BFD-CA38-00A7-A2FD01A09849}"/>
              </a:ext>
            </a:extLst>
          </p:cNvPr>
          <p:cNvSpPr>
            <a:spLocks noGrp="1"/>
          </p:cNvSpPr>
          <p:nvPr>
            <p:ph type="dt" sz="half" idx="10"/>
          </p:nvPr>
        </p:nvSpPr>
        <p:spPr/>
        <p:txBody>
          <a:bodyPr/>
          <a:lstStyle/>
          <a:p>
            <a:fld id="{07DE2E10-B9C9-4696-8C2C-567691D9BBFD}" type="datetime1">
              <a:rPr lang="en-IN" smtClean="0"/>
              <a:t>16-10-2026</a:t>
            </a:fld>
            <a:endParaRPr lang="en-IN"/>
          </a:p>
        </p:txBody>
      </p:sp>
      <p:sp>
        <p:nvSpPr>
          <p:cNvPr id="5" name="Footer Placeholder 4">
            <a:extLst>
              <a:ext uri="{FF2B5EF4-FFF2-40B4-BE49-F238E27FC236}">
                <a16:creationId xmlns:a16="http://schemas.microsoft.com/office/drawing/2014/main" id="{8E415AD4-5B3F-78FD-DE66-C3F50AC63A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F80549F-8592-A2F0-A7A6-A1C45E9E6C73}"/>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8" name="Picture 7">
            <a:extLst>
              <a:ext uri="{FF2B5EF4-FFF2-40B4-BE49-F238E27FC236}">
                <a16:creationId xmlns:a16="http://schemas.microsoft.com/office/drawing/2014/main" id="{5381CCB4-DDFA-058A-AE03-5A3CFCA9F8C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2762151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EAB08-E23E-771E-1FDE-DC7851594F4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C036FC1-1DB6-A8A4-C315-834C3FFCFEB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E565D3F-93C4-BE6A-B0D8-5AFF3E69AF83}"/>
              </a:ext>
            </a:extLst>
          </p:cNvPr>
          <p:cNvSpPr>
            <a:spLocks noGrp="1"/>
          </p:cNvSpPr>
          <p:nvPr>
            <p:ph type="dt" sz="half" idx="10"/>
          </p:nvPr>
        </p:nvSpPr>
        <p:spPr/>
        <p:txBody>
          <a:bodyPr/>
          <a:lstStyle/>
          <a:p>
            <a:fld id="{6E4BF378-8F16-492D-87B3-963C20ACF441}" type="datetime1">
              <a:rPr lang="en-IN" smtClean="0"/>
              <a:t>16-10-2026</a:t>
            </a:fld>
            <a:endParaRPr lang="en-IN"/>
          </a:p>
        </p:txBody>
      </p:sp>
      <p:sp>
        <p:nvSpPr>
          <p:cNvPr id="5" name="Footer Placeholder 4">
            <a:extLst>
              <a:ext uri="{FF2B5EF4-FFF2-40B4-BE49-F238E27FC236}">
                <a16:creationId xmlns:a16="http://schemas.microsoft.com/office/drawing/2014/main" id="{7112169B-9903-41C3-CC1A-A773A925D66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BACC6B5-6988-9DF9-8223-C5EB677C938B}"/>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8" name="Picture 7">
            <a:extLst>
              <a:ext uri="{FF2B5EF4-FFF2-40B4-BE49-F238E27FC236}">
                <a16:creationId xmlns:a16="http://schemas.microsoft.com/office/drawing/2014/main" id="{2E3DABBD-F85F-360C-A546-D5E0B92597C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18542563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988FF-7E75-1B89-7C11-7B6C180BDEB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38E0077-B676-7850-AAD4-77689FB5B44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DE4118E-9650-EED0-1592-D4AD00CF464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BDD1BDD-D86C-6A53-CEF7-1AEC9AB1AA53}"/>
              </a:ext>
            </a:extLst>
          </p:cNvPr>
          <p:cNvSpPr>
            <a:spLocks noGrp="1"/>
          </p:cNvSpPr>
          <p:nvPr>
            <p:ph type="dt" sz="half" idx="10"/>
          </p:nvPr>
        </p:nvSpPr>
        <p:spPr/>
        <p:txBody>
          <a:bodyPr/>
          <a:lstStyle/>
          <a:p>
            <a:fld id="{2C79781E-9150-4561-9F7C-01394C55C5AE}" type="datetime1">
              <a:rPr lang="en-IN" smtClean="0"/>
              <a:t>16-10-2026</a:t>
            </a:fld>
            <a:endParaRPr lang="en-IN"/>
          </a:p>
        </p:txBody>
      </p:sp>
      <p:sp>
        <p:nvSpPr>
          <p:cNvPr id="6" name="Footer Placeholder 5">
            <a:extLst>
              <a:ext uri="{FF2B5EF4-FFF2-40B4-BE49-F238E27FC236}">
                <a16:creationId xmlns:a16="http://schemas.microsoft.com/office/drawing/2014/main" id="{30B15FF2-A4C5-135F-9FA1-A00A6BF9A0B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D2FB8AA-FC6D-B278-7FFF-C52EF4307992}"/>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9" name="Picture 8">
            <a:extLst>
              <a:ext uri="{FF2B5EF4-FFF2-40B4-BE49-F238E27FC236}">
                <a16:creationId xmlns:a16="http://schemas.microsoft.com/office/drawing/2014/main" id="{D3064E1C-D746-419C-5FE6-033B95CAC3C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29932614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CC900-8F42-8A20-E378-434465ED27C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EDDB5D6-6D80-913C-77A3-83E1C275718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4D7E712-FB4A-DBE7-7EE8-B34465C755B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4FC7C92-E667-0F30-6C26-267F10CBCBC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331715A-AF86-785C-73F2-00FF9D5D321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501D6D5-269C-31AC-CC40-917E0E24679C}"/>
              </a:ext>
            </a:extLst>
          </p:cNvPr>
          <p:cNvSpPr>
            <a:spLocks noGrp="1"/>
          </p:cNvSpPr>
          <p:nvPr>
            <p:ph type="dt" sz="half" idx="10"/>
          </p:nvPr>
        </p:nvSpPr>
        <p:spPr/>
        <p:txBody>
          <a:bodyPr/>
          <a:lstStyle/>
          <a:p>
            <a:fld id="{CEF12896-961F-4F7A-B2DD-D0EFF57BA027}" type="datetime1">
              <a:rPr lang="en-IN" smtClean="0"/>
              <a:t>16-10-2026</a:t>
            </a:fld>
            <a:endParaRPr lang="en-IN"/>
          </a:p>
        </p:txBody>
      </p:sp>
      <p:sp>
        <p:nvSpPr>
          <p:cNvPr id="8" name="Footer Placeholder 7">
            <a:extLst>
              <a:ext uri="{FF2B5EF4-FFF2-40B4-BE49-F238E27FC236}">
                <a16:creationId xmlns:a16="http://schemas.microsoft.com/office/drawing/2014/main" id="{1D0DFF97-DB90-A3DC-1A5F-E041ABA4F51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1DFEC1F-4C0D-B461-B76D-FAFE7A86BA16}"/>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11" name="Picture 10">
            <a:extLst>
              <a:ext uri="{FF2B5EF4-FFF2-40B4-BE49-F238E27FC236}">
                <a16:creationId xmlns:a16="http://schemas.microsoft.com/office/drawing/2014/main" id="{B0D765FD-6DB7-1155-27BC-BD0DB452993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34601334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9FB57-0CBB-0AA3-9BF0-2ED23379724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0B2CE64-C359-3445-7AB9-29DE8577C0B3}"/>
              </a:ext>
            </a:extLst>
          </p:cNvPr>
          <p:cNvSpPr>
            <a:spLocks noGrp="1"/>
          </p:cNvSpPr>
          <p:nvPr>
            <p:ph type="dt" sz="half" idx="10"/>
          </p:nvPr>
        </p:nvSpPr>
        <p:spPr/>
        <p:txBody>
          <a:bodyPr/>
          <a:lstStyle/>
          <a:p>
            <a:fld id="{48F51132-6BA4-40BC-AB03-D6B9C4F193FC}" type="datetime1">
              <a:rPr lang="en-IN" smtClean="0"/>
              <a:t>16-10-2026</a:t>
            </a:fld>
            <a:endParaRPr lang="en-IN"/>
          </a:p>
        </p:txBody>
      </p:sp>
      <p:sp>
        <p:nvSpPr>
          <p:cNvPr id="4" name="Footer Placeholder 3">
            <a:extLst>
              <a:ext uri="{FF2B5EF4-FFF2-40B4-BE49-F238E27FC236}">
                <a16:creationId xmlns:a16="http://schemas.microsoft.com/office/drawing/2014/main" id="{5C63F73F-0420-C605-3EFF-74CBBE1B751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46EE44D-529C-1AC9-123B-7EBF53FA6E53}"/>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7" name="Picture 6">
            <a:extLst>
              <a:ext uri="{FF2B5EF4-FFF2-40B4-BE49-F238E27FC236}">
                <a16:creationId xmlns:a16="http://schemas.microsoft.com/office/drawing/2014/main" id="{F4A6640D-01A3-9B0C-80EF-F10DE422076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24635804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479728-5FED-202E-6651-A7474C32A850}"/>
              </a:ext>
            </a:extLst>
          </p:cNvPr>
          <p:cNvSpPr>
            <a:spLocks noGrp="1"/>
          </p:cNvSpPr>
          <p:nvPr>
            <p:ph type="dt" sz="half" idx="10"/>
          </p:nvPr>
        </p:nvSpPr>
        <p:spPr/>
        <p:txBody>
          <a:bodyPr/>
          <a:lstStyle/>
          <a:p>
            <a:fld id="{2FD85D5E-B9E5-4C7E-88B1-43A66A7C3488}" type="datetime1">
              <a:rPr lang="en-IN" smtClean="0"/>
              <a:t>16-10-2026</a:t>
            </a:fld>
            <a:endParaRPr lang="en-IN"/>
          </a:p>
        </p:txBody>
      </p:sp>
      <p:sp>
        <p:nvSpPr>
          <p:cNvPr id="3" name="Footer Placeholder 2">
            <a:extLst>
              <a:ext uri="{FF2B5EF4-FFF2-40B4-BE49-F238E27FC236}">
                <a16:creationId xmlns:a16="http://schemas.microsoft.com/office/drawing/2014/main" id="{C7F6D777-ECC4-1DAB-81FF-7D7AF3FF399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5B56A1D-0096-D4B4-2B11-1CDFE3317B73}"/>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6" name="Picture 5">
            <a:extLst>
              <a:ext uri="{FF2B5EF4-FFF2-40B4-BE49-F238E27FC236}">
                <a16:creationId xmlns:a16="http://schemas.microsoft.com/office/drawing/2014/main" id="{0260B416-1EF4-3CD6-8E26-DC636E7B37F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14711296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E5010-2418-091A-429D-37E400ABA5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A991DC8-3F06-BF0E-8109-8C1FEDEAD6B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3544A7E-4423-60E2-E6E9-AAF09976D0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B3B07B-D8E2-C0AA-F7E4-545DF97910A6}"/>
              </a:ext>
            </a:extLst>
          </p:cNvPr>
          <p:cNvSpPr>
            <a:spLocks noGrp="1"/>
          </p:cNvSpPr>
          <p:nvPr>
            <p:ph type="dt" sz="half" idx="10"/>
          </p:nvPr>
        </p:nvSpPr>
        <p:spPr/>
        <p:txBody>
          <a:bodyPr/>
          <a:lstStyle/>
          <a:p>
            <a:fld id="{97DBE2A2-8283-469E-B4A1-D6877668ECFE}" type="datetime1">
              <a:rPr lang="en-IN" smtClean="0"/>
              <a:t>16-10-2026</a:t>
            </a:fld>
            <a:endParaRPr lang="en-IN"/>
          </a:p>
        </p:txBody>
      </p:sp>
      <p:sp>
        <p:nvSpPr>
          <p:cNvPr id="6" name="Footer Placeholder 5">
            <a:extLst>
              <a:ext uri="{FF2B5EF4-FFF2-40B4-BE49-F238E27FC236}">
                <a16:creationId xmlns:a16="http://schemas.microsoft.com/office/drawing/2014/main" id="{D8FB3DF0-CC05-0B05-24D9-6663B5E1192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DAB53E2-0205-A987-5D45-0DFC51D895EB}"/>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9" name="Picture 8">
            <a:extLst>
              <a:ext uri="{FF2B5EF4-FFF2-40B4-BE49-F238E27FC236}">
                <a16:creationId xmlns:a16="http://schemas.microsoft.com/office/drawing/2014/main" id="{AE6F4A6A-FE20-C82E-95DD-FA2A5FCB0B6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9372765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B7E51-2E25-5BFC-2696-794A224B6A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3F9DC63-25C2-8B4F-3683-6B0A9BC756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54EBA80-D1E6-9786-229E-B9B70D9BDF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A0DED29-F47E-2534-AFB4-003A8091ABF4}"/>
              </a:ext>
            </a:extLst>
          </p:cNvPr>
          <p:cNvSpPr>
            <a:spLocks noGrp="1"/>
          </p:cNvSpPr>
          <p:nvPr>
            <p:ph type="dt" sz="half" idx="10"/>
          </p:nvPr>
        </p:nvSpPr>
        <p:spPr/>
        <p:txBody>
          <a:bodyPr/>
          <a:lstStyle/>
          <a:p>
            <a:fld id="{FD50A723-EDD4-4822-84BE-4B7F697B4E56}" type="datetime1">
              <a:rPr lang="en-IN" smtClean="0"/>
              <a:t>16-10-2026</a:t>
            </a:fld>
            <a:endParaRPr lang="en-IN"/>
          </a:p>
        </p:txBody>
      </p:sp>
      <p:sp>
        <p:nvSpPr>
          <p:cNvPr id="6" name="Footer Placeholder 5">
            <a:extLst>
              <a:ext uri="{FF2B5EF4-FFF2-40B4-BE49-F238E27FC236}">
                <a16:creationId xmlns:a16="http://schemas.microsoft.com/office/drawing/2014/main" id="{06E6DE89-3F60-1B9B-0597-F389CAA72F3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40B78F6-7EC0-BF15-5CA1-F0159D796384}"/>
              </a:ext>
            </a:extLst>
          </p:cNvPr>
          <p:cNvSpPr>
            <a:spLocks noGrp="1"/>
          </p:cNvSpPr>
          <p:nvPr>
            <p:ph type="sldNum" sz="quarter" idx="12"/>
          </p:nvPr>
        </p:nvSpPr>
        <p:spPr/>
        <p:txBody>
          <a:bodyPr/>
          <a:lstStyle/>
          <a:p>
            <a:fld id="{CB012AB6-14AF-4351-87AD-D420B05274E1}" type="slidenum">
              <a:rPr lang="en-IN" smtClean="0"/>
              <a:t>‹#›</a:t>
            </a:fld>
            <a:endParaRPr lang="en-IN"/>
          </a:p>
        </p:txBody>
      </p:sp>
    </p:spTree>
    <p:extLst>
      <p:ext uri="{BB962C8B-B14F-4D97-AF65-F5344CB8AC3E}">
        <p14:creationId xmlns:p14="http://schemas.microsoft.com/office/powerpoint/2010/main" val="16282565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38785-1FEB-0757-FEC8-6AA1CB86C53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AD94473-1718-0D76-22B7-33E82D611F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819B1E2-29EC-2F2E-B362-55E80C4D0828}"/>
              </a:ext>
            </a:extLst>
          </p:cNvPr>
          <p:cNvSpPr>
            <a:spLocks noGrp="1"/>
          </p:cNvSpPr>
          <p:nvPr>
            <p:ph type="dt" sz="half" idx="10"/>
          </p:nvPr>
        </p:nvSpPr>
        <p:spPr/>
        <p:txBody>
          <a:bodyPr/>
          <a:lstStyle/>
          <a:p>
            <a:fld id="{6B848764-2CC6-431B-B501-1DF197EE73CC}" type="datetime1">
              <a:rPr lang="en-IN" smtClean="0"/>
              <a:t>16-10-2026</a:t>
            </a:fld>
            <a:endParaRPr lang="en-IN"/>
          </a:p>
        </p:txBody>
      </p:sp>
      <p:sp>
        <p:nvSpPr>
          <p:cNvPr id="5" name="Footer Placeholder 4">
            <a:extLst>
              <a:ext uri="{FF2B5EF4-FFF2-40B4-BE49-F238E27FC236}">
                <a16:creationId xmlns:a16="http://schemas.microsoft.com/office/drawing/2014/main" id="{2B36D9E9-31F7-01F5-C19A-438C407736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4EE1B4F-5C80-EFB0-BA9F-8F17B8444B09}"/>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8" name="Picture 7">
            <a:extLst>
              <a:ext uri="{FF2B5EF4-FFF2-40B4-BE49-F238E27FC236}">
                <a16:creationId xmlns:a16="http://schemas.microsoft.com/office/drawing/2014/main" id="{A32412BD-D800-391F-9FB6-159E83E7478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21078465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EC43F02-0084-480F-2BA3-75A1C0102C1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7B22D9D-B106-6765-76CF-C9843EC19F4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8A262E0-081B-BE3A-F92B-73DE583EDA72}"/>
              </a:ext>
            </a:extLst>
          </p:cNvPr>
          <p:cNvSpPr>
            <a:spLocks noGrp="1"/>
          </p:cNvSpPr>
          <p:nvPr>
            <p:ph type="dt" sz="half" idx="10"/>
          </p:nvPr>
        </p:nvSpPr>
        <p:spPr/>
        <p:txBody>
          <a:bodyPr/>
          <a:lstStyle/>
          <a:p>
            <a:fld id="{9C5EEFFA-3959-41FE-A774-B9B27FD8983C}" type="datetime1">
              <a:rPr lang="en-IN" smtClean="0"/>
              <a:t>16-10-2026</a:t>
            </a:fld>
            <a:endParaRPr lang="en-IN"/>
          </a:p>
        </p:txBody>
      </p:sp>
      <p:sp>
        <p:nvSpPr>
          <p:cNvPr id="5" name="Footer Placeholder 4">
            <a:extLst>
              <a:ext uri="{FF2B5EF4-FFF2-40B4-BE49-F238E27FC236}">
                <a16:creationId xmlns:a16="http://schemas.microsoft.com/office/drawing/2014/main" id="{2B69D4DC-613B-8105-F661-A37BB2AD0F1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A246AAE-21DC-2AE1-CF07-91F73A4DFA13}"/>
              </a:ext>
            </a:extLst>
          </p:cNvPr>
          <p:cNvSpPr>
            <a:spLocks noGrp="1"/>
          </p:cNvSpPr>
          <p:nvPr>
            <p:ph type="sldNum" sz="quarter" idx="12"/>
          </p:nvPr>
        </p:nvSpPr>
        <p:spPr/>
        <p:txBody>
          <a:bodyPr/>
          <a:lstStyle/>
          <a:p>
            <a:fld id="{CB012AB6-14AF-4351-87AD-D420B05274E1}" type="slidenum">
              <a:rPr lang="en-IN" smtClean="0"/>
              <a:t>‹#›</a:t>
            </a:fld>
            <a:endParaRPr lang="en-IN"/>
          </a:p>
        </p:txBody>
      </p:sp>
    </p:spTree>
    <p:extLst>
      <p:ext uri="{BB962C8B-B14F-4D97-AF65-F5344CB8AC3E}">
        <p14:creationId xmlns:p14="http://schemas.microsoft.com/office/powerpoint/2010/main" val="16835440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948038-F901-EAD1-D5DB-03603E896C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17E2A14-F9FA-9B0B-5AA7-D785E09BAF5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FE56813-B660-C26F-CFEF-AF22C547FCF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30F4BF4-0D93-4F1E-82BB-778F1EDDD45F}" type="datetime1">
              <a:rPr lang="en-IN" smtClean="0"/>
              <a:t>16-10-2026</a:t>
            </a:fld>
            <a:endParaRPr lang="en-IN"/>
          </a:p>
        </p:txBody>
      </p:sp>
      <p:sp>
        <p:nvSpPr>
          <p:cNvPr id="5" name="Footer Placeholder 4">
            <a:extLst>
              <a:ext uri="{FF2B5EF4-FFF2-40B4-BE49-F238E27FC236}">
                <a16:creationId xmlns:a16="http://schemas.microsoft.com/office/drawing/2014/main" id="{E4B697EB-16D9-74E1-1448-0CDC2807114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30C42DC9-4178-3222-F3F2-C5EC792CA7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B012AB6-14AF-4351-87AD-D420B05274E1}" type="slidenum">
              <a:rPr lang="en-IN" smtClean="0"/>
              <a:t>‹#›</a:t>
            </a:fld>
            <a:endParaRPr lang="en-IN"/>
          </a:p>
        </p:txBody>
      </p:sp>
    </p:spTree>
    <p:extLst>
      <p:ext uri="{BB962C8B-B14F-4D97-AF65-F5344CB8AC3E}">
        <p14:creationId xmlns:p14="http://schemas.microsoft.com/office/powerpoint/2010/main" val="34934814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0CCFF-527E-4AC9-A45F-A8196F49E0C3}"/>
              </a:ext>
            </a:extLst>
          </p:cNvPr>
          <p:cNvSpPr>
            <a:spLocks noGrp="1"/>
          </p:cNvSpPr>
          <p:nvPr>
            <p:ph type="ctrTitle"/>
          </p:nvPr>
        </p:nvSpPr>
        <p:spPr>
          <a:xfrm>
            <a:off x="841248" y="1554480"/>
            <a:ext cx="6949440" cy="2286000"/>
          </a:xfrm>
        </p:spPr>
        <p:txBody>
          <a:bodyPr anchor="b"/>
          <a:lstStyle/>
          <a:p>
            <a:pPr algn="l"/>
            <a:r>
              <a:rPr sz="4400" b="1" dirty="0">
                <a:solidFill>
                  <a:srgbClr val="0E2841"/>
                </a:solidFill>
              </a:rPr>
              <a:t>ER Triage Management System</a:t>
            </a:r>
          </a:p>
          <a:p>
            <a:pPr algn="l"/>
            <a:r>
              <a:rPr sz="2400" dirty="0">
                <a:solidFill>
                  <a:srgbClr val="5B6B7F"/>
                </a:solidFill>
              </a:rPr>
              <a:t>Team No: </a:t>
            </a:r>
            <a:r>
              <a:rPr lang="en-IN" sz="2400" dirty="0">
                <a:solidFill>
                  <a:srgbClr val="5B6B7F"/>
                </a:solidFill>
              </a:rPr>
              <a:t>25</a:t>
            </a:r>
            <a:endParaRPr sz="2400" dirty="0">
              <a:solidFill>
                <a:srgbClr val="5B6B7F"/>
              </a:solidFill>
            </a:endParaRPr>
          </a:p>
        </p:txBody>
      </p:sp>
      <p:sp>
        <p:nvSpPr>
          <p:cNvPr id="3" name="Subtitle 2">
            <a:extLst>
              <a:ext uri="{FF2B5EF4-FFF2-40B4-BE49-F238E27FC236}">
                <a16:creationId xmlns:a16="http://schemas.microsoft.com/office/drawing/2014/main" id="{A452AC95-AA7D-A76A-037F-6B2DB5A27E48}"/>
              </a:ext>
            </a:extLst>
          </p:cNvPr>
          <p:cNvSpPr>
            <a:spLocks noGrp="1"/>
          </p:cNvSpPr>
          <p:nvPr>
            <p:ph type="subTitle" idx="1"/>
          </p:nvPr>
        </p:nvSpPr>
        <p:spPr>
          <a:xfrm>
            <a:off x="841248" y="4114800"/>
            <a:ext cx="6949440" cy="1280160"/>
          </a:xfrm>
        </p:spPr>
        <p:txBody>
          <a:bodyPr/>
          <a:lstStyle/>
          <a:p>
            <a:pPr algn="l">
              <a:spcAft>
                <a:spcPts val="600"/>
              </a:spcAft>
            </a:pPr>
            <a:r>
              <a:rPr sz="1600" b="0" dirty="0">
                <a:solidFill>
                  <a:srgbClr val="5B6B7F"/>
                </a:solidFill>
              </a:rPr>
              <a:t>Problem Solving Using Programming (Java) · 26SC1101E</a:t>
            </a:r>
            <a:endParaRPr lang="en-IN" sz="1600" b="0" dirty="0">
              <a:solidFill>
                <a:srgbClr val="5B6B7F"/>
              </a:solidFill>
            </a:endParaRPr>
          </a:p>
          <a:p>
            <a:pPr algn="l">
              <a:spcAft>
                <a:spcPts val="600"/>
              </a:spcAft>
            </a:pPr>
            <a:r>
              <a:rPr lang="en-IN" sz="1600" dirty="0">
                <a:solidFill>
                  <a:srgbClr val="5B6B7F"/>
                </a:solidFill>
              </a:rPr>
              <a:t>By: Ritwik (2620030356), Harsha (2620030432)</a:t>
            </a:r>
            <a:endParaRPr sz="1600" b="0" dirty="0">
              <a:solidFill>
                <a:srgbClr val="5B6B7F"/>
              </a:solidFill>
            </a:endParaRPr>
          </a:p>
          <a:p>
            <a:pPr algn="l">
              <a:spcAft>
                <a:spcPts val="600"/>
              </a:spcAft>
            </a:pPr>
            <a:endParaRPr sz="2000" b="1" dirty="0">
              <a:solidFill>
                <a:srgbClr val="0E2841"/>
              </a:solidFill>
            </a:endParaRPr>
          </a:p>
        </p:txBody>
      </p:sp>
      <p:sp>
        <p:nvSpPr>
          <p:cNvPr id="8" name="Date Placeholder 7">
            <a:extLst>
              <a:ext uri="{FF2B5EF4-FFF2-40B4-BE49-F238E27FC236}">
                <a16:creationId xmlns:a16="http://schemas.microsoft.com/office/drawing/2014/main" id="{EFCDBBB2-97B1-B1CE-72F7-62625B779167}"/>
              </a:ext>
            </a:extLst>
          </p:cNvPr>
          <p:cNvSpPr>
            <a:spLocks noGrp="1"/>
          </p:cNvSpPr>
          <p:nvPr>
            <p:ph type="dt" sz="half" idx="10"/>
          </p:nvPr>
        </p:nvSpPr>
        <p:spPr/>
        <p:txBody>
          <a:bodyPr/>
          <a:lstStyle/>
          <a:p>
            <a:fld id="{F2B7D318-FBF5-482E-BB10-69D54EA53D7B}" type="datetime1">
              <a:rPr lang="en-IN" smtClean="0"/>
              <a:t>16-10-2026</a:t>
            </a:fld>
            <a:endParaRPr lang="en-IN"/>
          </a:p>
        </p:txBody>
      </p:sp>
      <p:sp>
        <p:nvSpPr>
          <p:cNvPr id="9" name="Slide Number Placeholder 8">
            <a:extLst>
              <a:ext uri="{FF2B5EF4-FFF2-40B4-BE49-F238E27FC236}">
                <a16:creationId xmlns:a16="http://schemas.microsoft.com/office/drawing/2014/main" id="{147EDCEF-417A-3750-BB67-C2592E7FAAA6}"/>
              </a:ext>
            </a:extLst>
          </p:cNvPr>
          <p:cNvSpPr>
            <a:spLocks noGrp="1"/>
          </p:cNvSpPr>
          <p:nvPr>
            <p:ph type="sldNum" sz="quarter" idx="12"/>
          </p:nvPr>
        </p:nvSpPr>
        <p:spPr/>
        <p:txBody>
          <a:bodyPr/>
          <a:lstStyle/>
          <a:p>
            <a:fld id="{CB012AB6-14AF-4351-87AD-D420B05274E1}" type="slidenum">
              <a:rPr lang="en-IN" smtClean="0"/>
              <a:t>1</a:t>
            </a:fld>
            <a:endParaRPr lang="en-IN"/>
          </a:p>
        </p:txBody>
      </p:sp>
      <p:sp>
        <p:nvSpPr>
          <p:cNvPr id="10" name="Title triage panel"/>
          <p:cNvSpPr/>
          <p:nvPr/>
        </p:nvSpPr>
        <p:spPr>
          <a:xfrm>
            <a:off x="8412480" y="1280160"/>
            <a:ext cx="2926080" cy="4297680"/>
          </a:xfrm>
          <a:prstGeom prst="roundRect">
            <a:avLst>
              <a:gd name="adj" fmla="val 8000"/>
            </a:avLst>
          </a:prstGeom>
          <a:solidFill>
            <a:srgbClr val="0E2841"/>
          </a:solidFill>
          <a:ln>
            <a:noFill/>
          </a:ln>
        </p:spPr>
        <p:txBody>
          <a:bodyPr rtlCol="0" anchor="ctr"/>
          <a:lstStyle/>
          <a:p>
            <a:pPr algn="ctr"/>
            <a:endParaRPr/>
          </a:p>
        </p:txBody>
      </p:sp>
      <p:sp>
        <p:nvSpPr>
          <p:cNvPr id="11" name="Title triage dot 1"/>
          <p:cNvSpPr/>
          <p:nvPr/>
        </p:nvSpPr>
        <p:spPr>
          <a:xfrm>
            <a:off x="9372600" y="1600200"/>
            <a:ext cx="1005840" cy="1005840"/>
          </a:xfrm>
          <a:prstGeom prst="ellipse">
            <a:avLst/>
          </a:prstGeom>
          <a:solidFill>
            <a:srgbClr val="E5484D"/>
          </a:solidFill>
          <a:ln>
            <a:noFill/>
          </a:ln>
        </p:spPr>
        <p:txBody>
          <a:bodyPr rtlCol="0" anchor="ctr"/>
          <a:lstStyle/>
          <a:p>
            <a:pPr algn="ctr"/>
            <a:endParaRPr/>
          </a:p>
        </p:txBody>
      </p:sp>
      <p:sp>
        <p:nvSpPr>
          <p:cNvPr id="12" name="Title triage dot 2"/>
          <p:cNvSpPr/>
          <p:nvPr/>
        </p:nvSpPr>
        <p:spPr>
          <a:xfrm>
            <a:off x="9372600" y="2880360"/>
            <a:ext cx="1005840" cy="1005840"/>
          </a:xfrm>
          <a:prstGeom prst="ellipse">
            <a:avLst/>
          </a:prstGeom>
          <a:solidFill>
            <a:srgbClr val="F2A900"/>
          </a:solidFill>
          <a:ln>
            <a:noFill/>
          </a:ln>
        </p:spPr>
        <p:txBody>
          <a:bodyPr rtlCol="0" anchor="ctr"/>
          <a:lstStyle/>
          <a:p>
            <a:pPr algn="ctr"/>
            <a:endParaRPr/>
          </a:p>
        </p:txBody>
      </p:sp>
      <p:sp>
        <p:nvSpPr>
          <p:cNvPr id="13" name="Title triage dot 3"/>
          <p:cNvSpPr/>
          <p:nvPr/>
        </p:nvSpPr>
        <p:spPr>
          <a:xfrm>
            <a:off x="9372600" y="4160520"/>
            <a:ext cx="1005840" cy="1005840"/>
          </a:xfrm>
          <a:prstGeom prst="ellipse">
            <a:avLst/>
          </a:prstGeom>
          <a:solidFill>
            <a:srgbClr val="2FA84F"/>
          </a:solidFill>
          <a:ln>
            <a:noFill/>
          </a:ln>
        </p:spPr>
        <p:txBody>
          <a:bodyPr rtlCol="0" anchor="ctr"/>
          <a:lstStyle/>
          <a:p>
            <a:pPr algn="ctr"/>
            <a:endParaRPr/>
          </a:p>
        </p:txBody>
      </p:sp>
    </p:spTree>
    <p:extLst>
      <p:ext uri="{BB962C8B-B14F-4D97-AF65-F5344CB8AC3E}">
        <p14:creationId xmlns:p14="http://schemas.microsoft.com/office/powerpoint/2010/main" val="15707500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71AF3-F02C-0F4C-0929-57F8B753540D}"/>
              </a:ext>
            </a:extLst>
          </p:cNvPr>
          <p:cNvSpPr>
            <a:spLocks noGrp="1"/>
          </p:cNvSpPr>
          <p:nvPr>
            <p:ph type="title"/>
          </p:nvPr>
        </p:nvSpPr>
        <p:spPr/>
        <p:txBody>
          <a:bodyPr/>
          <a:lstStyle/>
          <a:p>
            <a:r>
              <a:rPr lang="en-IN" sz="3400" b="1" dirty="0">
                <a:solidFill>
                  <a:srgbClr val="0E2841"/>
                </a:solidFill>
              </a:rPr>
              <a:t>Abstract</a:t>
            </a:r>
          </a:p>
        </p:txBody>
      </p:sp>
      <p:sp>
        <p:nvSpPr>
          <p:cNvPr id="4" name="Date Placeholder 3">
            <a:extLst>
              <a:ext uri="{FF2B5EF4-FFF2-40B4-BE49-F238E27FC236}">
                <a16:creationId xmlns:a16="http://schemas.microsoft.com/office/drawing/2014/main" id="{6F8055FA-8EC1-0FDC-21CB-845F9016C706}"/>
              </a:ext>
            </a:extLst>
          </p:cNvPr>
          <p:cNvSpPr>
            <a:spLocks noGrp="1"/>
          </p:cNvSpPr>
          <p:nvPr>
            <p:ph type="dt" sz="half" idx="10"/>
          </p:nvPr>
        </p:nvSpPr>
        <p:spPr/>
        <p:txBody>
          <a:bodyPr/>
          <a:lstStyle/>
          <a:p>
            <a:fld id="{91D819AD-E7C0-4450-A29A-C3AB3AFFF6BF}" type="datetime1">
              <a:rPr lang="en-IN" smtClean="0"/>
              <a:t>16-10-2026</a:t>
            </a:fld>
            <a:endParaRPr lang="en-IN"/>
          </a:p>
        </p:txBody>
      </p:sp>
      <p:sp>
        <p:nvSpPr>
          <p:cNvPr id="5" name="Slide Number Placeholder 4">
            <a:extLst>
              <a:ext uri="{FF2B5EF4-FFF2-40B4-BE49-F238E27FC236}">
                <a16:creationId xmlns:a16="http://schemas.microsoft.com/office/drawing/2014/main" id="{229CFF38-D9B5-1B3E-0EC5-08CA2C2137B8}"/>
              </a:ext>
            </a:extLst>
          </p:cNvPr>
          <p:cNvSpPr>
            <a:spLocks noGrp="1"/>
          </p:cNvSpPr>
          <p:nvPr>
            <p:ph type="sldNum" sz="quarter" idx="12"/>
          </p:nvPr>
        </p:nvSpPr>
        <p:spPr/>
        <p:txBody>
          <a:bodyPr/>
          <a:lstStyle/>
          <a:p>
            <a:fld id="{CB012AB6-14AF-4351-87AD-D420B05274E1}" type="slidenum">
              <a:rPr lang="en-IN" smtClean="0"/>
              <a:t>2</a:t>
            </a:fld>
            <a:endParaRPr lang="en-IN"/>
          </a:p>
        </p:txBody>
      </p:sp>
      <p:sp>
        <p:nvSpPr>
          <p:cNvPr id="6" name="Abstract text"/>
          <p:cNvSpPr txBox="1"/>
          <p:nvPr/>
        </p:nvSpPr>
        <p:spPr>
          <a:xfrm>
            <a:off x="841248" y="1783080"/>
            <a:ext cx="6858000" cy="3246120"/>
          </a:xfrm>
          <a:prstGeom prst="rect">
            <a:avLst/>
          </a:prstGeom>
          <a:noFill/>
        </p:spPr>
        <p:txBody>
          <a:bodyPr wrap="square" lIns="0" tIns="0" rIns="0" bIns="0" anchor="t">
            <a:noAutofit/>
          </a:bodyPr>
          <a:lstStyle/>
          <a:p>
            <a:pPr algn="l">
              <a:spcAft>
                <a:spcPts val="1000"/>
              </a:spcAft>
            </a:pPr>
            <a:r>
              <a:rPr sz="1700" b="0" i="0">
                <a:solidFill>
                  <a:srgbClr val="1F2933"/>
                </a:solidFill>
              </a:rPr>
              <a:t>The ER Triage Management System is a Java console application that helps emergency-room staff decide who should be treated first.</a:t>
            </a:r>
          </a:p>
          <a:p>
            <a:pPr algn="l">
              <a:spcAft>
                <a:spcPts val="1000"/>
              </a:spcAft>
            </a:pPr>
            <a:r>
              <a:rPr sz="1700" b="0" i="0">
                <a:solidFill>
                  <a:srgbClr val="1F2933"/>
                </a:solidFill>
              </a:rPr>
              <a:t>For every patient it reads age, consciousness, heart rate, pain level and complaint type, validates each input, and classifies the patient as RED, YELLOW or GREEN. Injuries and illnesses follow slightly different rules through inheritance.</a:t>
            </a:r>
          </a:p>
          <a:p>
            <a:pPr algn="l">
              <a:spcAft>
                <a:spcPts val="1000"/>
              </a:spcAft>
            </a:pPr>
            <a:r>
              <a:rPr sz="1700" b="0" i="0">
                <a:solidFill>
                  <a:srgbClr val="1F2933"/>
                </a:solidFill>
              </a:rPr>
              <a:t>The program then builds a treatment queue ordered by urgency and pain level, and lets staff search for a patient by name.</a:t>
            </a:r>
          </a:p>
        </p:txBody>
      </p:sp>
      <p:sp>
        <p:nvSpPr>
          <p:cNvPr id="7" name="Triage panel"/>
          <p:cNvSpPr/>
          <p:nvPr/>
        </p:nvSpPr>
        <p:spPr>
          <a:xfrm>
            <a:off x="8321040" y="1783080"/>
            <a:ext cx="3017520" cy="4023360"/>
          </a:xfrm>
          <a:prstGeom prst="roundRect">
            <a:avLst>
              <a:gd name="adj" fmla="val 6000"/>
            </a:avLst>
          </a:prstGeom>
          <a:solidFill>
            <a:srgbClr val="0E2841"/>
          </a:solidFill>
          <a:ln>
            <a:noFill/>
          </a:ln>
        </p:spPr>
        <p:txBody>
          <a:bodyPr rtlCol="0" anchor="ctr"/>
          <a:lstStyle/>
          <a:p>
            <a:pPr algn="ctr"/>
            <a:endParaRPr/>
          </a:p>
        </p:txBody>
      </p:sp>
      <p:sp>
        <p:nvSpPr>
          <p:cNvPr id="8" name="Panel dot RED"/>
          <p:cNvSpPr/>
          <p:nvPr/>
        </p:nvSpPr>
        <p:spPr>
          <a:xfrm>
            <a:off x="8595360" y="2103120"/>
            <a:ext cx="731520" cy="731520"/>
          </a:xfrm>
          <a:prstGeom prst="ellipse">
            <a:avLst/>
          </a:prstGeom>
          <a:solidFill>
            <a:srgbClr val="E5484D"/>
          </a:solidFill>
          <a:ln>
            <a:noFill/>
          </a:ln>
        </p:spPr>
        <p:txBody>
          <a:bodyPr rtlCol="0" anchor="ctr"/>
          <a:lstStyle/>
          <a:p>
            <a:pPr algn="ctr"/>
            <a:endParaRPr/>
          </a:p>
        </p:txBody>
      </p:sp>
      <p:sp>
        <p:nvSpPr>
          <p:cNvPr id="9" name="Panel label RED"/>
          <p:cNvSpPr txBox="1"/>
          <p:nvPr/>
        </p:nvSpPr>
        <p:spPr>
          <a:xfrm>
            <a:off x="9509760" y="2148839"/>
            <a:ext cx="1737360" cy="731520"/>
          </a:xfrm>
          <a:prstGeom prst="rect">
            <a:avLst/>
          </a:prstGeom>
          <a:noFill/>
        </p:spPr>
        <p:txBody>
          <a:bodyPr wrap="square" lIns="0" tIns="0" rIns="0" bIns="0" anchor="ctr">
            <a:noAutofit/>
          </a:bodyPr>
          <a:lstStyle/>
          <a:p>
            <a:pPr algn="l">
              <a:spcAft>
                <a:spcPts val="0"/>
              </a:spcAft>
            </a:pPr>
            <a:r>
              <a:rPr sz="2000" b="1" i="0">
                <a:solidFill>
                  <a:srgbClr val="FFFFFF"/>
                </a:solidFill>
              </a:rPr>
              <a:t>RED</a:t>
            </a:r>
          </a:p>
          <a:p>
            <a:pPr algn="l">
              <a:spcAft>
                <a:spcPts val="0"/>
              </a:spcAft>
            </a:pPr>
            <a:r>
              <a:rPr sz="1400" b="0" i="0">
                <a:solidFill>
                  <a:srgbClr val="EEF2F6"/>
                </a:solidFill>
              </a:rPr>
              <a:t>Treat immediately</a:t>
            </a:r>
          </a:p>
        </p:txBody>
      </p:sp>
      <p:sp>
        <p:nvSpPr>
          <p:cNvPr id="10" name="Panel dot YELLOW"/>
          <p:cNvSpPr/>
          <p:nvPr/>
        </p:nvSpPr>
        <p:spPr>
          <a:xfrm>
            <a:off x="8595360" y="3291839"/>
            <a:ext cx="731520" cy="731520"/>
          </a:xfrm>
          <a:prstGeom prst="ellipse">
            <a:avLst/>
          </a:prstGeom>
          <a:solidFill>
            <a:srgbClr val="F2A900"/>
          </a:solidFill>
          <a:ln>
            <a:noFill/>
          </a:ln>
        </p:spPr>
        <p:txBody>
          <a:bodyPr rtlCol="0" anchor="ctr"/>
          <a:lstStyle/>
          <a:p>
            <a:pPr algn="ctr"/>
            <a:endParaRPr/>
          </a:p>
        </p:txBody>
      </p:sp>
      <p:sp>
        <p:nvSpPr>
          <p:cNvPr id="11" name="Panel label YELLOW"/>
          <p:cNvSpPr txBox="1"/>
          <p:nvPr/>
        </p:nvSpPr>
        <p:spPr>
          <a:xfrm>
            <a:off x="9509760" y="3337559"/>
            <a:ext cx="1737360" cy="731520"/>
          </a:xfrm>
          <a:prstGeom prst="rect">
            <a:avLst/>
          </a:prstGeom>
          <a:noFill/>
        </p:spPr>
        <p:txBody>
          <a:bodyPr wrap="square" lIns="0" tIns="0" rIns="0" bIns="0" anchor="ctr">
            <a:noAutofit/>
          </a:bodyPr>
          <a:lstStyle/>
          <a:p>
            <a:pPr algn="l">
              <a:spcAft>
                <a:spcPts val="0"/>
              </a:spcAft>
            </a:pPr>
            <a:r>
              <a:rPr sz="2000" b="1" i="0">
                <a:solidFill>
                  <a:srgbClr val="FFFFFF"/>
                </a:solidFill>
              </a:rPr>
              <a:t>YELLOW</a:t>
            </a:r>
          </a:p>
          <a:p>
            <a:pPr algn="l">
              <a:spcAft>
                <a:spcPts val="0"/>
              </a:spcAft>
            </a:pPr>
            <a:r>
              <a:rPr sz="1400" b="0" i="0">
                <a:solidFill>
                  <a:srgbClr val="EEF2F6"/>
                </a:solidFill>
              </a:rPr>
              <a:t>Treat soon</a:t>
            </a:r>
          </a:p>
        </p:txBody>
      </p:sp>
      <p:sp>
        <p:nvSpPr>
          <p:cNvPr id="12" name="Panel dot GREEN"/>
          <p:cNvSpPr/>
          <p:nvPr/>
        </p:nvSpPr>
        <p:spPr>
          <a:xfrm>
            <a:off x="8595360" y="4480560"/>
            <a:ext cx="731520" cy="731520"/>
          </a:xfrm>
          <a:prstGeom prst="ellipse">
            <a:avLst/>
          </a:prstGeom>
          <a:solidFill>
            <a:srgbClr val="2FA84F"/>
          </a:solidFill>
          <a:ln>
            <a:noFill/>
          </a:ln>
        </p:spPr>
        <p:txBody>
          <a:bodyPr rtlCol="0" anchor="ctr"/>
          <a:lstStyle/>
          <a:p>
            <a:pPr algn="ctr"/>
            <a:endParaRPr/>
          </a:p>
        </p:txBody>
      </p:sp>
      <p:sp>
        <p:nvSpPr>
          <p:cNvPr id="13" name="Panel label GREEN"/>
          <p:cNvSpPr txBox="1"/>
          <p:nvPr/>
        </p:nvSpPr>
        <p:spPr>
          <a:xfrm>
            <a:off x="9509760" y="4526280"/>
            <a:ext cx="1737360" cy="731520"/>
          </a:xfrm>
          <a:prstGeom prst="rect">
            <a:avLst/>
          </a:prstGeom>
          <a:noFill/>
        </p:spPr>
        <p:txBody>
          <a:bodyPr wrap="square" lIns="0" tIns="0" rIns="0" bIns="0" anchor="ctr">
            <a:noAutofit/>
          </a:bodyPr>
          <a:lstStyle/>
          <a:p>
            <a:pPr algn="l">
              <a:spcAft>
                <a:spcPts val="0"/>
              </a:spcAft>
            </a:pPr>
            <a:r>
              <a:rPr sz="2000" b="1" i="0">
                <a:solidFill>
                  <a:srgbClr val="FFFFFF"/>
                </a:solidFill>
              </a:rPr>
              <a:t>GREEN</a:t>
            </a:r>
          </a:p>
          <a:p>
            <a:pPr algn="l">
              <a:spcAft>
                <a:spcPts val="0"/>
              </a:spcAft>
            </a:pPr>
            <a:r>
              <a:rPr sz="1400" b="0" i="0">
                <a:solidFill>
                  <a:srgbClr val="EEF2F6"/>
                </a:solidFill>
              </a:rPr>
              <a:t>Can wait</a:t>
            </a:r>
          </a:p>
        </p:txBody>
      </p:sp>
      <p:sp>
        <p:nvSpPr>
          <p:cNvPr id="14" name="Fact chip 1"/>
          <p:cNvSpPr/>
          <p:nvPr/>
        </p:nvSpPr>
        <p:spPr>
          <a:xfrm>
            <a:off x="841248" y="5120640"/>
            <a:ext cx="2194560" cy="868680"/>
          </a:xfrm>
          <a:prstGeom prst="roundRect">
            <a:avLst>
              <a:gd name="adj" fmla="val 8000"/>
            </a:avLst>
          </a:prstGeom>
          <a:solidFill>
            <a:srgbClr val="FFFFFF"/>
          </a:solidFill>
          <a:ln w="9525">
            <a:solidFill>
              <a:srgbClr val="E3E9EF"/>
            </a:solidFill>
          </a:ln>
          <a:effectLst>
            <a:outerShdw blurRad="76200" dist="25400" dir="5400000" algn="t" rotWithShape="0">
              <a:srgbClr val="0E2841">
                <a:alpha val="14000"/>
              </a:srgbClr>
            </a:outerShdw>
          </a:effectLst>
        </p:spPr>
        <p:txBody>
          <a:bodyPr rtlCol="0" anchor="ctr"/>
          <a:lstStyle/>
          <a:p>
            <a:pPr algn="ctr"/>
            <a:endParaRPr/>
          </a:p>
        </p:txBody>
      </p:sp>
      <p:sp>
        <p:nvSpPr>
          <p:cNvPr id="15" name="Fact number 1"/>
          <p:cNvSpPr txBox="1"/>
          <p:nvPr/>
        </p:nvSpPr>
        <p:spPr>
          <a:xfrm>
            <a:off x="1024128" y="5120640"/>
            <a:ext cx="640080" cy="868680"/>
          </a:xfrm>
          <a:prstGeom prst="rect">
            <a:avLst/>
          </a:prstGeom>
          <a:noFill/>
        </p:spPr>
        <p:txBody>
          <a:bodyPr wrap="square" lIns="0" tIns="0" rIns="0" bIns="0" anchor="ctr">
            <a:noAutofit/>
          </a:bodyPr>
          <a:lstStyle/>
          <a:p>
            <a:pPr algn="l">
              <a:spcAft>
                <a:spcPts val="0"/>
              </a:spcAft>
            </a:pPr>
            <a:r>
              <a:rPr sz="3200" b="1" i="0">
                <a:solidFill>
                  <a:srgbClr val="156082"/>
                </a:solidFill>
              </a:rPr>
              <a:t>5</a:t>
            </a:r>
          </a:p>
        </p:txBody>
      </p:sp>
      <p:sp>
        <p:nvSpPr>
          <p:cNvPr id="16" name="Fact label 1"/>
          <p:cNvSpPr txBox="1"/>
          <p:nvPr/>
        </p:nvSpPr>
        <p:spPr>
          <a:xfrm>
            <a:off x="1664208" y="5120640"/>
            <a:ext cx="1280160" cy="868680"/>
          </a:xfrm>
          <a:prstGeom prst="rect">
            <a:avLst/>
          </a:prstGeom>
          <a:noFill/>
        </p:spPr>
        <p:txBody>
          <a:bodyPr wrap="square" lIns="0" tIns="0" rIns="0" bIns="0" anchor="ctr">
            <a:noAutofit/>
          </a:bodyPr>
          <a:lstStyle/>
          <a:p>
            <a:pPr algn="l">
              <a:spcAft>
                <a:spcPts val="0"/>
              </a:spcAft>
            </a:pPr>
            <a:r>
              <a:rPr sz="1400" b="0" i="0">
                <a:solidFill>
                  <a:srgbClr val="5B6B7F"/>
                </a:solidFill>
              </a:rPr>
              <a:t>classes</a:t>
            </a:r>
          </a:p>
        </p:txBody>
      </p:sp>
      <p:sp>
        <p:nvSpPr>
          <p:cNvPr id="17" name="Fact chip 2"/>
          <p:cNvSpPr/>
          <p:nvPr/>
        </p:nvSpPr>
        <p:spPr>
          <a:xfrm>
            <a:off x="3172968" y="5120640"/>
            <a:ext cx="2194560" cy="868680"/>
          </a:xfrm>
          <a:prstGeom prst="roundRect">
            <a:avLst>
              <a:gd name="adj" fmla="val 8000"/>
            </a:avLst>
          </a:prstGeom>
          <a:solidFill>
            <a:srgbClr val="FFFFFF"/>
          </a:solidFill>
          <a:ln w="9525">
            <a:solidFill>
              <a:srgbClr val="E3E9EF"/>
            </a:solidFill>
          </a:ln>
          <a:effectLst>
            <a:outerShdw blurRad="76200" dist="25400" dir="5400000" algn="t" rotWithShape="0">
              <a:srgbClr val="0E2841">
                <a:alpha val="14000"/>
              </a:srgbClr>
            </a:outerShdw>
          </a:effectLst>
        </p:spPr>
        <p:txBody>
          <a:bodyPr rtlCol="0" anchor="ctr"/>
          <a:lstStyle/>
          <a:p>
            <a:pPr algn="ctr"/>
            <a:endParaRPr/>
          </a:p>
        </p:txBody>
      </p:sp>
      <p:sp>
        <p:nvSpPr>
          <p:cNvPr id="18" name="Fact number 2"/>
          <p:cNvSpPr txBox="1"/>
          <p:nvPr/>
        </p:nvSpPr>
        <p:spPr>
          <a:xfrm>
            <a:off x="3355848" y="5120640"/>
            <a:ext cx="640080" cy="868680"/>
          </a:xfrm>
          <a:prstGeom prst="rect">
            <a:avLst/>
          </a:prstGeom>
          <a:noFill/>
        </p:spPr>
        <p:txBody>
          <a:bodyPr wrap="square" lIns="0" tIns="0" rIns="0" bIns="0" anchor="ctr">
            <a:noAutofit/>
          </a:bodyPr>
          <a:lstStyle/>
          <a:p>
            <a:pPr algn="l">
              <a:spcAft>
                <a:spcPts val="0"/>
              </a:spcAft>
            </a:pPr>
            <a:r>
              <a:rPr sz="3200" b="1" i="0">
                <a:solidFill>
                  <a:srgbClr val="156082"/>
                </a:solidFill>
              </a:rPr>
              <a:t>3</a:t>
            </a:r>
          </a:p>
        </p:txBody>
      </p:sp>
      <p:sp>
        <p:nvSpPr>
          <p:cNvPr id="19" name="Fact label 2"/>
          <p:cNvSpPr txBox="1"/>
          <p:nvPr/>
        </p:nvSpPr>
        <p:spPr>
          <a:xfrm>
            <a:off x="3995928" y="5120640"/>
            <a:ext cx="1280160" cy="868680"/>
          </a:xfrm>
          <a:prstGeom prst="rect">
            <a:avLst/>
          </a:prstGeom>
          <a:noFill/>
        </p:spPr>
        <p:txBody>
          <a:bodyPr wrap="square" lIns="0" tIns="0" rIns="0" bIns="0" anchor="ctr">
            <a:noAutofit/>
          </a:bodyPr>
          <a:lstStyle/>
          <a:p>
            <a:pPr algn="l">
              <a:spcAft>
                <a:spcPts val="0"/>
              </a:spcAft>
            </a:pPr>
            <a:r>
              <a:rPr sz="1400" b="0" i="0">
                <a:solidFill>
                  <a:srgbClr val="5B6B7F"/>
                </a:solidFill>
              </a:rPr>
              <a:t>triage levels</a:t>
            </a:r>
          </a:p>
        </p:txBody>
      </p:sp>
      <p:sp>
        <p:nvSpPr>
          <p:cNvPr id="20" name="Fact chip 3"/>
          <p:cNvSpPr/>
          <p:nvPr/>
        </p:nvSpPr>
        <p:spPr>
          <a:xfrm>
            <a:off x="5504688" y="5120640"/>
            <a:ext cx="2194560" cy="868680"/>
          </a:xfrm>
          <a:prstGeom prst="roundRect">
            <a:avLst>
              <a:gd name="adj" fmla="val 8000"/>
            </a:avLst>
          </a:prstGeom>
          <a:solidFill>
            <a:srgbClr val="FFFFFF"/>
          </a:solidFill>
          <a:ln w="9525">
            <a:solidFill>
              <a:srgbClr val="E3E9EF"/>
            </a:solidFill>
          </a:ln>
          <a:effectLst>
            <a:outerShdw blurRad="76200" dist="25400" dir="5400000" algn="t" rotWithShape="0">
              <a:srgbClr val="0E2841">
                <a:alpha val="14000"/>
              </a:srgbClr>
            </a:outerShdw>
          </a:effectLst>
        </p:spPr>
        <p:txBody>
          <a:bodyPr rtlCol="0" anchor="ctr"/>
          <a:lstStyle/>
          <a:p>
            <a:pPr algn="ctr"/>
            <a:endParaRPr/>
          </a:p>
        </p:txBody>
      </p:sp>
      <p:sp>
        <p:nvSpPr>
          <p:cNvPr id="21" name="Fact number 3"/>
          <p:cNvSpPr txBox="1"/>
          <p:nvPr/>
        </p:nvSpPr>
        <p:spPr>
          <a:xfrm>
            <a:off x="5687568" y="5120640"/>
            <a:ext cx="640080" cy="868680"/>
          </a:xfrm>
          <a:prstGeom prst="rect">
            <a:avLst/>
          </a:prstGeom>
          <a:noFill/>
        </p:spPr>
        <p:txBody>
          <a:bodyPr wrap="square" lIns="0" tIns="0" rIns="0" bIns="0" anchor="ctr">
            <a:noAutofit/>
          </a:bodyPr>
          <a:lstStyle/>
          <a:p>
            <a:pPr algn="l">
              <a:spcAft>
                <a:spcPts val="0"/>
              </a:spcAft>
            </a:pPr>
            <a:r>
              <a:rPr sz="3200" b="1" i="0">
                <a:solidFill>
                  <a:srgbClr val="156082"/>
                </a:solidFill>
              </a:rPr>
              <a:t>3</a:t>
            </a:r>
          </a:p>
        </p:txBody>
      </p:sp>
      <p:sp>
        <p:nvSpPr>
          <p:cNvPr id="22" name="Fact label 3"/>
          <p:cNvSpPr txBox="1"/>
          <p:nvPr/>
        </p:nvSpPr>
        <p:spPr>
          <a:xfrm>
            <a:off x="6327648" y="5120640"/>
            <a:ext cx="1280160" cy="868680"/>
          </a:xfrm>
          <a:prstGeom prst="rect">
            <a:avLst/>
          </a:prstGeom>
          <a:noFill/>
        </p:spPr>
        <p:txBody>
          <a:bodyPr wrap="square" lIns="0" tIns="0" rIns="0" bIns="0" anchor="ctr">
            <a:noAutofit/>
          </a:bodyPr>
          <a:lstStyle/>
          <a:p>
            <a:pPr algn="l">
              <a:spcAft>
                <a:spcPts val="0"/>
              </a:spcAft>
            </a:pPr>
            <a:r>
              <a:rPr sz="1400" b="0" i="0">
                <a:solidFill>
                  <a:srgbClr val="5B6B7F"/>
                </a:solidFill>
              </a:rPr>
              <a:t>menu options</a:t>
            </a:r>
          </a:p>
        </p:txBody>
      </p:sp>
    </p:spTree>
    <p:extLst>
      <p:ext uri="{BB962C8B-B14F-4D97-AF65-F5344CB8AC3E}">
        <p14:creationId xmlns:p14="http://schemas.microsoft.com/office/powerpoint/2010/main" val="6763380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4AC2B-1702-695F-E0B5-9F6550F04B7D}"/>
              </a:ext>
            </a:extLst>
          </p:cNvPr>
          <p:cNvSpPr>
            <a:spLocks noGrp="1"/>
          </p:cNvSpPr>
          <p:nvPr>
            <p:ph type="title"/>
          </p:nvPr>
        </p:nvSpPr>
        <p:spPr/>
        <p:txBody>
          <a:bodyPr/>
          <a:lstStyle/>
          <a:p>
            <a:r>
              <a:rPr lang="en-IN" sz="3400" b="1" dirty="0">
                <a:solidFill>
                  <a:srgbClr val="0E2841"/>
                </a:solidFill>
              </a:rPr>
              <a:t>Understanding Problem Statement</a:t>
            </a:r>
          </a:p>
        </p:txBody>
      </p:sp>
      <p:sp>
        <p:nvSpPr>
          <p:cNvPr id="4" name="Date Placeholder 3">
            <a:extLst>
              <a:ext uri="{FF2B5EF4-FFF2-40B4-BE49-F238E27FC236}">
                <a16:creationId xmlns:a16="http://schemas.microsoft.com/office/drawing/2014/main" id="{81A350AE-3599-26AF-9C41-62ADA08AED5A}"/>
              </a:ext>
            </a:extLst>
          </p:cNvPr>
          <p:cNvSpPr>
            <a:spLocks noGrp="1"/>
          </p:cNvSpPr>
          <p:nvPr>
            <p:ph type="dt" sz="half" idx="10"/>
          </p:nvPr>
        </p:nvSpPr>
        <p:spPr/>
        <p:txBody>
          <a:bodyPr/>
          <a:lstStyle/>
          <a:p>
            <a:fld id="{204A9410-9F72-4C75-ADBD-63106BC7C7D6}" type="datetime1">
              <a:rPr lang="en-IN" smtClean="0"/>
              <a:t>16-10-2026</a:t>
            </a:fld>
            <a:endParaRPr lang="en-IN"/>
          </a:p>
        </p:txBody>
      </p:sp>
      <p:sp>
        <p:nvSpPr>
          <p:cNvPr id="5" name="Slide Number Placeholder 4">
            <a:extLst>
              <a:ext uri="{FF2B5EF4-FFF2-40B4-BE49-F238E27FC236}">
                <a16:creationId xmlns:a16="http://schemas.microsoft.com/office/drawing/2014/main" id="{4A261277-3D40-ACA2-AEC9-E9A0E9DC1318}"/>
              </a:ext>
            </a:extLst>
          </p:cNvPr>
          <p:cNvSpPr>
            <a:spLocks noGrp="1"/>
          </p:cNvSpPr>
          <p:nvPr>
            <p:ph type="sldNum" sz="quarter" idx="12"/>
          </p:nvPr>
        </p:nvSpPr>
        <p:spPr/>
        <p:txBody>
          <a:bodyPr/>
          <a:lstStyle/>
          <a:p>
            <a:fld id="{CB012AB6-14AF-4351-87AD-D420B05274E1}" type="slidenum">
              <a:rPr lang="en-IN" smtClean="0"/>
              <a:t>3</a:t>
            </a:fld>
            <a:endParaRPr lang="en-IN"/>
          </a:p>
        </p:txBody>
      </p:sp>
      <p:sp>
        <p:nvSpPr>
          <p:cNvPr id="6" name="Problem header"/>
          <p:cNvSpPr txBox="1"/>
          <p:nvPr/>
        </p:nvSpPr>
        <p:spPr>
          <a:xfrm>
            <a:off x="841248" y="1783080"/>
            <a:ext cx="4937760" cy="365760"/>
          </a:xfrm>
          <a:prstGeom prst="rect">
            <a:avLst/>
          </a:prstGeom>
          <a:noFill/>
        </p:spPr>
        <p:txBody>
          <a:bodyPr wrap="square" lIns="0" tIns="0" rIns="0" bIns="0" anchor="t">
            <a:noAutofit/>
          </a:bodyPr>
          <a:lstStyle/>
          <a:p>
            <a:pPr algn="l">
              <a:spcAft>
                <a:spcPts val="600"/>
              </a:spcAft>
            </a:pPr>
            <a:r>
              <a:rPr sz="2000" b="1" i="0">
                <a:solidFill>
                  <a:srgbClr val="0E2841"/>
                </a:solidFill>
              </a:rPr>
              <a:t>The problem</a:t>
            </a:r>
          </a:p>
        </p:txBody>
      </p:sp>
      <p:sp>
        <p:nvSpPr>
          <p:cNvPr id="7" name="Problem bullets"/>
          <p:cNvSpPr txBox="1"/>
          <p:nvPr/>
        </p:nvSpPr>
        <p:spPr>
          <a:xfrm>
            <a:off x="841248" y="2194560"/>
            <a:ext cx="4937760" cy="1737360"/>
          </a:xfrm>
          <a:prstGeom prst="rect">
            <a:avLst/>
          </a:prstGeom>
          <a:noFill/>
        </p:spPr>
        <p:txBody>
          <a:bodyPr wrap="square" lIns="0" tIns="0" rIns="0" bIns="0" anchor="t">
            <a:noAutofit/>
          </a:bodyPr>
          <a:lstStyle/>
          <a:p>
            <a:pPr marL="228600" indent="-228600" algn="l">
              <a:spcAft>
                <a:spcPts val="600"/>
              </a:spcAft>
              <a:buFont typeface="Arial"/>
              <a:buChar char="•"/>
            </a:pPr>
            <a:r>
              <a:rPr sz="1600" b="0" i="0">
                <a:solidFill>
                  <a:srgbClr val="1F2933"/>
                </a:solidFill>
              </a:rPr>
              <a:t>An emergency room often has more patients than staff can treat at once.</a:t>
            </a:r>
          </a:p>
          <a:p>
            <a:pPr marL="228600" indent="-228600" algn="l">
              <a:spcAft>
                <a:spcPts val="600"/>
              </a:spcAft>
              <a:buFont typeface="Arial"/>
              <a:buChar char="•"/>
            </a:pPr>
            <a:r>
              <a:rPr sz="1600" b="0" i="0">
                <a:solidFill>
                  <a:srgbClr val="1F2933"/>
                </a:solidFill>
              </a:rPr>
              <a:t>Ordering by arrival or by memory is slow and inconsistent.</a:t>
            </a:r>
          </a:p>
          <a:p>
            <a:pPr marL="228600" indent="-228600" algn="l">
              <a:spcAft>
                <a:spcPts val="600"/>
              </a:spcAft>
              <a:buFont typeface="Arial"/>
              <a:buChar char="•"/>
            </a:pPr>
            <a:r>
              <a:rPr sz="1600" b="0" i="0">
                <a:solidFill>
                  <a:srgbClr val="1F2933"/>
                </a:solidFill>
              </a:rPr>
              <a:t>Staff need a fast, rule-based way to rank patients by urgency.</a:t>
            </a:r>
          </a:p>
        </p:txBody>
      </p:sp>
      <p:sp>
        <p:nvSpPr>
          <p:cNvPr id="8" name="Goals header"/>
          <p:cNvSpPr txBox="1"/>
          <p:nvPr/>
        </p:nvSpPr>
        <p:spPr>
          <a:xfrm>
            <a:off x="841248" y="3977639"/>
            <a:ext cx="4937760" cy="365760"/>
          </a:xfrm>
          <a:prstGeom prst="rect">
            <a:avLst/>
          </a:prstGeom>
          <a:noFill/>
        </p:spPr>
        <p:txBody>
          <a:bodyPr wrap="square" lIns="0" tIns="0" rIns="0" bIns="0" anchor="t">
            <a:noAutofit/>
          </a:bodyPr>
          <a:lstStyle/>
          <a:p>
            <a:pPr algn="l">
              <a:spcAft>
                <a:spcPts val="600"/>
              </a:spcAft>
            </a:pPr>
            <a:r>
              <a:rPr sz="2000" b="1" i="0">
                <a:solidFill>
                  <a:srgbClr val="0E2841"/>
                </a:solidFill>
              </a:rPr>
              <a:t>What the program must do</a:t>
            </a:r>
          </a:p>
        </p:txBody>
      </p:sp>
      <p:sp>
        <p:nvSpPr>
          <p:cNvPr id="9" name="Goals bullets"/>
          <p:cNvSpPr txBox="1"/>
          <p:nvPr/>
        </p:nvSpPr>
        <p:spPr>
          <a:xfrm>
            <a:off x="841248" y="4389120"/>
            <a:ext cx="4937760" cy="1737360"/>
          </a:xfrm>
          <a:prstGeom prst="rect">
            <a:avLst/>
          </a:prstGeom>
          <a:noFill/>
        </p:spPr>
        <p:txBody>
          <a:bodyPr wrap="square" lIns="0" tIns="0" rIns="0" bIns="0" anchor="t">
            <a:noAutofit/>
          </a:bodyPr>
          <a:lstStyle/>
          <a:p>
            <a:pPr marL="228600" indent="-228600" algn="l">
              <a:spcAft>
                <a:spcPts val="600"/>
              </a:spcAft>
              <a:buFont typeface="Arial"/>
              <a:buChar char="•"/>
            </a:pPr>
            <a:r>
              <a:rPr sz="1600" b="0" i="0">
                <a:solidFill>
                  <a:srgbClr val="1F2933"/>
                </a:solidFill>
              </a:rPr>
              <a:t>Read each patient's vitals and complaint type and reject invalid input.</a:t>
            </a:r>
          </a:p>
          <a:p>
            <a:pPr marL="228600" indent="-228600" algn="l">
              <a:spcAft>
                <a:spcPts val="600"/>
              </a:spcAft>
              <a:buFont typeface="Arial"/>
              <a:buChar char="•"/>
            </a:pPr>
            <a:r>
              <a:rPr sz="1600" b="0" i="0">
                <a:solidFill>
                  <a:srgbClr val="1F2933"/>
                </a:solidFill>
              </a:rPr>
              <a:t>Assign RED, YELLOW or GREEN using fixed rules.</a:t>
            </a:r>
          </a:p>
          <a:p>
            <a:pPr marL="228600" indent="-228600" algn="l">
              <a:spcAft>
                <a:spcPts val="600"/>
              </a:spcAft>
              <a:buFont typeface="Arial"/>
              <a:buChar char="•"/>
            </a:pPr>
            <a:r>
              <a:rPr sz="1600" b="0" i="0">
                <a:solidFill>
                  <a:srgbClr val="1F2933"/>
                </a:solidFill>
              </a:rPr>
              <a:t>Show the treatment queue and search patients by name.</a:t>
            </a:r>
          </a:p>
        </p:txBody>
      </p:sp>
      <p:sp>
        <p:nvSpPr>
          <p:cNvPr id="10" name="Rules header"/>
          <p:cNvSpPr txBox="1"/>
          <p:nvPr/>
        </p:nvSpPr>
        <p:spPr>
          <a:xfrm>
            <a:off x="6309360" y="1783080"/>
            <a:ext cx="5029200" cy="365760"/>
          </a:xfrm>
          <a:prstGeom prst="rect">
            <a:avLst/>
          </a:prstGeom>
          <a:noFill/>
        </p:spPr>
        <p:txBody>
          <a:bodyPr wrap="square" lIns="0" tIns="0" rIns="0" bIns="0" anchor="t">
            <a:noAutofit/>
          </a:bodyPr>
          <a:lstStyle/>
          <a:p>
            <a:pPr algn="l">
              <a:spcAft>
                <a:spcPts val="600"/>
              </a:spcAft>
            </a:pPr>
            <a:r>
              <a:rPr sz="2000" b="1" i="0">
                <a:solidFill>
                  <a:srgbClr val="0E2841"/>
                </a:solidFill>
              </a:rPr>
              <a:t>Triage rules</a:t>
            </a:r>
          </a:p>
        </p:txBody>
      </p:sp>
      <p:sp>
        <p:nvSpPr>
          <p:cNvPr id="11" name="Rule card RED"/>
          <p:cNvSpPr/>
          <p:nvPr/>
        </p:nvSpPr>
        <p:spPr>
          <a:xfrm>
            <a:off x="6309360" y="2194560"/>
            <a:ext cx="5029200" cy="896112"/>
          </a:xfrm>
          <a:prstGeom prst="roundRect">
            <a:avLst>
              <a:gd name="adj" fmla="val 8000"/>
            </a:avLst>
          </a:prstGeom>
          <a:solidFill>
            <a:srgbClr val="FFFFFF"/>
          </a:solidFill>
          <a:ln w="9525">
            <a:solidFill>
              <a:srgbClr val="E3E9EF"/>
            </a:solidFill>
          </a:ln>
          <a:effectLst>
            <a:outerShdw blurRad="76200" dist="25400" dir="5400000" algn="t" rotWithShape="0">
              <a:srgbClr val="0E2841">
                <a:alpha val="14000"/>
              </a:srgbClr>
            </a:outerShdw>
          </a:effectLst>
        </p:spPr>
        <p:txBody>
          <a:bodyPr rtlCol="0" anchor="ctr"/>
          <a:lstStyle/>
          <a:p>
            <a:pPr algn="ctr"/>
            <a:endParaRPr/>
          </a:p>
        </p:txBody>
      </p:sp>
      <p:sp>
        <p:nvSpPr>
          <p:cNvPr id="12" name="Rule pill RED"/>
          <p:cNvSpPr/>
          <p:nvPr/>
        </p:nvSpPr>
        <p:spPr>
          <a:xfrm>
            <a:off x="6419088" y="2459736"/>
            <a:ext cx="1188720" cy="365760"/>
          </a:xfrm>
          <a:prstGeom prst="roundRect">
            <a:avLst>
              <a:gd name="adj" fmla="val 50000"/>
            </a:avLst>
          </a:prstGeom>
          <a:solidFill>
            <a:srgbClr val="E5484D"/>
          </a:solidFill>
          <a:ln>
            <a:noFill/>
          </a:ln>
        </p:spPr>
        <p:txBody>
          <a:bodyPr wrap="square" lIns="0" tIns="0" rIns="0" bIns="0" rtlCol="0" anchor="ctr">
            <a:noAutofit/>
          </a:bodyPr>
          <a:lstStyle/>
          <a:p>
            <a:pPr algn="ctr">
              <a:spcAft>
                <a:spcPts val="600"/>
              </a:spcAft>
            </a:pPr>
            <a:r>
              <a:rPr sz="1300" b="1" i="0">
                <a:solidFill>
                  <a:srgbClr val="FFFFFF"/>
                </a:solidFill>
              </a:rPr>
              <a:t>RED</a:t>
            </a:r>
          </a:p>
        </p:txBody>
      </p:sp>
      <p:sp>
        <p:nvSpPr>
          <p:cNvPr id="13" name="Rule text RED"/>
          <p:cNvSpPr txBox="1"/>
          <p:nvPr/>
        </p:nvSpPr>
        <p:spPr>
          <a:xfrm>
            <a:off x="7772400" y="2194560"/>
            <a:ext cx="3429000" cy="896112"/>
          </a:xfrm>
          <a:prstGeom prst="rect">
            <a:avLst/>
          </a:prstGeom>
          <a:noFill/>
        </p:spPr>
        <p:txBody>
          <a:bodyPr wrap="square" lIns="0" tIns="0" rIns="0" bIns="0" anchor="ctr">
            <a:noAutofit/>
          </a:bodyPr>
          <a:lstStyle/>
          <a:p>
            <a:pPr algn="l">
              <a:spcAft>
                <a:spcPts val="0"/>
              </a:spcAft>
            </a:pPr>
            <a:r>
              <a:rPr sz="1300" b="0" i="0">
                <a:solidFill>
                  <a:srgbClr val="1F2933"/>
                </a:solidFill>
              </a:rPr>
              <a:t>Unconscious, heart rate under 40 or over 150, or pain 9 and above</a:t>
            </a:r>
          </a:p>
        </p:txBody>
      </p:sp>
      <p:sp>
        <p:nvSpPr>
          <p:cNvPr id="14" name="Rule card YELLOW"/>
          <p:cNvSpPr/>
          <p:nvPr/>
        </p:nvSpPr>
        <p:spPr>
          <a:xfrm>
            <a:off x="6309360" y="3182112"/>
            <a:ext cx="5029200" cy="896112"/>
          </a:xfrm>
          <a:prstGeom prst="roundRect">
            <a:avLst>
              <a:gd name="adj" fmla="val 8000"/>
            </a:avLst>
          </a:prstGeom>
          <a:solidFill>
            <a:srgbClr val="FFFFFF"/>
          </a:solidFill>
          <a:ln w="9525">
            <a:solidFill>
              <a:srgbClr val="E3E9EF"/>
            </a:solidFill>
          </a:ln>
          <a:effectLst>
            <a:outerShdw blurRad="76200" dist="25400" dir="5400000" algn="t" rotWithShape="0">
              <a:srgbClr val="0E2841">
                <a:alpha val="14000"/>
              </a:srgbClr>
            </a:outerShdw>
          </a:effectLst>
        </p:spPr>
        <p:txBody>
          <a:bodyPr rtlCol="0" anchor="ctr"/>
          <a:lstStyle/>
          <a:p>
            <a:pPr algn="ctr"/>
            <a:endParaRPr/>
          </a:p>
        </p:txBody>
      </p:sp>
      <p:sp>
        <p:nvSpPr>
          <p:cNvPr id="15" name="Rule pill YELLOW"/>
          <p:cNvSpPr/>
          <p:nvPr/>
        </p:nvSpPr>
        <p:spPr>
          <a:xfrm>
            <a:off x="6419088" y="3447288"/>
            <a:ext cx="1188720" cy="365760"/>
          </a:xfrm>
          <a:prstGeom prst="roundRect">
            <a:avLst>
              <a:gd name="adj" fmla="val 50000"/>
            </a:avLst>
          </a:prstGeom>
          <a:solidFill>
            <a:srgbClr val="F2A900"/>
          </a:solidFill>
          <a:ln>
            <a:noFill/>
          </a:ln>
        </p:spPr>
        <p:txBody>
          <a:bodyPr wrap="square" lIns="0" tIns="0" rIns="0" bIns="0" rtlCol="0" anchor="ctr">
            <a:noAutofit/>
          </a:bodyPr>
          <a:lstStyle/>
          <a:p>
            <a:pPr algn="ctr">
              <a:spcAft>
                <a:spcPts val="600"/>
              </a:spcAft>
            </a:pPr>
            <a:r>
              <a:rPr sz="1300" b="1" i="0">
                <a:solidFill>
                  <a:srgbClr val="1F2933"/>
                </a:solidFill>
              </a:rPr>
              <a:t>YELLOW</a:t>
            </a:r>
          </a:p>
        </p:txBody>
      </p:sp>
      <p:sp>
        <p:nvSpPr>
          <p:cNvPr id="16" name="Rule text YELLOW"/>
          <p:cNvSpPr txBox="1"/>
          <p:nvPr/>
        </p:nvSpPr>
        <p:spPr>
          <a:xfrm>
            <a:off x="7772400" y="3182112"/>
            <a:ext cx="3429000" cy="896112"/>
          </a:xfrm>
          <a:prstGeom prst="rect">
            <a:avLst/>
          </a:prstGeom>
          <a:noFill/>
        </p:spPr>
        <p:txBody>
          <a:bodyPr wrap="square" lIns="0" tIns="0" rIns="0" bIns="0" anchor="ctr">
            <a:noAutofit/>
          </a:bodyPr>
          <a:lstStyle/>
          <a:p>
            <a:pPr algn="l">
              <a:spcAft>
                <a:spcPts val="0"/>
              </a:spcAft>
            </a:pPr>
            <a:r>
              <a:rPr sz="1300" b="0" i="0">
                <a:solidFill>
                  <a:srgbClr val="1F2933"/>
                </a:solidFill>
              </a:rPr>
              <a:t>Heart rate 40-49 or 111-150, pain 6+ (injury 5+), or age 5 and under / 65 and over with pain 4+</a:t>
            </a:r>
          </a:p>
        </p:txBody>
      </p:sp>
      <p:sp>
        <p:nvSpPr>
          <p:cNvPr id="17" name="Rule card GREEN"/>
          <p:cNvSpPr/>
          <p:nvPr/>
        </p:nvSpPr>
        <p:spPr>
          <a:xfrm>
            <a:off x="6309360" y="4169664"/>
            <a:ext cx="5029200" cy="896112"/>
          </a:xfrm>
          <a:prstGeom prst="roundRect">
            <a:avLst>
              <a:gd name="adj" fmla="val 8000"/>
            </a:avLst>
          </a:prstGeom>
          <a:solidFill>
            <a:srgbClr val="FFFFFF"/>
          </a:solidFill>
          <a:ln w="9525">
            <a:solidFill>
              <a:srgbClr val="E3E9EF"/>
            </a:solidFill>
          </a:ln>
          <a:effectLst>
            <a:outerShdw blurRad="76200" dist="25400" dir="5400000" algn="t" rotWithShape="0">
              <a:srgbClr val="0E2841">
                <a:alpha val="14000"/>
              </a:srgbClr>
            </a:outerShdw>
          </a:effectLst>
        </p:spPr>
        <p:txBody>
          <a:bodyPr rtlCol="0" anchor="ctr"/>
          <a:lstStyle/>
          <a:p>
            <a:pPr algn="ctr"/>
            <a:endParaRPr/>
          </a:p>
        </p:txBody>
      </p:sp>
      <p:sp>
        <p:nvSpPr>
          <p:cNvPr id="18" name="Rule pill GREEN"/>
          <p:cNvSpPr/>
          <p:nvPr/>
        </p:nvSpPr>
        <p:spPr>
          <a:xfrm>
            <a:off x="6419088" y="4434840"/>
            <a:ext cx="1188720" cy="365760"/>
          </a:xfrm>
          <a:prstGeom prst="roundRect">
            <a:avLst>
              <a:gd name="adj" fmla="val 50000"/>
            </a:avLst>
          </a:prstGeom>
          <a:solidFill>
            <a:srgbClr val="2FA84F"/>
          </a:solidFill>
          <a:ln>
            <a:noFill/>
          </a:ln>
        </p:spPr>
        <p:txBody>
          <a:bodyPr wrap="square" lIns="0" tIns="0" rIns="0" bIns="0" rtlCol="0" anchor="ctr">
            <a:noAutofit/>
          </a:bodyPr>
          <a:lstStyle/>
          <a:p>
            <a:pPr algn="ctr">
              <a:spcAft>
                <a:spcPts val="600"/>
              </a:spcAft>
            </a:pPr>
            <a:r>
              <a:rPr sz="1300" b="1" i="0">
                <a:solidFill>
                  <a:srgbClr val="FFFFFF"/>
                </a:solidFill>
              </a:rPr>
              <a:t>GREEN</a:t>
            </a:r>
          </a:p>
        </p:txBody>
      </p:sp>
      <p:sp>
        <p:nvSpPr>
          <p:cNvPr id="19" name="Rule text GREEN"/>
          <p:cNvSpPr txBox="1"/>
          <p:nvPr/>
        </p:nvSpPr>
        <p:spPr>
          <a:xfrm>
            <a:off x="7772400" y="4169664"/>
            <a:ext cx="3429000" cy="896112"/>
          </a:xfrm>
          <a:prstGeom prst="rect">
            <a:avLst/>
          </a:prstGeom>
          <a:noFill/>
        </p:spPr>
        <p:txBody>
          <a:bodyPr wrap="square" lIns="0" tIns="0" rIns="0" bIns="0" anchor="ctr">
            <a:noAutofit/>
          </a:bodyPr>
          <a:lstStyle/>
          <a:p>
            <a:pPr algn="l">
              <a:spcAft>
                <a:spcPts val="0"/>
              </a:spcAft>
            </a:pPr>
            <a:r>
              <a:rPr sz="1300" b="0" i="0">
                <a:solidFill>
                  <a:srgbClr val="1F2933"/>
                </a:solidFill>
              </a:rPr>
              <a:t>All other stable patients</a:t>
            </a:r>
          </a:p>
        </p:txBody>
      </p:sp>
      <p:sp>
        <p:nvSpPr>
          <p:cNvPr id="20" name="Rule card NO PULSE"/>
          <p:cNvSpPr/>
          <p:nvPr/>
        </p:nvSpPr>
        <p:spPr>
          <a:xfrm>
            <a:off x="6309360" y="5157216"/>
            <a:ext cx="5029200" cy="896112"/>
          </a:xfrm>
          <a:prstGeom prst="roundRect">
            <a:avLst>
              <a:gd name="adj" fmla="val 8000"/>
            </a:avLst>
          </a:prstGeom>
          <a:solidFill>
            <a:srgbClr val="FFFFFF"/>
          </a:solidFill>
          <a:ln w="9525">
            <a:solidFill>
              <a:srgbClr val="E3E9EF"/>
            </a:solidFill>
          </a:ln>
          <a:effectLst>
            <a:outerShdw blurRad="76200" dist="25400" dir="5400000" algn="t" rotWithShape="0">
              <a:srgbClr val="0E2841">
                <a:alpha val="14000"/>
              </a:srgbClr>
            </a:outerShdw>
          </a:effectLst>
        </p:spPr>
        <p:txBody>
          <a:bodyPr rtlCol="0" anchor="ctr"/>
          <a:lstStyle/>
          <a:p>
            <a:pPr algn="ctr"/>
            <a:endParaRPr/>
          </a:p>
        </p:txBody>
      </p:sp>
      <p:sp>
        <p:nvSpPr>
          <p:cNvPr id="21" name="Rule pill NO PULSE"/>
          <p:cNvSpPr/>
          <p:nvPr/>
        </p:nvSpPr>
        <p:spPr>
          <a:xfrm>
            <a:off x="6419088" y="5422392"/>
            <a:ext cx="1188720" cy="365760"/>
          </a:xfrm>
          <a:prstGeom prst="roundRect">
            <a:avLst>
              <a:gd name="adj" fmla="val 50000"/>
            </a:avLst>
          </a:prstGeom>
          <a:solidFill>
            <a:srgbClr val="5B6B7F"/>
          </a:solidFill>
          <a:ln>
            <a:noFill/>
          </a:ln>
        </p:spPr>
        <p:txBody>
          <a:bodyPr wrap="square" lIns="0" tIns="0" rIns="0" bIns="0" rtlCol="0" anchor="ctr">
            <a:noAutofit/>
          </a:bodyPr>
          <a:lstStyle/>
          <a:p>
            <a:pPr algn="ctr">
              <a:spcAft>
                <a:spcPts val="600"/>
              </a:spcAft>
            </a:pPr>
            <a:r>
              <a:rPr sz="1300" b="1" i="0">
                <a:solidFill>
                  <a:srgbClr val="FFFFFF"/>
                </a:solidFill>
              </a:rPr>
              <a:t>NO PULSE</a:t>
            </a:r>
          </a:p>
        </p:txBody>
      </p:sp>
      <p:sp>
        <p:nvSpPr>
          <p:cNvPr id="22" name="Rule text NO PULSE"/>
          <p:cNvSpPr txBox="1"/>
          <p:nvPr/>
        </p:nvSpPr>
        <p:spPr>
          <a:xfrm>
            <a:off x="7772400" y="5157216"/>
            <a:ext cx="3429000" cy="896112"/>
          </a:xfrm>
          <a:prstGeom prst="rect">
            <a:avLst/>
          </a:prstGeom>
          <a:noFill/>
        </p:spPr>
        <p:txBody>
          <a:bodyPr wrap="square" lIns="0" tIns="0" rIns="0" bIns="0" anchor="ctr">
            <a:noAutofit/>
          </a:bodyPr>
          <a:lstStyle/>
          <a:p>
            <a:pPr algn="l">
              <a:spcAft>
                <a:spcPts val="0"/>
              </a:spcAft>
            </a:pPr>
            <a:r>
              <a:rPr sz="1300" b="0" i="0">
                <a:solidFill>
                  <a:srgbClr val="1F2933"/>
                </a:solidFill>
              </a:rPr>
              <a:t>Heart rate 0: declared dead, not added to the queue</a:t>
            </a:r>
          </a:p>
        </p:txBody>
      </p:sp>
    </p:spTree>
    <p:extLst>
      <p:ext uri="{BB962C8B-B14F-4D97-AF65-F5344CB8AC3E}">
        <p14:creationId xmlns:p14="http://schemas.microsoft.com/office/powerpoint/2010/main" val="39800905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54CC5-4FD5-611A-4481-E878E281E2CD}"/>
              </a:ext>
            </a:extLst>
          </p:cNvPr>
          <p:cNvSpPr>
            <a:spLocks noGrp="1"/>
          </p:cNvSpPr>
          <p:nvPr>
            <p:ph type="title"/>
          </p:nvPr>
        </p:nvSpPr>
        <p:spPr/>
        <p:txBody>
          <a:bodyPr/>
          <a:lstStyle/>
          <a:p>
            <a:r>
              <a:rPr lang="en-IN" sz="3400" b="1" dirty="0">
                <a:solidFill>
                  <a:srgbClr val="0E2841"/>
                </a:solidFill>
              </a:rPr>
              <a:t>CO 1 Topics</a:t>
            </a:r>
          </a:p>
        </p:txBody>
      </p:sp>
      <p:sp>
        <p:nvSpPr>
          <p:cNvPr id="4" name="Date Placeholder 3">
            <a:extLst>
              <a:ext uri="{FF2B5EF4-FFF2-40B4-BE49-F238E27FC236}">
                <a16:creationId xmlns:a16="http://schemas.microsoft.com/office/drawing/2014/main" id="{DC07C684-562B-9D58-E086-68CEC325CB0E}"/>
              </a:ext>
            </a:extLst>
          </p:cNvPr>
          <p:cNvSpPr>
            <a:spLocks noGrp="1"/>
          </p:cNvSpPr>
          <p:nvPr>
            <p:ph type="dt" sz="half" idx="10"/>
          </p:nvPr>
        </p:nvSpPr>
        <p:spPr/>
        <p:txBody>
          <a:bodyPr/>
          <a:lstStyle/>
          <a:p>
            <a:fld id="{98A7212C-F907-4AC4-966E-162B34E8EFA5}" type="datetime1">
              <a:rPr lang="en-IN" smtClean="0"/>
              <a:t>16-10-2026</a:t>
            </a:fld>
            <a:endParaRPr lang="en-IN"/>
          </a:p>
        </p:txBody>
      </p:sp>
      <p:sp>
        <p:nvSpPr>
          <p:cNvPr id="5" name="Slide Number Placeholder 4">
            <a:extLst>
              <a:ext uri="{FF2B5EF4-FFF2-40B4-BE49-F238E27FC236}">
                <a16:creationId xmlns:a16="http://schemas.microsoft.com/office/drawing/2014/main" id="{24433CBD-9819-BA1C-8720-D89215B1A639}"/>
              </a:ext>
            </a:extLst>
          </p:cNvPr>
          <p:cNvSpPr>
            <a:spLocks noGrp="1"/>
          </p:cNvSpPr>
          <p:nvPr>
            <p:ph type="sldNum" sz="quarter" idx="12"/>
          </p:nvPr>
        </p:nvSpPr>
        <p:spPr/>
        <p:txBody>
          <a:bodyPr/>
          <a:lstStyle/>
          <a:p>
            <a:fld id="{CB012AB6-14AF-4351-87AD-D420B05274E1}" type="slidenum">
              <a:rPr lang="en-IN" smtClean="0"/>
              <a:t>6</a:t>
            </a:fld>
            <a:endParaRPr lang="en-IN"/>
          </a:p>
        </p:txBody>
      </p:sp>
      <p:sp>
        <p:nvSpPr>
          <p:cNvPr id="6" name="Topic row 1"/>
          <p:cNvSpPr/>
          <p:nvPr/>
        </p:nvSpPr>
        <p:spPr>
          <a:xfrm>
            <a:off x="841248" y="1783080"/>
            <a:ext cx="4754880" cy="640079"/>
          </a:xfrm>
          <a:prstGeom prst="roundRect">
            <a:avLst>
              <a:gd name="adj" fmla="val 8000"/>
            </a:avLst>
          </a:prstGeom>
          <a:solidFill>
            <a:srgbClr val="FFFFFF"/>
          </a:solidFill>
          <a:ln w="9525">
            <a:solidFill>
              <a:srgbClr val="E3E9EF"/>
            </a:solidFill>
          </a:ln>
          <a:effectLst>
            <a:outerShdw blurRad="76200" dist="25400" dir="5400000" algn="t" rotWithShape="0">
              <a:srgbClr val="0E2841">
                <a:alpha val="14000"/>
              </a:srgbClr>
            </a:outerShdw>
          </a:effectLst>
        </p:spPr>
        <p:txBody>
          <a:bodyPr rtlCol="0" anchor="ctr"/>
          <a:lstStyle/>
          <a:p>
            <a:pPr algn="ctr"/>
            <a:endParaRPr/>
          </a:p>
        </p:txBody>
      </p:sp>
      <p:sp>
        <p:nvSpPr>
          <p:cNvPr id="7" name="Topic number 1"/>
          <p:cNvSpPr/>
          <p:nvPr/>
        </p:nvSpPr>
        <p:spPr>
          <a:xfrm>
            <a:off x="950976" y="1938528"/>
            <a:ext cx="329184" cy="329184"/>
          </a:xfrm>
          <a:prstGeom prst="ellipse">
            <a:avLst/>
          </a:prstGeom>
          <a:solidFill>
            <a:srgbClr val="156082"/>
          </a:solidFill>
          <a:ln>
            <a:noFill/>
          </a:ln>
        </p:spPr>
        <p:txBody>
          <a:bodyPr wrap="square" lIns="0" tIns="0" rIns="0" bIns="0" rtlCol="0" anchor="ctr">
            <a:noAutofit/>
          </a:bodyPr>
          <a:lstStyle/>
          <a:p>
            <a:pPr algn="ctr">
              <a:spcAft>
                <a:spcPts val="600"/>
              </a:spcAft>
            </a:pPr>
            <a:r>
              <a:rPr sz="1300" b="1" i="0">
                <a:solidFill>
                  <a:srgbClr val="FFFFFF"/>
                </a:solidFill>
              </a:rPr>
              <a:t>1</a:t>
            </a:r>
          </a:p>
        </p:txBody>
      </p:sp>
      <p:sp>
        <p:nvSpPr>
          <p:cNvPr id="8" name="Topic text 1"/>
          <p:cNvSpPr txBox="1"/>
          <p:nvPr/>
        </p:nvSpPr>
        <p:spPr>
          <a:xfrm>
            <a:off x="1417320" y="1783080"/>
            <a:ext cx="4069080" cy="640079"/>
          </a:xfrm>
          <a:prstGeom prst="rect">
            <a:avLst/>
          </a:prstGeom>
          <a:noFill/>
        </p:spPr>
        <p:txBody>
          <a:bodyPr wrap="square" lIns="0" tIns="0" rIns="0" bIns="0" anchor="ctr">
            <a:noAutofit/>
          </a:bodyPr>
          <a:lstStyle/>
          <a:p>
            <a:pPr algn="l">
              <a:spcAft>
                <a:spcPts val="0"/>
              </a:spcAft>
            </a:pPr>
            <a:r>
              <a:rPr sz="1600" b="1" i="0">
                <a:solidFill>
                  <a:srgbClr val="0E2841"/>
                </a:solidFill>
              </a:rPr>
              <a:t>Program structure</a:t>
            </a:r>
          </a:p>
          <a:p>
            <a:pPr algn="l">
              <a:spcAft>
                <a:spcPts val="0"/>
              </a:spcAft>
            </a:pPr>
            <a:r>
              <a:rPr sz="1300" b="0" i="0">
                <a:solidFill>
                  <a:srgbClr val="5B6B7F"/>
                </a:solidFill>
              </a:rPr>
              <a:t>class ER, main(String[] args), imports</a:t>
            </a:r>
          </a:p>
        </p:txBody>
      </p:sp>
      <p:sp>
        <p:nvSpPr>
          <p:cNvPr id="9" name="Topic row 2"/>
          <p:cNvSpPr/>
          <p:nvPr/>
        </p:nvSpPr>
        <p:spPr>
          <a:xfrm>
            <a:off x="841248" y="2496311"/>
            <a:ext cx="4754880" cy="640079"/>
          </a:xfrm>
          <a:prstGeom prst="roundRect">
            <a:avLst>
              <a:gd name="adj" fmla="val 8000"/>
            </a:avLst>
          </a:prstGeom>
          <a:solidFill>
            <a:srgbClr val="FFFFFF"/>
          </a:solidFill>
          <a:ln w="9525">
            <a:solidFill>
              <a:srgbClr val="E3E9EF"/>
            </a:solidFill>
          </a:ln>
          <a:effectLst>
            <a:outerShdw blurRad="76200" dist="25400" dir="5400000" algn="t" rotWithShape="0">
              <a:srgbClr val="0E2841">
                <a:alpha val="14000"/>
              </a:srgbClr>
            </a:outerShdw>
          </a:effectLst>
        </p:spPr>
        <p:txBody>
          <a:bodyPr rtlCol="0" anchor="ctr"/>
          <a:lstStyle/>
          <a:p>
            <a:pPr algn="ctr"/>
            <a:endParaRPr/>
          </a:p>
        </p:txBody>
      </p:sp>
      <p:sp>
        <p:nvSpPr>
          <p:cNvPr id="10" name="Topic number 2"/>
          <p:cNvSpPr/>
          <p:nvPr/>
        </p:nvSpPr>
        <p:spPr>
          <a:xfrm>
            <a:off x="950976" y="2651759"/>
            <a:ext cx="329184" cy="329184"/>
          </a:xfrm>
          <a:prstGeom prst="ellipse">
            <a:avLst/>
          </a:prstGeom>
          <a:solidFill>
            <a:srgbClr val="156082"/>
          </a:solidFill>
          <a:ln>
            <a:noFill/>
          </a:ln>
        </p:spPr>
        <p:txBody>
          <a:bodyPr wrap="square" lIns="0" tIns="0" rIns="0" bIns="0" rtlCol="0" anchor="ctr">
            <a:noAutofit/>
          </a:bodyPr>
          <a:lstStyle/>
          <a:p>
            <a:pPr algn="ctr">
              <a:spcAft>
                <a:spcPts val="600"/>
              </a:spcAft>
            </a:pPr>
            <a:r>
              <a:rPr sz="1300" b="1" i="0">
                <a:solidFill>
                  <a:srgbClr val="FFFFFF"/>
                </a:solidFill>
              </a:rPr>
              <a:t>2</a:t>
            </a:r>
          </a:p>
        </p:txBody>
      </p:sp>
      <p:sp>
        <p:nvSpPr>
          <p:cNvPr id="11" name="Topic text 2"/>
          <p:cNvSpPr txBox="1"/>
          <p:nvPr/>
        </p:nvSpPr>
        <p:spPr>
          <a:xfrm>
            <a:off x="1417320" y="2496311"/>
            <a:ext cx="4069080" cy="640079"/>
          </a:xfrm>
          <a:prstGeom prst="rect">
            <a:avLst/>
          </a:prstGeom>
          <a:noFill/>
        </p:spPr>
        <p:txBody>
          <a:bodyPr wrap="square" lIns="0" tIns="0" rIns="0" bIns="0" anchor="ctr">
            <a:noAutofit/>
          </a:bodyPr>
          <a:lstStyle/>
          <a:p>
            <a:pPr algn="l">
              <a:spcAft>
                <a:spcPts val="0"/>
              </a:spcAft>
            </a:pPr>
            <a:r>
              <a:rPr sz="1600" b="1" i="0">
                <a:solidFill>
                  <a:srgbClr val="0E2841"/>
                </a:solidFill>
              </a:rPr>
              <a:t>Variables and data types</a:t>
            </a:r>
          </a:p>
          <a:p>
            <a:pPr algn="l">
              <a:spcAft>
                <a:spcPts val="0"/>
              </a:spcAft>
            </a:pPr>
            <a:r>
              <a:rPr sz="1300" b="0" i="0">
                <a:solidFill>
                  <a:srgbClr val="5B6B7F"/>
                </a:solidFill>
              </a:rPr>
              <a:t>int age, boolean conscious, String name</a:t>
            </a:r>
          </a:p>
        </p:txBody>
      </p:sp>
      <p:sp>
        <p:nvSpPr>
          <p:cNvPr id="12" name="Topic row 3"/>
          <p:cNvSpPr/>
          <p:nvPr/>
        </p:nvSpPr>
        <p:spPr>
          <a:xfrm>
            <a:off x="841248" y="3209544"/>
            <a:ext cx="4754880" cy="640079"/>
          </a:xfrm>
          <a:prstGeom prst="roundRect">
            <a:avLst>
              <a:gd name="adj" fmla="val 8000"/>
            </a:avLst>
          </a:prstGeom>
          <a:solidFill>
            <a:srgbClr val="FFFFFF"/>
          </a:solidFill>
          <a:ln w="9525">
            <a:solidFill>
              <a:srgbClr val="E3E9EF"/>
            </a:solidFill>
          </a:ln>
          <a:effectLst>
            <a:outerShdw blurRad="76200" dist="25400" dir="5400000" algn="t" rotWithShape="0">
              <a:srgbClr val="0E2841">
                <a:alpha val="14000"/>
              </a:srgbClr>
            </a:outerShdw>
          </a:effectLst>
        </p:spPr>
        <p:txBody>
          <a:bodyPr rtlCol="0" anchor="ctr"/>
          <a:lstStyle/>
          <a:p>
            <a:pPr algn="ctr"/>
            <a:endParaRPr/>
          </a:p>
        </p:txBody>
      </p:sp>
      <p:sp>
        <p:nvSpPr>
          <p:cNvPr id="13" name="Topic number 3"/>
          <p:cNvSpPr/>
          <p:nvPr/>
        </p:nvSpPr>
        <p:spPr>
          <a:xfrm>
            <a:off x="950976" y="3364991"/>
            <a:ext cx="329184" cy="329184"/>
          </a:xfrm>
          <a:prstGeom prst="ellipse">
            <a:avLst/>
          </a:prstGeom>
          <a:solidFill>
            <a:srgbClr val="156082"/>
          </a:solidFill>
          <a:ln>
            <a:noFill/>
          </a:ln>
        </p:spPr>
        <p:txBody>
          <a:bodyPr wrap="square" lIns="0" tIns="0" rIns="0" bIns="0" rtlCol="0" anchor="ctr">
            <a:noAutofit/>
          </a:bodyPr>
          <a:lstStyle/>
          <a:p>
            <a:pPr algn="ctr">
              <a:spcAft>
                <a:spcPts val="600"/>
              </a:spcAft>
            </a:pPr>
            <a:r>
              <a:rPr sz="1300" b="1" i="0">
                <a:solidFill>
                  <a:srgbClr val="FFFFFF"/>
                </a:solidFill>
              </a:rPr>
              <a:t>3</a:t>
            </a:r>
          </a:p>
        </p:txBody>
      </p:sp>
      <p:sp>
        <p:nvSpPr>
          <p:cNvPr id="14" name="Topic text 3"/>
          <p:cNvSpPr txBox="1"/>
          <p:nvPr/>
        </p:nvSpPr>
        <p:spPr>
          <a:xfrm>
            <a:off x="1417320" y="3209544"/>
            <a:ext cx="4069080" cy="640079"/>
          </a:xfrm>
          <a:prstGeom prst="rect">
            <a:avLst/>
          </a:prstGeom>
          <a:noFill/>
        </p:spPr>
        <p:txBody>
          <a:bodyPr wrap="square" lIns="0" tIns="0" rIns="0" bIns="0" anchor="ctr">
            <a:noAutofit/>
          </a:bodyPr>
          <a:lstStyle/>
          <a:p>
            <a:pPr algn="l">
              <a:spcAft>
                <a:spcPts val="0"/>
              </a:spcAft>
            </a:pPr>
            <a:r>
              <a:rPr sz="1600" b="1" i="0">
                <a:solidFill>
                  <a:srgbClr val="0E2841"/>
                </a:solidFill>
              </a:rPr>
              <a:t>Constants</a:t>
            </a:r>
          </a:p>
          <a:p>
            <a:pPr algn="l">
              <a:spcAft>
                <a:spcPts val="0"/>
              </a:spcAft>
            </a:pPr>
            <a:r>
              <a:rPr sz="1300" b="0" i="0">
                <a:solidFill>
                  <a:srgbClr val="5B6B7F"/>
                </a:solidFill>
              </a:rPr>
              <a:t>static final int RED = 1;</a:t>
            </a:r>
          </a:p>
        </p:txBody>
      </p:sp>
      <p:sp>
        <p:nvSpPr>
          <p:cNvPr id="15" name="Topic row 4"/>
          <p:cNvSpPr/>
          <p:nvPr/>
        </p:nvSpPr>
        <p:spPr>
          <a:xfrm>
            <a:off x="841248" y="3922775"/>
            <a:ext cx="4754880" cy="640079"/>
          </a:xfrm>
          <a:prstGeom prst="roundRect">
            <a:avLst>
              <a:gd name="adj" fmla="val 8000"/>
            </a:avLst>
          </a:prstGeom>
          <a:solidFill>
            <a:srgbClr val="FFFFFF"/>
          </a:solidFill>
          <a:ln w="9525">
            <a:solidFill>
              <a:srgbClr val="E3E9EF"/>
            </a:solidFill>
          </a:ln>
          <a:effectLst>
            <a:outerShdw blurRad="76200" dist="25400" dir="5400000" algn="t" rotWithShape="0">
              <a:srgbClr val="0E2841">
                <a:alpha val="14000"/>
              </a:srgbClr>
            </a:outerShdw>
          </a:effectLst>
        </p:spPr>
        <p:txBody>
          <a:bodyPr rtlCol="0" anchor="ctr"/>
          <a:lstStyle/>
          <a:p>
            <a:pPr algn="ctr"/>
            <a:endParaRPr/>
          </a:p>
        </p:txBody>
      </p:sp>
      <p:sp>
        <p:nvSpPr>
          <p:cNvPr id="16" name="Topic number 4"/>
          <p:cNvSpPr/>
          <p:nvPr/>
        </p:nvSpPr>
        <p:spPr>
          <a:xfrm>
            <a:off x="950976" y="4078223"/>
            <a:ext cx="329184" cy="329184"/>
          </a:xfrm>
          <a:prstGeom prst="ellipse">
            <a:avLst/>
          </a:prstGeom>
          <a:solidFill>
            <a:srgbClr val="156082"/>
          </a:solidFill>
          <a:ln>
            <a:noFill/>
          </a:ln>
        </p:spPr>
        <p:txBody>
          <a:bodyPr wrap="square" lIns="0" tIns="0" rIns="0" bIns="0" rtlCol="0" anchor="ctr">
            <a:noAutofit/>
          </a:bodyPr>
          <a:lstStyle/>
          <a:p>
            <a:pPr algn="ctr">
              <a:spcAft>
                <a:spcPts val="600"/>
              </a:spcAft>
            </a:pPr>
            <a:r>
              <a:rPr sz="1300" b="1" i="0">
                <a:solidFill>
                  <a:srgbClr val="FFFFFF"/>
                </a:solidFill>
              </a:rPr>
              <a:t>4</a:t>
            </a:r>
          </a:p>
        </p:txBody>
      </p:sp>
      <p:sp>
        <p:nvSpPr>
          <p:cNvPr id="17" name="Topic text 4"/>
          <p:cNvSpPr txBox="1"/>
          <p:nvPr/>
        </p:nvSpPr>
        <p:spPr>
          <a:xfrm>
            <a:off x="1417320" y="3922775"/>
            <a:ext cx="4069080" cy="640079"/>
          </a:xfrm>
          <a:prstGeom prst="rect">
            <a:avLst/>
          </a:prstGeom>
          <a:noFill/>
        </p:spPr>
        <p:txBody>
          <a:bodyPr wrap="square" lIns="0" tIns="0" rIns="0" bIns="0" anchor="ctr">
            <a:noAutofit/>
          </a:bodyPr>
          <a:lstStyle/>
          <a:p>
            <a:pPr algn="l">
              <a:spcAft>
                <a:spcPts val="0"/>
              </a:spcAft>
            </a:pPr>
            <a:r>
              <a:rPr sz="1600" b="1" i="0">
                <a:solidFill>
                  <a:srgbClr val="0E2841"/>
                </a:solidFill>
              </a:rPr>
              <a:t>Operators</a:t>
            </a:r>
          </a:p>
          <a:p>
            <a:pPr algn="l">
              <a:spcAft>
                <a:spcPts val="0"/>
              </a:spcAft>
            </a:pPr>
            <a:r>
              <a:rPr sz="1300" b="0" i="0">
                <a:solidFill>
                  <a:srgbClr val="5B6B7F"/>
                </a:solidFill>
              </a:rPr>
              <a:t>arithmetic, relational, logical, assignment, ++</a:t>
            </a:r>
          </a:p>
        </p:txBody>
      </p:sp>
      <p:sp>
        <p:nvSpPr>
          <p:cNvPr id="18" name="Topic row 5"/>
          <p:cNvSpPr/>
          <p:nvPr/>
        </p:nvSpPr>
        <p:spPr>
          <a:xfrm>
            <a:off x="841248" y="4636007"/>
            <a:ext cx="4754880" cy="640079"/>
          </a:xfrm>
          <a:prstGeom prst="roundRect">
            <a:avLst>
              <a:gd name="adj" fmla="val 8000"/>
            </a:avLst>
          </a:prstGeom>
          <a:solidFill>
            <a:srgbClr val="FFFFFF"/>
          </a:solidFill>
          <a:ln w="9525">
            <a:solidFill>
              <a:srgbClr val="E3E9EF"/>
            </a:solidFill>
          </a:ln>
          <a:effectLst>
            <a:outerShdw blurRad="76200" dist="25400" dir="5400000" algn="t" rotWithShape="0">
              <a:srgbClr val="0E2841">
                <a:alpha val="14000"/>
              </a:srgbClr>
            </a:outerShdw>
          </a:effectLst>
        </p:spPr>
        <p:txBody>
          <a:bodyPr rtlCol="0" anchor="ctr"/>
          <a:lstStyle/>
          <a:p>
            <a:pPr algn="ctr"/>
            <a:endParaRPr/>
          </a:p>
        </p:txBody>
      </p:sp>
      <p:sp>
        <p:nvSpPr>
          <p:cNvPr id="19" name="Topic number 5"/>
          <p:cNvSpPr/>
          <p:nvPr/>
        </p:nvSpPr>
        <p:spPr>
          <a:xfrm>
            <a:off x="950976" y="4791455"/>
            <a:ext cx="329184" cy="329184"/>
          </a:xfrm>
          <a:prstGeom prst="ellipse">
            <a:avLst/>
          </a:prstGeom>
          <a:solidFill>
            <a:srgbClr val="156082"/>
          </a:solidFill>
          <a:ln>
            <a:noFill/>
          </a:ln>
        </p:spPr>
        <p:txBody>
          <a:bodyPr wrap="square" lIns="0" tIns="0" rIns="0" bIns="0" rtlCol="0" anchor="ctr">
            <a:noAutofit/>
          </a:bodyPr>
          <a:lstStyle/>
          <a:p>
            <a:pPr algn="ctr">
              <a:spcAft>
                <a:spcPts val="600"/>
              </a:spcAft>
            </a:pPr>
            <a:r>
              <a:rPr sz="1300" b="1" i="0">
                <a:solidFill>
                  <a:srgbClr val="FFFFFF"/>
                </a:solidFill>
              </a:rPr>
              <a:t>5</a:t>
            </a:r>
          </a:p>
        </p:txBody>
      </p:sp>
      <p:sp>
        <p:nvSpPr>
          <p:cNvPr id="20" name="Topic text 5"/>
          <p:cNvSpPr txBox="1"/>
          <p:nvPr/>
        </p:nvSpPr>
        <p:spPr>
          <a:xfrm>
            <a:off x="1417320" y="4636007"/>
            <a:ext cx="4069080" cy="640079"/>
          </a:xfrm>
          <a:prstGeom prst="rect">
            <a:avLst/>
          </a:prstGeom>
          <a:noFill/>
        </p:spPr>
        <p:txBody>
          <a:bodyPr wrap="square" lIns="0" tIns="0" rIns="0" bIns="0" anchor="ctr">
            <a:noAutofit/>
          </a:bodyPr>
          <a:lstStyle/>
          <a:p>
            <a:pPr algn="l">
              <a:spcAft>
                <a:spcPts val="0"/>
              </a:spcAft>
            </a:pPr>
            <a:r>
              <a:rPr sz="1600" b="1" i="0">
                <a:solidFill>
                  <a:srgbClr val="0E2841"/>
                </a:solidFill>
              </a:rPr>
              <a:t>Expressions and precedence</a:t>
            </a:r>
          </a:p>
          <a:p>
            <a:pPr algn="l">
              <a:spcAft>
                <a:spcPts val="0"/>
              </a:spcAft>
            </a:pPr>
            <a:r>
              <a:rPr sz="1300" b="0" i="0">
                <a:solidFill>
                  <a:srgbClr val="5B6B7F"/>
                </a:solidFill>
              </a:rPr>
              <a:t>brackets in the age check, readInt(...) == 1</a:t>
            </a:r>
          </a:p>
        </p:txBody>
      </p:sp>
      <p:sp>
        <p:nvSpPr>
          <p:cNvPr id="21" name="Topic row 6"/>
          <p:cNvSpPr/>
          <p:nvPr/>
        </p:nvSpPr>
        <p:spPr>
          <a:xfrm>
            <a:off x="841248" y="5349239"/>
            <a:ext cx="4754880" cy="640079"/>
          </a:xfrm>
          <a:prstGeom prst="roundRect">
            <a:avLst>
              <a:gd name="adj" fmla="val 8000"/>
            </a:avLst>
          </a:prstGeom>
          <a:solidFill>
            <a:srgbClr val="FFFFFF"/>
          </a:solidFill>
          <a:ln w="9525">
            <a:solidFill>
              <a:srgbClr val="E3E9EF"/>
            </a:solidFill>
          </a:ln>
          <a:effectLst>
            <a:outerShdw blurRad="76200" dist="25400" dir="5400000" algn="t" rotWithShape="0">
              <a:srgbClr val="0E2841">
                <a:alpha val="14000"/>
              </a:srgbClr>
            </a:outerShdw>
          </a:effectLst>
        </p:spPr>
        <p:txBody>
          <a:bodyPr rtlCol="0" anchor="ctr"/>
          <a:lstStyle/>
          <a:p>
            <a:pPr algn="ctr"/>
            <a:endParaRPr/>
          </a:p>
        </p:txBody>
      </p:sp>
      <p:sp>
        <p:nvSpPr>
          <p:cNvPr id="22" name="Topic number 6"/>
          <p:cNvSpPr/>
          <p:nvPr/>
        </p:nvSpPr>
        <p:spPr>
          <a:xfrm>
            <a:off x="950976" y="5504687"/>
            <a:ext cx="329184" cy="329184"/>
          </a:xfrm>
          <a:prstGeom prst="ellipse">
            <a:avLst/>
          </a:prstGeom>
          <a:solidFill>
            <a:srgbClr val="156082"/>
          </a:solidFill>
          <a:ln>
            <a:noFill/>
          </a:ln>
        </p:spPr>
        <p:txBody>
          <a:bodyPr wrap="square" lIns="0" tIns="0" rIns="0" bIns="0" rtlCol="0" anchor="ctr">
            <a:noAutofit/>
          </a:bodyPr>
          <a:lstStyle/>
          <a:p>
            <a:pPr algn="ctr">
              <a:spcAft>
                <a:spcPts val="600"/>
              </a:spcAft>
            </a:pPr>
            <a:r>
              <a:rPr sz="1300" b="1" i="0">
                <a:solidFill>
                  <a:srgbClr val="FFFFFF"/>
                </a:solidFill>
              </a:rPr>
              <a:t>6</a:t>
            </a:r>
          </a:p>
        </p:txBody>
      </p:sp>
      <p:sp>
        <p:nvSpPr>
          <p:cNvPr id="23" name="Topic text 6"/>
          <p:cNvSpPr txBox="1"/>
          <p:nvPr/>
        </p:nvSpPr>
        <p:spPr>
          <a:xfrm>
            <a:off x="1417320" y="5349239"/>
            <a:ext cx="4069080" cy="640079"/>
          </a:xfrm>
          <a:prstGeom prst="rect">
            <a:avLst/>
          </a:prstGeom>
          <a:noFill/>
        </p:spPr>
        <p:txBody>
          <a:bodyPr wrap="square" lIns="0" tIns="0" rIns="0" bIns="0" anchor="ctr">
            <a:noAutofit/>
          </a:bodyPr>
          <a:lstStyle/>
          <a:p>
            <a:pPr algn="l">
              <a:spcAft>
                <a:spcPts val="0"/>
              </a:spcAft>
            </a:pPr>
            <a:r>
              <a:rPr sz="1600" b="1" i="0">
                <a:solidFill>
                  <a:srgbClr val="0E2841"/>
                </a:solidFill>
              </a:rPr>
              <a:t>Console input and output</a:t>
            </a:r>
          </a:p>
          <a:p>
            <a:pPr algn="l">
              <a:spcAft>
                <a:spcPts val="0"/>
              </a:spcAft>
            </a:pPr>
            <a:r>
              <a:rPr sz="1300" b="0" i="0">
                <a:solidFill>
                  <a:srgbClr val="5B6B7F"/>
                </a:solidFill>
              </a:rPr>
              <a:t>print, println, Scanner nextInt / nextLine</a:t>
            </a:r>
          </a:p>
        </p:txBody>
      </p:sp>
      <p:sp>
        <p:nvSpPr>
          <p:cNvPr id="24" name="CO1 code caption"/>
          <p:cNvSpPr txBox="1"/>
          <p:nvPr/>
        </p:nvSpPr>
        <p:spPr>
          <a:xfrm>
            <a:off x="5806440" y="1783080"/>
            <a:ext cx="5550408" cy="256032"/>
          </a:xfrm>
          <a:prstGeom prst="rect">
            <a:avLst/>
          </a:prstGeom>
          <a:noFill/>
        </p:spPr>
        <p:txBody>
          <a:bodyPr wrap="square" lIns="0" tIns="0" rIns="0" bIns="0" anchor="t">
            <a:noAutofit/>
          </a:bodyPr>
          <a:lstStyle/>
          <a:p>
            <a:pPr algn="l">
              <a:spcAft>
                <a:spcPts val="600"/>
              </a:spcAft>
            </a:pPr>
            <a:r>
              <a:rPr sz="1300" b="1" i="0">
                <a:solidFill>
                  <a:srgbClr val="0E2841"/>
                </a:solidFill>
              </a:rPr>
              <a:t>Input, variables and constants</a:t>
            </a:r>
          </a:p>
        </p:txBody>
      </p:sp>
      <p:sp>
        <p:nvSpPr>
          <p:cNvPr id="25" name="CO1 code"/>
          <p:cNvSpPr/>
          <p:nvPr/>
        </p:nvSpPr>
        <p:spPr>
          <a:xfrm>
            <a:off x="5806440" y="2057400"/>
            <a:ext cx="5550408" cy="1755648"/>
          </a:xfrm>
          <a:prstGeom prst="roundRect">
            <a:avLst>
              <a:gd name="adj" fmla="val 4000"/>
            </a:avLst>
          </a:prstGeom>
          <a:solidFill>
            <a:srgbClr val="0D1117"/>
          </a:solidFill>
          <a:ln>
            <a:noFill/>
          </a:ln>
        </p:spPr>
        <p:txBody>
          <a:bodyPr wrap="square" lIns="137160" tIns="109728" rIns="137160" bIns="109728" rtlCol="0" anchor="t">
            <a:noAutofit/>
          </a:bodyPr>
          <a:lstStyle/>
          <a:p>
            <a:pPr algn="l">
              <a:spcAft>
                <a:spcPts val="0"/>
              </a:spcAft>
            </a:pPr>
            <a:r>
              <a:rPr sz="1150">
                <a:solidFill>
                  <a:srgbClr val="79C0FF"/>
                </a:solidFill>
                <a:latin typeface="Courier New"/>
              </a:rPr>
              <a:t>static</a:t>
            </a:r>
            <a:r>
              <a:rPr sz="1150">
                <a:solidFill>
                  <a:srgbClr val="E6EDF3"/>
                </a:solidFill>
                <a:latin typeface="Courier New"/>
              </a:rPr>
              <a:t> Scanner sc = </a:t>
            </a:r>
            <a:r>
              <a:rPr sz="1150">
                <a:solidFill>
                  <a:srgbClr val="79C0FF"/>
                </a:solidFill>
                <a:latin typeface="Courier New"/>
              </a:rPr>
              <a:t>new</a:t>
            </a:r>
            <a:r>
              <a:rPr sz="1150">
                <a:solidFill>
                  <a:srgbClr val="E6EDF3"/>
                </a:solidFill>
                <a:latin typeface="Courier New"/>
              </a:rPr>
              <a:t> Scanner(System.in);</a:t>
            </a:r>
          </a:p>
          <a:p>
            <a:pPr algn="l">
              <a:spcAft>
                <a:spcPts val="0"/>
              </a:spcAft>
            </a:pPr>
            <a:endParaRPr sz="1150">
              <a:solidFill>
                <a:srgbClr val="E6EDF3"/>
              </a:solidFill>
              <a:latin typeface="Courier New"/>
            </a:endParaRPr>
          </a:p>
          <a:p>
            <a:pPr algn="l">
              <a:spcAft>
                <a:spcPts val="0"/>
              </a:spcAft>
            </a:pPr>
            <a:r>
              <a:rPr sz="1150">
                <a:solidFill>
                  <a:srgbClr val="79C0FF"/>
                </a:solidFill>
                <a:latin typeface="Courier New"/>
              </a:rPr>
              <a:t>int</a:t>
            </a:r>
            <a:r>
              <a:rPr sz="1150">
                <a:solidFill>
                  <a:srgbClr val="E6EDF3"/>
                </a:solidFill>
                <a:latin typeface="Courier New"/>
              </a:rPr>
              <a:t> age = readInt(</a:t>
            </a:r>
            <a:r>
              <a:rPr sz="1150">
                <a:solidFill>
                  <a:srgbClr val="7EE787"/>
                </a:solidFill>
                <a:latin typeface="Courier New"/>
              </a:rPr>
              <a:t>"Age: "</a:t>
            </a:r>
            <a:r>
              <a:rPr sz="1150">
                <a:solidFill>
                  <a:srgbClr val="E6EDF3"/>
                </a:solidFill>
                <a:latin typeface="Courier New"/>
              </a:rPr>
              <a:t>, 0, 120);</a:t>
            </a:r>
          </a:p>
          <a:p>
            <a:pPr algn="l">
              <a:spcAft>
                <a:spcPts val="0"/>
              </a:spcAft>
            </a:pPr>
            <a:r>
              <a:rPr sz="1150">
                <a:solidFill>
                  <a:srgbClr val="79C0FF"/>
                </a:solidFill>
                <a:latin typeface="Courier New"/>
              </a:rPr>
              <a:t>boolean</a:t>
            </a:r>
            <a:r>
              <a:rPr sz="1150">
                <a:solidFill>
                  <a:srgbClr val="E6EDF3"/>
                </a:solidFill>
                <a:latin typeface="Courier New"/>
              </a:rPr>
              <a:t> conscious = readInt(</a:t>
            </a:r>
          </a:p>
          <a:p>
            <a:pPr algn="l">
              <a:spcAft>
                <a:spcPts val="0"/>
              </a:spcAft>
            </a:pPr>
            <a:r>
              <a:rPr sz="1150">
                <a:solidFill>
                  <a:srgbClr val="E6EDF3"/>
                </a:solidFill>
                <a:latin typeface="Courier New"/>
              </a:rPr>
              <a:t>    </a:t>
            </a:r>
            <a:r>
              <a:rPr sz="1150">
                <a:solidFill>
                  <a:srgbClr val="7EE787"/>
                </a:solidFill>
                <a:latin typeface="Courier New"/>
              </a:rPr>
              <a:t>"Is the patient conscious? (1=yes, 0=no): "</a:t>
            </a:r>
            <a:r>
              <a:rPr sz="1150">
                <a:solidFill>
                  <a:srgbClr val="E6EDF3"/>
                </a:solidFill>
                <a:latin typeface="Courier New"/>
              </a:rPr>
              <a:t>,</a:t>
            </a:r>
          </a:p>
          <a:p>
            <a:pPr algn="l">
              <a:spcAft>
                <a:spcPts val="0"/>
              </a:spcAft>
            </a:pPr>
            <a:r>
              <a:rPr sz="1150">
                <a:solidFill>
                  <a:srgbClr val="E6EDF3"/>
                </a:solidFill>
                <a:latin typeface="Courier New"/>
              </a:rPr>
              <a:t>    0, 1) == 1;</a:t>
            </a:r>
          </a:p>
          <a:p>
            <a:pPr algn="l">
              <a:spcAft>
                <a:spcPts val="0"/>
              </a:spcAft>
            </a:pPr>
            <a:endParaRPr sz="1150">
              <a:solidFill>
                <a:srgbClr val="E6EDF3"/>
              </a:solidFill>
              <a:latin typeface="Courier New"/>
            </a:endParaRPr>
          </a:p>
          <a:p>
            <a:pPr algn="l">
              <a:spcAft>
                <a:spcPts val="0"/>
              </a:spcAft>
            </a:pPr>
            <a:r>
              <a:rPr sz="1150">
                <a:solidFill>
                  <a:srgbClr val="79C0FF"/>
                </a:solidFill>
                <a:latin typeface="Courier New"/>
              </a:rPr>
              <a:t>static</a:t>
            </a:r>
            <a:r>
              <a:rPr sz="1150">
                <a:solidFill>
                  <a:srgbClr val="E6EDF3"/>
                </a:solidFill>
                <a:latin typeface="Courier New"/>
              </a:rPr>
              <a:t> </a:t>
            </a:r>
            <a:r>
              <a:rPr sz="1150">
                <a:solidFill>
                  <a:srgbClr val="79C0FF"/>
                </a:solidFill>
                <a:latin typeface="Courier New"/>
              </a:rPr>
              <a:t>final</a:t>
            </a:r>
            <a:r>
              <a:rPr sz="1150">
                <a:solidFill>
                  <a:srgbClr val="E6EDF3"/>
                </a:solidFill>
                <a:latin typeface="Courier New"/>
              </a:rPr>
              <a:t> </a:t>
            </a:r>
            <a:r>
              <a:rPr sz="1150">
                <a:solidFill>
                  <a:srgbClr val="79C0FF"/>
                </a:solidFill>
                <a:latin typeface="Courier New"/>
              </a:rPr>
              <a:t>int</a:t>
            </a:r>
            <a:r>
              <a:rPr sz="1150">
                <a:solidFill>
                  <a:srgbClr val="E6EDF3"/>
                </a:solidFill>
                <a:latin typeface="Courier New"/>
              </a:rPr>
              <a:t> RED = 1;   </a:t>
            </a:r>
            <a:r>
              <a:rPr sz="1150">
                <a:solidFill>
                  <a:srgbClr val="8B949E"/>
                </a:solidFill>
                <a:latin typeface="Courier New"/>
              </a:rPr>
              <a:t>// in Patient</a:t>
            </a:r>
          </a:p>
        </p:txBody>
      </p:sp>
    </p:spTree>
    <p:extLst>
      <p:ext uri="{BB962C8B-B14F-4D97-AF65-F5344CB8AC3E}">
        <p14:creationId xmlns:p14="http://schemas.microsoft.com/office/powerpoint/2010/main" val="41042427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4FDF4-A21D-11D6-CA7A-382058E2F499}"/>
              </a:ext>
            </a:extLst>
          </p:cNvPr>
          <p:cNvSpPr>
            <a:spLocks noGrp="1"/>
          </p:cNvSpPr>
          <p:nvPr>
            <p:ph type="title"/>
          </p:nvPr>
        </p:nvSpPr>
        <p:spPr/>
        <p:txBody>
          <a:bodyPr/>
          <a:lstStyle/>
          <a:p>
            <a:r>
              <a:rPr lang="en-IN" sz="3400" b="1" dirty="0">
                <a:solidFill>
                  <a:srgbClr val="0E2841"/>
                </a:solidFill>
              </a:rPr>
              <a:t>CO 2 Topics</a:t>
            </a:r>
          </a:p>
        </p:txBody>
      </p:sp>
      <p:sp>
        <p:nvSpPr>
          <p:cNvPr id="4" name="Date Placeholder 3">
            <a:extLst>
              <a:ext uri="{FF2B5EF4-FFF2-40B4-BE49-F238E27FC236}">
                <a16:creationId xmlns:a16="http://schemas.microsoft.com/office/drawing/2014/main" id="{08D11724-4931-2511-D4E0-AFF95EF4DE35}"/>
              </a:ext>
            </a:extLst>
          </p:cNvPr>
          <p:cNvSpPr>
            <a:spLocks noGrp="1"/>
          </p:cNvSpPr>
          <p:nvPr>
            <p:ph type="dt" sz="half" idx="10"/>
          </p:nvPr>
        </p:nvSpPr>
        <p:spPr/>
        <p:txBody>
          <a:bodyPr/>
          <a:lstStyle/>
          <a:p>
            <a:fld id="{64EA43E7-AB4E-4C38-9410-6577E2291C02}" type="datetime1">
              <a:rPr lang="en-IN" smtClean="0"/>
              <a:t>16-10-2026</a:t>
            </a:fld>
            <a:endParaRPr lang="en-IN"/>
          </a:p>
        </p:txBody>
      </p:sp>
      <p:sp>
        <p:nvSpPr>
          <p:cNvPr id="5" name="Slide Number Placeholder 4">
            <a:extLst>
              <a:ext uri="{FF2B5EF4-FFF2-40B4-BE49-F238E27FC236}">
                <a16:creationId xmlns:a16="http://schemas.microsoft.com/office/drawing/2014/main" id="{552284BF-AE73-C39E-0CCD-CD938FF84864}"/>
              </a:ext>
            </a:extLst>
          </p:cNvPr>
          <p:cNvSpPr>
            <a:spLocks noGrp="1"/>
          </p:cNvSpPr>
          <p:nvPr>
            <p:ph type="sldNum" sz="quarter" idx="12"/>
          </p:nvPr>
        </p:nvSpPr>
        <p:spPr/>
        <p:txBody>
          <a:bodyPr/>
          <a:lstStyle/>
          <a:p>
            <a:fld id="{CB012AB6-14AF-4351-87AD-D420B05274E1}" type="slidenum">
              <a:rPr lang="en-IN" smtClean="0"/>
              <a:t>7</a:t>
            </a:fld>
            <a:endParaRPr lang="en-IN"/>
          </a:p>
        </p:txBody>
      </p:sp>
      <p:sp>
        <p:nvSpPr>
          <p:cNvPr id="6" name="Topic row 1"/>
          <p:cNvSpPr/>
          <p:nvPr/>
        </p:nvSpPr>
        <p:spPr>
          <a:xfrm>
            <a:off x="841248" y="1783080"/>
            <a:ext cx="4754880" cy="640079"/>
          </a:xfrm>
          <a:prstGeom prst="roundRect">
            <a:avLst>
              <a:gd name="adj" fmla="val 8000"/>
            </a:avLst>
          </a:prstGeom>
          <a:solidFill>
            <a:srgbClr val="FFFFFF"/>
          </a:solidFill>
          <a:ln w="9525">
            <a:solidFill>
              <a:srgbClr val="E3E9EF"/>
            </a:solidFill>
          </a:ln>
          <a:effectLst>
            <a:outerShdw blurRad="76200" dist="25400" dir="5400000" algn="t" rotWithShape="0">
              <a:srgbClr val="0E2841">
                <a:alpha val="14000"/>
              </a:srgbClr>
            </a:outerShdw>
          </a:effectLst>
        </p:spPr>
        <p:txBody>
          <a:bodyPr rtlCol="0" anchor="ctr"/>
          <a:lstStyle/>
          <a:p>
            <a:pPr algn="ctr"/>
            <a:endParaRPr/>
          </a:p>
        </p:txBody>
      </p:sp>
      <p:sp>
        <p:nvSpPr>
          <p:cNvPr id="7" name="Topic number 1"/>
          <p:cNvSpPr/>
          <p:nvPr/>
        </p:nvSpPr>
        <p:spPr>
          <a:xfrm>
            <a:off x="950976" y="1938528"/>
            <a:ext cx="329184" cy="329184"/>
          </a:xfrm>
          <a:prstGeom prst="ellipse">
            <a:avLst/>
          </a:prstGeom>
          <a:solidFill>
            <a:srgbClr val="156082"/>
          </a:solidFill>
          <a:ln>
            <a:noFill/>
          </a:ln>
        </p:spPr>
        <p:txBody>
          <a:bodyPr wrap="square" lIns="0" tIns="0" rIns="0" bIns="0" rtlCol="0" anchor="ctr">
            <a:noAutofit/>
          </a:bodyPr>
          <a:lstStyle/>
          <a:p>
            <a:pPr algn="ctr">
              <a:spcAft>
                <a:spcPts val="600"/>
              </a:spcAft>
            </a:pPr>
            <a:r>
              <a:rPr sz="1300" b="1" i="0">
                <a:solidFill>
                  <a:srgbClr val="FFFFFF"/>
                </a:solidFill>
              </a:rPr>
              <a:t>1</a:t>
            </a:r>
          </a:p>
        </p:txBody>
      </p:sp>
      <p:sp>
        <p:nvSpPr>
          <p:cNvPr id="8" name="Topic text 1"/>
          <p:cNvSpPr txBox="1"/>
          <p:nvPr/>
        </p:nvSpPr>
        <p:spPr>
          <a:xfrm>
            <a:off x="1417320" y="1783080"/>
            <a:ext cx="4069080" cy="640079"/>
          </a:xfrm>
          <a:prstGeom prst="rect">
            <a:avLst/>
          </a:prstGeom>
          <a:noFill/>
        </p:spPr>
        <p:txBody>
          <a:bodyPr wrap="square" lIns="0" tIns="0" rIns="0" bIns="0" anchor="ctr">
            <a:noAutofit/>
          </a:bodyPr>
          <a:lstStyle/>
          <a:p>
            <a:pPr algn="l">
              <a:spcAft>
                <a:spcPts val="0"/>
              </a:spcAft>
            </a:pPr>
            <a:r>
              <a:rPr sz="1600" b="1" i="0">
                <a:solidFill>
                  <a:srgbClr val="0E2841"/>
                </a:solidFill>
              </a:rPr>
              <a:t>if / else-if ladder</a:t>
            </a:r>
          </a:p>
          <a:p>
            <a:pPr algn="l">
              <a:spcAft>
                <a:spcPts val="0"/>
              </a:spcAft>
            </a:pPr>
            <a:r>
              <a:rPr sz="1300" b="0" i="0">
                <a:solidFill>
                  <a:srgbClr val="5B6B7F"/>
                </a:solidFill>
              </a:rPr>
              <a:t>getCategory() and categoryName()</a:t>
            </a:r>
          </a:p>
        </p:txBody>
      </p:sp>
      <p:sp>
        <p:nvSpPr>
          <p:cNvPr id="9" name="Topic row 2"/>
          <p:cNvSpPr/>
          <p:nvPr/>
        </p:nvSpPr>
        <p:spPr>
          <a:xfrm>
            <a:off x="841248" y="2496311"/>
            <a:ext cx="4754880" cy="640079"/>
          </a:xfrm>
          <a:prstGeom prst="roundRect">
            <a:avLst>
              <a:gd name="adj" fmla="val 8000"/>
            </a:avLst>
          </a:prstGeom>
          <a:solidFill>
            <a:srgbClr val="FFFFFF"/>
          </a:solidFill>
          <a:ln w="9525">
            <a:solidFill>
              <a:srgbClr val="E3E9EF"/>
            </a:solidFill>
          </a:ln>
          <a:effectLst>
            <a:outerShdw blurRad="76200" dist="25400" dir="5400000" algn="t" rotWithShape="0">
              <a:srgbClr val="0E2841">
                <a:alpha val="14000"/>
              </a:srgbClr>
            </a:outerShdw>
          </a:effectLst>
        </p:spPr>
        <p:txBody>
          <a:bodyPr rtlCol="0" anchor="ctr"/>
          <a:lstStyle/>
          <a:p>
            <a:pPr algn="ctr"/>
            <a:endParaRPr/>
          </a:p>
        </p:txBody>
      </p:sp>
      <p:sp>
        <p:nvSpPr>
          <p:cNvPr id="10" name="Topic number 2"/>
          <p:cNvSpPr/>
          <p:nvPr/>
        </p:nvSpPr>
        <p:spPr>
          <a:xfrm>
            <a:off x="950976" y="2651759"/>
            <a:ext cx="329184" cy="329184"/>
          </a:xfrm>
          <a:prstGeom prst="ellipse">
            <a:avLst/>
          </a:prstGeom>
          <a:solidFill>
            <a:srgbClr val="156082"/>
          </a:solidFill>
          <a:ln>
            <a:noFill/>
          </a:ln>
        </p:spPr>
        <p:txBody>
          <a:bodyPr wrap="square" lIns="0" tIns="0" rIns="0" bIns="0" rtlCol="0" anchor="ctr">
            <a:noAutofit/>
          </a:bodyPr>
          <a:lstStyle/>
          <a:p>
            <a:pPr algn="ctr">
              <a:spcAft>
                <a:spcPts val="600"/>
              </a:spcAft>
            </a:pPr>
            <a:r>
              <a:rPr sz="1300" b="1" i="0">
                <a:solidFill>
                  <a:srgbClr val="FFFFFF"/>
                </a:solidFill>
              </a:rPr>
              <a:t>2</a:t>
            </a:r>
          </a:p>
        </p:txBody>
      </p:sp>
      <p:sp>
        <p:nvSpPr>
          <p:cNvPr id="11" name="Topic text 2"/>
          <p:cNvSpPr txBox="1"/>
          <p:nvPr/>
        </p:nvSpPr>
        <p:spPr>
          <a:xfrm>
            <a:off x="1417320" y="2496311"/>
            <a:ext cx="4069080" cy="640079"/>
          </a:xfrm>
          <a:prstGeom prst="rect">
            <a:avLst/>
          </a:prstGeom>
          <a:noFill/>
        </p:spPr>
        <p:txBody>
          <a:bodyPr wrap="square" lIns="0" tIns="0" rIns="0" bIns="0" anchor="ctr">
            <a:noAutofit/>
          </a:bodyPr>
          <a:lstStyle/>
          <a:p>
            <a:pPr algn="l">
              <a:spcAft>
                <a:spcPts val="0"/>
              </a:spcAft>
            </a:pPr>
            <a:r>
              <a:rPr sz="1600" b="1" i="0">
                <a:solidFill>
                  <a:srgbClr val="0E2841"/>
                </a:solidFill>
              </a:rPr>
              <a:t>switch with break</a:t>
            </a:r>
          </a:p>
          <a:p>
            <a:pPr algn="l">
              <a:spcAft>
                <a:spcPts val="0"/>
              </a:spcAft>
            </a:pPr>
            <a:r>
              <a:rPr sz="1300" b="0" i="0">
                <a:solidFill>
                  <a:srgbClr val="5B6B7F"/>
                </a:solidFill>
              </a:rPr>
              <a:t>the ER menu in main</a:t>
            </a:r>
          </a:p>
        </p:txBody>
      </p:sp>
      <p:sp>
        <p:nvSpPr>
          <p:cNvPr id="12" name="Topic row 3"/>
          <p:cNvSpPr/>
          <p:nvPr/>
        </p:nvSpPr>
        <p:spPr>
          <a:xfrm>
            <a:off x="841248" y="3209544"/>
            <a:ext cx="4754880" cy="640079"/>
          </a:xfrm>
          <a:prstGeom prst="roundRect">
            <a:avLst>
              <a:gd name="adj" fmla="val 8000"/>
            </a:avLst>
          </a:prstGeom>
          <a:solidFill>
            <a:srgbClr val="FFFFFF"/>
          </a:solidFill>
          <a:ln w="9525">
            <a:solidFill>
              <a:srgbClr val="E3E9EF"/>
            </a:solidFill>
          </a:ln>
          <a:effectLst>
            <a:outerShdw blurRad="76200" dist="25400" dir="5400000" algn="t" rotWithShape="0">
              <a:srgbClr val="0E2841">
                <a:alpha val="14000"/>
              </a:srgbClr>
            </a:outerShdw>
          </a:effectLst>
        </p:spPr>
        <p:txBody>
          <a:bodyPr rtlCol="0" anchor="ctr"/>
          <a:lstStyle/>
          <a:p>
            <a:pPr algn="ctr"/>
            <a:endParaRPr/>
          </a:p>
        </p:txBody>
      </p:sp>
      <p:sp>
        <p:nvSpPr>
          <p:cNvPr id="13" name="Topic number 3"/>
          <p:cNvSpPr/>
          <p:nvPr/>
        </p:nvSpPr>
        <p:spPr>
          <a:xfrm>
            <a:off x="950976" y="3364991"/>
            <a:ext cx="329184" cy="329184"/>
          </a:xfrm>
          <a:prstGeom prst="ellipse">
            <a:avLst/>
          </a:prstGeom>
          <a:solidFill>
            <a:srgbClr val="156082"/>
          </a:solidFill>
          <a:ln>
            <a:noFill/>
          </a:ln>
        </p:spPr>
        <p:txBody>
          <a:bodyPr wrap="square" lIns="0" tIns="0" rIns="0" bIns="0" rtlCol="0" anchor="ctr">
            <a:noAutofit/>
          </a:bodyPr>
          <a:lstStyle/>
          <a:p>
            <a:pPr algn="ctr">
              <a:spcAft>
                <a:spcPts val="600"/>
              </a:spcAft>
            </a:pPr>
            <a:r>
              <a:rPr sz="1300" b="1" i="0">
                <a:solidFill>
                  <a:srgbClr val="FFFFFF"/>
                </a:solidFill>
              </a:rPr>
              <a:t>3</a:t>
            </a:r>
          </a:p>
        </p:txBody>
      </p:sp>
      <p:sp>
        <p:nvSpPr>
          <p:cNvPr id="14" name="Topic text 3"/>
          <p:cNvSpPr txBox="1"/>
          <p:nvPr/>
        </p:nvSpPr>
        <p:spPr>
          <a:xfrm>
            <a:off x="1417320" y="3209544"/>
            <a:ext cx="4069080" cy="640079"/>
          </a:xfrm>
          <a:prstGeom prst="rect">
            <a:avLst/>
          </a:prstGeom>
          <a:noFill/>
        </p:spPr>
        <p:txBody>
          <a:bodyPr wrap="square" lIns="0" tIns="0" rIns="0" bIns="0" anchor="ctr">
            <a:noAutofit/>
          </a:bodyPr>
          <a:lstStyle/>
          <a:p>
            <a:pPr algn="l">
              <a:spcAft>
                <a:spcPts val="0"/>
              </a:spcAft>
            </a:pPr>
            <a:r>
              <a:rPr sz="1600" b="1" i="0">
                <a:solidFill>
                  <a:srgbClr val="0E2841"/>
                </a:solidFill>
              </a:rPr>
              <a:t>while loop</a:t>
            </a:r>
          </a:p>
          <a:p>
            <a:pPr algn="l">
              <a:spcAft>
                <a:spcPts val="0"/>
              </a:spcAft>
            </a:pPr>
            <a:r>
              <a:rPr sz="1300" b="0" i="0">
                <a:solidFill>
                  <a:srgbClr val="5B6B7F"/>
                </a:solidFill>
              </a:rPr>
              <a:t>readInt and readHeartRate input loops</a:t>
            </a:r>
          </a:p>
        </p:txBody>
      </p:sp>
      <p:sp>
        <p:nvSpPr>
          <p:cNvPr id="15" name="Topic row 4"/>
          <p:cNvSpPr/>
          <p:nvPr/>
        </p:nvSpPr>
        <p:spPr>
          <a:xfrm>
            <a:off x="841248" y="3922775"/>
            <a:ext cx="4754880" cy="640079"/>
          </a:xfrm>
          <a:prstGeom prst="roundRect">
            <a:avLst>
              <a:gd name="adj" fmla="val 8000"/>
            </a:avLst>
          </a:prstGeom>
          <a:solidFill>
            <a:srgbClr val="FFFFFF"/>
          </a:solidFill>
          <a:ln w="9525">
            <a:solidFill>
              <a:srgbClr val="E3E9EF"/>
            </a:solidFill>
          </a:ln>
          <a:effectLst>
            <a:outerShdw blurRad="76200" dist="25400" dir="5400000" algn="t" rotWithShape="0">
              <a:srgbClr val="0E2841">
                <a:alpha val="14000"/>
              </a:srgbClr>
            </a:outerShdw>
          </a:effectLst>
        </p:spPr>
        <p:txBody>
          <a:bodyPr rtlCol="0" anchor="ctr"/>
          <a:lstStyle/>
          <a:p>
            <a:pPr algn="ctr"/>
            <a:endParaRPr/>
          </a:p>
        </p:txBody>
      </p:sp>
      <p:sp>
        <p:nvSpPr>
          <p:cNvPr id="16" name="Topic number 4"/>
          <p:cNvSpPr/>
          <p:nvPr/>
        </p:nvSpPr>
        <p:spPr>
          <a:xfrm>
            <a:off x="950976" y="4078223"/>
            <a:ext cx="329184" cy="329184"/>
          </a:xfrm>
          <a:prstGeom prst="ellipse">
            <a:avLst/>
          </a:prstGeom>
          <a:solidFill>
            <a:srgbClr val="156082"/>
          </a:solidFill>
          <a:ln>
            <a:noFill/>
          </a:ln>
        </p:spPr>
        <p:txBody>
          <a:bodyPr wrap="square" lIns="0" tIns="0" rIns="0" bIns="0" rtlCol="0" anchor="ctr">
            <a:noAutofit/>
          </a:bodyPr>
          <a:lstStyle/>
          <a:p>
            <a:pPr algn="ctr">
              <a:spcAft>
                <a:spcPts val="600"/>
              </a:spcAft>
            </a:pPr>
            <a:r>
              <a:rPr sz="1300" b="1" i="0">
                <a:solidFill>
                  <a:srgbClr val="FFFFFF"/>
                </a:solidFill>
              </a:rPr>
              <a:t>4</a:t>
            </a:r>
          </a:p>
        </p:txBody>
      </p:sp>
      <p:sp>
        <p:nvSpPr>
          <p:cNvPr id="17" name="Topic text 4"/>
          <p:cNvSpPr txBox="1"/>
          <p:nvPr/>
        </p:nvSpPr>
        <p:spPr>
          <a:xfrm>
            <a:off x="1417320" y="3922775"/>
            <a:ext cx="4069080" cy="640079"/>
          </a:xfrm>
          <a:prstGeom prst="rect">
            <a:avLst/>
          </a:prstGeom>
          <a:noFill/>
        </p:spPr>
        <p:txBody>
          <a:bodyPr wrap="square" lIns="0" tIns="0" rIns="0" bIns="0" anchor="ctr">
            <a:noAutofit/>
          </a:bodyPr>
          <a:lstStyle/>
          <a:p>
            <a:pPr algn="l">
              <a:spcAft>
                <a:spcPts val="0"/>
              </a:spcAft>
            </a:pPr>
            <a:r>
              <a:rPr sz="1600" b="1" i="0">
                <a:solidFill>
                  <a:srgbClr val="0E2841"/>
                </a:solidFill>
              </a:rPr>
              <a:t>do-while loop</a:t>
            </a:r>
          </a:p>
          <a:p>
            <a:pPr algn="l">
              <a:spcAft>
                <a:spcPts val="0"/>
              </a:spcAft>
            </a:pPr>
            <a:r>
              <a:rPr sz="1300" b="0" i="0">
                <a:solidFill>
                  <a:srgbClr val="5B6B7F"/>
                </a:solidFill>
              </a:rPr>
              <a:t>readName and the menu loop</a:t>
            </a:r>
          </a:p>
        </p:txBody>
      </p:sp>
      <p:sp>
        <p:nvSpPr>
          <p:cNvPr id="18" name="Topic row 5"/>
          <p:cNvSpPr/>
          <p:nvPr/>
        </p:nvSpPr>
        <p:spPr>
          <a:xfrm>
            <a:off x="841248" y="4636007"/>
            <a:ext cx="4754880" cy="640079"/>
          </a:xfrm>
          <a:prstGeom prst="roundRect">
            <a:avLst>
              <a:gd name="adj" fmla="val 8000"/>
            </a:avLst>
          </a:prstGeom>
          <a:solidFill>
            <a:srgbClr val="FFFFFF"/>
          </a:solidFill>
          <a:ln w="9525">
            <a:solidFill>
              <a:srgbClr val="E3E9EF"/>
            </a:solidFill>
          </a:ln>
          <a:effectLst>
            <a:outerShdw blurRad="76200" dist="25400" dir="5400000" algn="t" rotWithShape="0">
              <a:srgbClr val="0E2841">
                <a:alpha val="14000"/>
              </a:srgbClr>
            </a:outerShdw>
          </a:effectLst>
        </p:spPr>
        <p:txBody>
          <a:bodyPr rtlCol="0" anchor="ctr"/>
          <a:lstStyle/>
          <a:p>
            <a:pPr algn="ctr"/>
            <a:endParaRPr/>
          </a:p>
        </p:txBody>
      </p:sp>
      <p:sp>
        <p:nvSpPr>
          <p:cNvPr id="19" name="Topic number 5"/>
          <p:cNvSpPr/>
          <p:nvPr/>
        </p:nvSpPr>
        <p:spPr>
          <a:xfrm>
            <a:off x="950976" y="4791455"/>
            <a:ext cx="329184" cy="329184"/>
          </a:xfrm>
          <a:prstGeom prst="ellipse">
            <a:avLst/>
          </a:prstGeom>
          <a:solidFill>
            <a:srgbClr val="156082"/>
          </a:solidFill>
          <a:ln>
            <a:noFill/>
          </a:ln>
        </p:spPr>
        <p:txBody>
          <a:bodyPr wrap="square" lIns="0" tIns="0" rIns="0" bIns="0" rtlCol="0" anchor="ctr">
            <a:noAutofit/>
          </a:bodyPr>
          <a:lstStyle/>
          <a:p>
            <a:pPr algn="ctr">
              <a:spcAft>
                <a:spcPts val="600"/>
              </a:spcAft>
            </a:pPr>
            <a:r>
              <a:rPr sz="1300" b="1" i="0">
                <a:solidFill>
                  <a:srgbClr val="FFFFFF"/>
                </a:solidFill>
              </a:rPr>
              <a:t>5</a:t>
            </a:r>
          </a:p>
        </p:txBody>
      </p:sp>
      <p:sp>
        <p:nvSpPr>
          <p:cNvPr id="20" name="Topic text 5"/>
          <p:cNvSpPr txBox="1"/>
          <p:nvPr/>
        </p:nvSpPr>
        <p:spPr>
          <a:xfrm>
            <a:off x="1417320" y="4636007"/>
            <a:ext cx="4069080" cy="640079"/>
          </a:xfrm>
          <a:prstGeom prst="rect">
            <a:avLst/>
          </a:prstGeom>
          <a:noFill/>
        </p:spPr>
        <p:txBody>
          <a:bodyPr wrap="square" lIns="0" tIns="0" rIns="0" bIns="0" anchor="ctr">
            <a:noAutofit/>
          </a:bodyPr>
          <a:lstStyle/>
          <a:p>
            <a:pPr algn="l">
              <a:spcAft>
                <a:spcPts val="0"/>
              </a:spcAft>
            </a:pPr>
            <a:r>
              <a:rPr sz="1600" b="1" i="0">
                <a:solidFill>
                  <a:srgbClr val="0E2841"/>
                </a:solidFill>
              </a:rPr>
              <a:t>for loop</a:t>
            </a:r>
          </a:p>
          <a:p>
            <a:pPr algn="l">
              <a:spcAft>
                <a:spcPts val="0"/>
              </a:spcAft>
            </a:pPr>
            <a:r>
              <a:rPr sz="1300" b="0" i="0">
                <a:solidFill>
                  <a:srgbClr val="5B6B7F"/>
                </a:solidFill>
              </a:rPr>
              <a:t>patient loop in main, search in findPatient</a:t>
            </a:r>
          </a:p>
        </p:txBody>
      </p:sp>
      <p:sp>
        <p:nvSpPr>
          <p:cNvPr id="21" name="Topic row 6"/>
          <p:cNvSpPr/>
          <p:nvPr/>
        </p:nvSpPr>
        <p:spPr>
          <a:xfrm>
            <a:off x="841248" y="5349239"/>
            <a:ext cx="4754880" cy="640079"/>
          </a:xfrm>
          <a:prstGeom prst="roundRect">
            <a:avLst>
              <a:gd name="adj" fmla="val 8000"/>
            </a:avLst>
          </a:prstGeom>
          <a:solidFill>
            <a:srgbClr val="FFFFFF"/>
          </a:solidFill>
          <a:ln w="9525">
            <a:solidFill>
              <a:srgbClr val="E3E9EF"/>
            </a:solidFill>
          </a:ln>
          <a:effectLst>
            <a:outerShdw blurRad="76200" dist="25400" dir="5400000" algn="t" rotWithShape="0">
              <a:srgbClr val="0E2841">
                <a:alpha val="14000"/>
              </a:srgbClr>
            </a:outerShdw>
          </a:effectLst>
        </p:spPr>
        <p:txBody>
          <a:bodyPr rtlCol="0" anchor="ctr"/>
          <a:lstStyle/>
          <a:p>
            <a:pPr algn="ctr"/>
            <a:endParaRPr/>
          </a:p>
        </p:txBody>
      </p:sp>
      <p:sp>
        <p:nvSpPr>
          <p:cNvPr id="22" name="Topic number 6"/>
          <p:cNvSpPr/>
          <p:nvPr/>
        </p:nvSpPr>
        <p:spPr>
          <a:xfrm>
            <a:off x="950976" y="5504687"/>
            <a:ext cx="329184" cy="329184"/>
          </a:xfrm>
          <a:prstGeom prst="ellipse">
            <a:avLst/>
          </a:prstGeom>
          <a:solidFill>
            <a:srgbClr val="156082"/>
          </a:solidFill>
          <a:ln>
            <a:noFill/>
          </a:ln>
        </p:spPr>
        <p:txBody>
          <a:bodyPr wrap="square" lIns="0" tIns="0" rIns="0" bIns="0" rtlCol="0" anchor="ctr">
            <a:noAutofit/>
          </a:bodyPr>
          <a:lstStyle/>
          <a:p>
            <a:pPr algn="ctr">
              <a:spcAft>
                <a:spcPts val="600"/>
              </a:spcAft>
            </a:pPr>
            <a:r>
              <a:rPr sz="1300" b="1" i="0">
                <a:solidFill>
                  <a:srgbClr val="FFFFFF"/>
                </a:solidFill>
              </a:rPr>
              <a:t>6</a:t>
            </a:r>
          </a:p>
        </p:txBody>
      </p:sp>
      <p:sp>
        <p:nvSpPr>
          <p:cNvPr id="23" name="Topic text 6"/>
          <p:cNvSpPr txBox="1"/>
          <p:nvPr/>
        </p:nvSpPr>
        <p:spPr>
          <a:xfrm>
            <a:off x="1417320" y="5349239"/>
            <a:ext cx="4069080" cy="640079"/>
          </a:xfrm>
          <a:prstGeom prst="rect">
            <a:avLst/>
          </a:prstGeom>
          <a:noFill/>
        </p:spPr>
        <p:txBody>
          <a:bodyPr wrap="square" lIns="0" tIns="0" rIns="0" bIns="0" anchor="ctr">
            <a:noAutofit/>
          </a:bodyPr>
          <a:lstStyle/>
          <a:p>
            <a:pPr algn="l">
              <a:spcAft>
                <a:spcPts val="0"/>
              </a:spcAft>
            </a:pPr>
            <a:r>
              <a:rPr sz="1600" b="1" i="0">
                <a:solidFill>
                  <a:srgbClr val="0E2841"/>
                </a:solidFill>
              </a:rPr>
              <a:t>continue</a:t>
            </a:r>
          </a:p>
          <a:p>
            <a:pPr algn="l">
              <a:spcAft>
                <a:spcPts val="0"/>
              </a:spcAft>
            </a:pPr>
            <a:r>
              <a:rPr sz="1300" b="0" i="0">
                <a:solidFill>
                  <a:srgbClr val="5B6B7F"/>
                </a:solidFill>
              </a:rPr>
              <a:t>skips a no-pulse patient in main</a:t>
            </a:r>
          </a:p>
        </p:txBody>
      </p:sp>
      <p:sp>
        <p:nvSpPr>
          <p:cNvPr id="24" name="CO2 code A caption"/>
          <p:cNvSpPr txBox="1"/>
          <p:nvPr/>
        </p:nvSpPr>
        <p:spPr>
          <a:xfrm>
            <a:off x="5806440" y="1783080"/>
            <a:ext cx="5550408" cy="256032"/>
          </a:xfrm>
          <a:prstGeom prst="rect">
            <a:avLst/>
          </a:prstGeom>
          <a:noFill/>
        </p:spPr>
        <p:txBody>
          <a:bodyPr wrap="square" lIns="0" tIns="0" rIns="0" bIns="0" anchor="t">
            <a:noAutofit/>
          </a:bodyPr>
          <a:lstStyle/>
          <a:p>
            <a:pPr algn="l">
              <a:spcAft>
                <a:spcPts val="600"/>
              </a:spcAft>
            </a:pPr>
            <a:r>
              <a:rPr sz="1300" b="1" i="0">
                <a:solidFill>
                  <a:srgbClr val="0E2841"/>
                </a:solidFill>
              </a:rPr>
              <a:t>Triage ladder in Patient.getCategory()</a:t>
            </a:r>
          </a:p>
        </p:txBody>
      </p:sp>
      <p:sp>
        <p:nvSpPr>
          <p:cNvPr id="25" name="CO2 code A"/>
          <p:cNvSpPr/>
          <p:nvPr/>
        </p:nvSpPr>
        <p:spPr>
          <a:xfrm>
            <a:off x="5806440" y="2057400"/>
            <a:ext cx="5550408" cy="1943100"/>
          </a:xfrm>
          <a:prstGeom prst="roundRect">
            <a:avLst>
              <a:gd name="adj" fmla="val 4000"/>
            </a:avLst>
          </a:prstGeom>
          <a:solidFill>
            <a:srgbClr val="0D1117"/>
          </a:solidFill>
          <a:ln>
            <a:noFill/>
          </a:ln>
        </p:spPr>
        <p:txBody>
          <a:bodyPr wrap="square" lIns="137160" tIns="109728" rIns="137160" bIns="109728" rtlCol="0" anchor="t">
            <a:noAutofit/>
          </a:bodyPr>
          <a:lstStyle/>
          <a:p>
            <a:pPr algn="l">
              <a:spcAft>
                <a:spcPts val="0"/>
              </a:spcAft>
            </a:pPr>
            <a:r>
              <a:rPr sz="1150">
                <a:solidFill>
                  <a:srgbClr val="79C0FF"/>
                </a:solidFill>
                <a:latin typeface="Courier New"/>
              </a:rPr>
              <a:t>if</a:t>
            </a:r>
            <a:r>
              <a:rPr sz="1150">
                <a:solidFill>
                  <a:srgbClr val="E6EDF3"/>
                </a:solidFill>
                <a:latin typeface="Courier New"/>
              </a:rPr>
              <a:t> (!conscious || heartRate &lt; 40</a:t>
            </a:r>
          </a:p>
          <a:p>
            <a:pPr algn="l">
              <a:spcAft>
                <a:spcPts val="0"/>
              </a:spcAft>
            </a:pPr>
            <a:r>
              <a:rPr sz="1150">
                <a:solidFill>
                  <a:srgbClr val="E6EDF3"/>
                </a:solidFill>
                <a:latin typeface="Courier New"/>
              </a:rPr>
              <a:t>        || heartRate &gt; 150 || pain &gt;= 9)</a:t>
            </a:r>
          </a:p>
          <a:p>
            <a:pPr algn="l">
              <a:spcAft>
                <a:spcPts val="0"/>
              </a:spcAft>
            </a:pPr>
            <a:r>
              <a:rPr sz="1150">
                <a:solidFill>
                  <a:srgbClr val="E6EDF3"/>
                </a:solidFill>
                <a:latin typeface="Courier New"/>
              </a:rPr>
              <a:t>    </a:t>
            </a:r>
            <a:r>
              <a:rPr sz="1150">
                <a:solidFill>
                  <a:srgbClr val="79C0FF"/>
                </a:solidFill>
                <a:latin typeface="Courier New"/>
              </a:rPr>
              <a:t>return</a:t>
            </a:r>
            <a:r>
              <a:rPr sz="1150">
                <a:solidFill>
                  <a:srgbClr val="E6EDF3"/>
                </a:solidFill>
                <a:latin typeface="Courier New"/>
              </a:rPr>
              <a:t> RED;</a:t>
            </a:r>
          </a:p>
          <a:p>
            <a:pPr algn="l">
              <a:spcAft>
                <a:spcPts val="0"/>
              </a:spcAft>
            </a:pPr>
            <a:r>
              <a:rPr sz="1150">
                <a:solidFill>
                  <a:srgbClr val="79C0FF"/>
                </a:solidFill>
                <a:latin typeface="Courier New"/>
              </a:rPr>
              <a:t>else</a:t>
            </a:r>
            <a:r>
              <a:rPr sz="1150">
                <a:solidFill>
                  <a:srgbClr val="E6EDF3"/>
                </a:solidFill>
                <a:latin typeface="Courier New"/>
              </a:rPr>
              <a:t> </a:t>
            </a:r>
            <a:r>
              <a:rPr sz="1150">
                <a:solidFill>
                  <a:srgbClr val="79C0FF"/>
                </a:solidFill>
                <a:latin typeface="Courier New"/>
              </a:rPr>
              <a:t>if</a:t>
            </a:r>
            <a:r>
              <a:rPr sz="1150">
                <a:solidFill>
                  <a:srgbClr val="E6EDF3"/>
                </a:solidFill>
                <a:latin typeface="Courier New"/>
              </a:rPr>
              <a:t> (heartRate &lt; 50 || heartRate &gt; 110</a:t>
            </a:r>
          </a:p>
          <a:p>
            <a:pPr algn="l">
              <a:spcAft>
                <a:spcPts val="0"/>
              </a:spcAft>
            </a:pPr>
            <a:r>
              <a:rPr sz="1150">
                <a:solidFill>
                  <a:srgbClr val="E6EDF3"/>
                </a:solidFill>
                <a:latin typeface="Courier New"/>
              </a:rPr>
              <a:t>        || pain &gt;= yellowPainLimit()</a:t>
            </a:r>
          </a:p>
          <a:p>
            <a:pPr algn="l">
              <a:spcAft>
                <a:spcPts val="0"/>
              </a:spcAft>
            </a:pPr>
            <a:r>
              <a:rPr sz="1150">
                <a:solidFill>
                  <a:srgbClr val="E6EDF3"/>
                </a:solidFill>
                <a:latin typeface="Courier New"/>
              </a:rPr>
              <a:t>        || ((age &lt;= 5 || age &gt;= 65) &amp;&amp; pain &gt;= 4))</a:t>
            </a:r>
          </a:p>
          <a:p>
            <a:pPr algn="l">
              <a:spcAft>
                <a:spcPts val="0"/>
              </a:spcAft>
            </a:pPr>
            <a:r>
              <a:rPr sz="1150">
                <a:solidFill>
                  <a:srgbClr val="E6EDF3"/>
                </a:solidFill>
                <a:latin typeface="Courier New"/>
              </a:rPr>
              <a:t>    </a:t>
            </a:r>
            <a:r>
              <a:rPr sz="1150">
                <a:solidFill>
                  <a:srgbClr val="79C0FF"/>
                </a:solidFill>
                <a:latin typeface="Courier New"/>
              </a:rPr>
              <a:t>return</a:t>
            </a:r>
            <a:r>
              <a:rPr sz="1150">
                <a:solidFill>
                  <a:srgbClr val="E6EDF3"/>
                </a:solidFill>
                <a:latin typeface="Courier New"/>
              </a:rPr>
              <a:t> YELLOW;</a:t>
            </a:r>
          </a:p>
          <a:p>
            <a:pPr algn="l">
              <a:spcAft>
                <a:spcPts val="0"/>
              </a:spcAft>
            </a:pPr>
            <a:r>
              <a:rPr sz="1150">
                <a:solidFill>
                  <a:srgbClr val="79C0FF"/>
                </a:solidFill>
                <a:latin typeface="Courier New"/>
              </a:rPr>
              <a:t>else</a:t>
            </a:r>
          </a:p>
          <a:p>
            <a:pPr algn="l">
              <a:spcAft>
                <a:spcPts val="0"/>
              </a:spcAft>
            </a:pPr>
            <a:r>
              <a:rPr sz="1150">
                <a:solidFill>
                  <a:srgbClr val="E6EDF3"/>
                </a:solidFill>
                <a:latin typeface="Courier New"/>
              </a:rPr>
              <a:t>    </a:t>
            </a:r>
            <a:r>
              <a:rPr sz="1150">
                <a:solidFill>
                  <a:srgbClr val="79C0FF"/>
                </a:solidFill>
                <a:latin typeface="Courier New"/>
              </a:rPr>
              <a:t>return</a:t>
            </a:r>
            <a:r>
              <a:rPr sz="1150">
                <a:solidFill>
                  <a:srgbClr val="E6EDF3"/>
                </a:solidFill>
                <a:latin typeface="Courier New"/>
              </a:rPr>
              <a:t> GREEN;</a:t>
            </a:r>
          </a:p>
        </p:txBody>
      </p:sp>
      <p:sp>
        <p:nvSpPr>
          <p:cNvPr id="26" name="CO2 code B caption"/>
          <p:cNvSpPr txBox="1"/>
          <p:nvPr/>
        </p:nvSpPr>
        <p:spPr>
          <a:xfrm>
            <a:off x="5806440" y="4091939"/>
            <a:ext cx="5550408" cy="256032"/>
          </a:xfrm>
          <a:prstGeom prst="rect">
            <a:avLst/>
          </a:prstGeom>
          <a:noFill/>
        </p:spPr>
        <p:txBody>
          <a:bodyPr wrap="square" lIns="0" tIns="0" rIns="0" bIns="0" anchor="t">
            <a:noAutofit/>
          </a:bodyPr>
          <a:lstStyle/>
          <a:p>
            <a:pPr algn="l">
              <a:spcAft>
                <a:spcPts val="600"/>
              </a:spcAft>
            </a:pPr>
            <a:r>
              <a:rPr sz="1300" b="1" i="0">
                <a:solidFill>
                  <a:srgbClr val="0E2841"/>
                </a:solidFill>
              </a:rPr>
              <a:t>do-while in readName</a:t>
            </a:r>
          </a:p>
        </p:txBody>
      </p:sp>
      <p:sp>
        <p:nvSpPr>
          <p:cNvPr id="27" name="CO2 code B"/>
          <p:cNvSpPr/>
          <p:nvPr/>
        </p:nvSpPr>
        <p:spPr>
          <a:xfrm>
            <a:off x="5806440" y="4366259"/>
            <a:ext cx="5550408" cy="1380744"/>
          </a:xfrm>
          <a:prstGeom prst="roundRect">
            <a:avLst>
              <a:gd name="adj" fmla="val 4000"/>
            </a:avLst>
          </a:prstGeom>
          <a:solidFill>
            <a:srgbClr val="0D1117"/>
          </a:solidFill>
          <a:ln>
            <a:noFill/>
          </a:ln>
        </p:spPr>
        <p:txBody>
          <a:bodyPr wrap="square" lIns="137160" tIns="109728" rIns="137160" bIns="109728" rtlCol="0" anchor="t">
            <a:noAutofit/>
          </a:bodyPr>
          <a:lstStyle/>
          <a:p>
            <a:pPr algn="l">
              <a:spcAft>
                <a:spcPts val="0"/>
              </a:spcAft>
            </a:pPr>
            <a:r>
              <a:rPr sz="1150">
                <a:solidFill>
                  <a:srgbClr val="79C0FF"/>
                </a:solidFill>
                <a:latin typeface="Courier New"/>
              </a:rPr>
              <a:t>do</a:t>
            </a:r>
            <a:r>
              <a:rPr sz="1150">
                <a:solidFill>
                  <a:srgbClr val="E6EDF3"/>
                </a:solidFill>
                <a:latin typeface="Courier New"/>
              </a:rPr>
              <a:t> {</a:t>
            </a:r>
          </a:p>
          <a:p>
            <a:pPr algn="l">
              <a:spcAft>
                <a:spcPts val="0"/>
              </a:spcAft>
            </a:pPr>
            <a:r>
              <a:rPr sz="1150">
                <a:solidFill>
                  <a:srgbClr val="E6EDF3"/>
                </a:solidFill>
                <a:latin typeface="Courier New"/>
              </a:rPr>
              <a:t>    System.out.print(prompt);</a:t>
            </a:r>
          </a:p>
          <a:p>
            <a:pPr algn="l">
              <a:spcAft>
                <a:spcPts val="0"/>
              </a:spcAft>
            </a:pPr>
            <a:r>
              <a:rPr sz="1150">
                <a:solidFill>
                  <a:srgbClr val="E6EDF3"/>
                </a:solidFill>
                <a:latin typeface="Courier New"/>
              </a:rPr>
              <a:t>    name = sc.nextLine().trim();</a:t>
            </a:r>
          </a:p>
          <a:p>
            <a:pPr algn="l">
              <a:spcAft>
                <a:spcPts val="0"/>
              </a:spcAft>
            </a:pPr>
            <a:r>
              <a:rPr sz="1150">
                <a:solidFill>
                  <a:srgbClr val="E6EDF3"/>
                </a:solidFill>
                <a:latin typeface="Courier New"/>
              </a:rPr>
              <a:t>    </a:t>
            </a:r>
            <a:r>
              <a:rPr sz="1150">
                <a:solidFill>
                  <a:srgbClr val="79C0FF"/>
                </a:solidFill>
                <a:latin typeface="Courier New"/>
              </a:rPr>
              <a:t>if</a:t>
            </a:r>
            <a:r>
              <a:rPr sz="1150">
                <a:solidFill>
                  <a:srgbClr val="E6EDF3"/>
                </a:solidFill>
                <a:latin typeface="Courier New"/>
              </a:rPr>
              <a:t> (name.isEmpty())</a:t>
            </a:r>
          </a:p>
          <a:p>
            <a:pPr algn="l">
              <a:spcAft>
                <a:spcPts val="0"/>
              </a:spcAft>
            </a:pPr>
            <a:r>
              <a:rPr sz="1150">
                <a:solidFill>
                  <a:srgbClr val="E6EDF3"/>
                </a:solidFill>
                <a:latin typeface="Courier New"/>
              </a:rPr>
              <a:t>        System.out.println(</a:t>
            </a:r>
            <a:r>
              <a:rPr sz="1150">
                <a:solidFill>
                  <a:srgbClr val="7EE787"/>
                </a:solidFill>
                <a:latin typeface="Courier New"/>
              </a:rPr>
              <a:t>"Name can't be empty."</a:t>
            </a:r>
            <a:r>
              <a:rPr sz="1150">
                <a:solidFill>
                  <a:srgbClr val="E6EDF3"/>
                </a:solidFill>
                <a:latin typeface="Courier New"/>
              </a:rPr>
              <a:t>);</a:t>
            </a:r>
          </a:p>
          <a:p>
            <a:pPr algn="l">
              <a:spcAft>
                <a:spcPts val="0"/>
              </a:spcAft>
            </a:pPr>
            <a:r>
              <a:rPr sz="1150">
                <a:solidFill>
                  <a:srgbClr val="E6EDF3"/>
                </a:solidFill>
                <a:latin typeface="Courier New"/>
              </a:rPr>
              <a:t>} </a:t>
            </a:r>
            <a:r>
              <a:rPr sz="1150">
                <a:solidFill>
                  <a:srgbClr val="79C0FF"/>
                </a:solidFill>
                <a:latin typeface="Courier New"/>
              </a:rPr>
              <a:t>while</a:t>
            </a:r>
            <a:r>
              <a:rPr sz="1150">
                <a:solidFill>
                  <a:srgbClr val="E6EDF3"/>
                </a:solidFill>
                <a:latin typeface="Courier New"/>
              </a:rPr>
              <a:t> (name.isEmpty());</a:t>
            </a:r>
          </a:p>
        </p:txBody>
      </p:sp>
    </p:spTree>
    <p:extLst>
      <p:ext uri="{BB962C8B-B14F-4D97-AF65-F5344CB8AC3E}">
        <p14:creationId xmlns:p14="http://schemas.microsoft.com/office/powerpoint/2010/main" val="41781117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BDDFB-DFEC-7A21-D889-17965A225820}"/>
              </a:ext>
            </a:extLst>
          </p:cNvPr>
          <p:cNvSpPr>
            <a:spLocks noGrp="1"/>
          </p:cNvSpPr>
          <p:nvPr>
            <p:ph type="title"/>
          </p:nvPr>
        </p:nvSpPr>
        <p:spPr/>
        <p:txBody>
          <a:bodyPr/>
          <a:lstStyle/>
          <a:p>
            <a:r>
              <a:rPr lang="en-IN" sz="3400" b="1" dirty="0">
                <a:solidFill>
                  <a:srgbClr val="0E2841"/>
                </a:solidFill>
              </a:rPr>
              <a:t>CO 3 Topics</a:t>
            </a:r>
          </a:p>
        </p:txBody>
      </p:sp>
      <p:sp>
        <p:nvSpPr>
          <p:cNvPr id="4" name="Date Placeholder 3">
            <a:extLst>
              <a:ext uri="{FF2B5EF4-FFF2-40B4-BE49-F238E27FC236}">
                <a16:creationId xmlns:a16="http://schemas.microsoft.com/office/drawing/2014/main" id="{8E0078FF-2013-E475-6F3D-0A16F8585865}"/>
              </a:ext>
            </a:extLst>
          </p:cNvPr>
          <p:cNvSpPr>
            <a:spLocks noGrp="1"/>
          </p:cNvSpPr>
          <p:nvPr>
            <p:ph type="dt" sz="half" idx="10"/>
          </p:nvPr>
        </p:nvSpPr>
        <p:spPr/>
        <p:txBody>
          <a:bodyPr/>
          <a:lstStyle/>
          <a:p>
            <a:fld id="{FADF71FF-0CE0-4D83-9933-F69CED863D80}" type="datetime1">
              <a:rPr lang="en-IN" smtClean="0"/>
              <a:t>16-10-2026</a:t>
            </a:fld>
            <a:endParaRPr lang="en-IN"/>
          </a:p>
        </p:txBody>
      </p:sp>
      <p:sp>
        <p:nvSpPr>
          <p:cNvPr id="5" name="Slide Number Placeholder 4">
            <a:extLst>
              <a:ext uri="{FF2B5EF4-FFF2-40B4-BE49-F238E27FC236}">
                <a16:creationId xmlns:a16="http://schemas.microsoft.com/office/drawing/2014/main" id="{95DE39BA-552D-5E87-9C16-8B5724296666}"/>
              </a:ext>
            </a:extLst>
          </p:cNvPr>
          <p:cNvSpPr>
            <a:spLocks noGrp="1"/>
          </p:cNvSpPr>
          <p:nvPr>
            <p:ph type="sldNum" sz="quarter" idx="12"/>
          </p:nvPr>
        </p:nvSpPr>
        <p:spPr/>
        <p:txBody>
          <a:bodyPr/>
          <a:lstStyle/>
          <a:p>
            <a:fld id="{CB012AB6-14AF-4351-87AD-D420B05274E1}" type="slidenum">
              <a:rPr lang="en-IN" smtClean="0"/>
              <a:t>8</a:t>
            </a:fld>
            <a:endParaRPr lang="en-IN"/>
          </a:p>
        </p:txBody>
      </p:sp>
      <p:sp>
        <p:nvSpPr>
          <p:cNvPr id="6" name="Topic row 1"/>
          <p:cNvSpPr/>
          <p:nvPr/>
        </p:nvSpPr>
        <p:spPr>
          <a:xfrm>
            <a:off x="841248" y="1783080"/>
            <a:ext cx="4754880" cy="700430"/>
          </a:xfrm>
          <a:prstGeom prst="roundRect">
            <a:avLst>
              <a:gd name="adj" fmla="val 8000"/>
            </a:avLst>
          </a:prstGeom>
          <a:solidFill>
            <a:srgbClr val="FFFFFF"/>
          </a:solidFill>
          <a:ln w="9525">
            <a:solidFill>
              <a:srgbClr val="E3E9EF"/>
            </a:solidFill>
          </a:ln>
          <a:effectLst>
            <a:outerShdw blurRad="76200" dist="25400" dir="5400000" algn="t" rotWithShape="0">
              <a:srgbClr val="0E2841">
                <a:alpha val="14000"/>
              </a:srgbClr>
            </a:outerShdw>
          </a:effectLst>
        </p:spPr>
        <p:txBody>
          <a:bodyPr rtlCol="0" anchor="ctr"/>
          <a:lstStyle/>
          <a:p>
            <a:pPr algn="ctr"/>
            <a:endParaRPr/>
          </a:p>
        </p:txBody>
      </p:sp>
      <p:sp>
        <p:nvSpPr>
          <p:cNvPr id="7" name="Topic number 1"/>
          <p:cNvSpPr/>
          <p:nvPr/>
        </p:nvSpPr>
        <p:spPr>
          <a:xfrm>
            <a:off x="950976" y="1968703"/>
            <a:ext cx="329184" cy="329184"/>
          </a:xfrm>
          <a:prstGeom prst="ellipse">
            <a:avLst/>
          </a:prstGeom>
          <a:solidFill>
            <a:srgbClr val="156082"/>
          </a:solidFill>
          <a:ln>
            <a:noFill/>
          </a:ln>
        </p:spPr>
        <p:txBody>
          <a:bodyPr wrap="square" lIns="0" tIns="0" rIns="0" bIns="0" rtlCol="0" anchor="ctr">
            <a:noAutofit/>
          </a:bodyPr>
          <a:lstStyle/>
          <a:p>
            <a:pPr algn="ctr">
              <a:spcAft>
                <a:spcPts val="600"/>
              </a:spcAft>
            </a:pPr>
            <a:r>
              <a:rPr sz="1300" b="1" i="0">
                <a:solidFill>
                  <a:srgbClr val="FFFFFF"/>
                </a:solidFill>
              </a:rPr>
              <a:t>1</a:t>
            </a:r>
          </a:p>
        </p:txBody>
      </p:sp>
      <p:sp>
        <p:nvSpPr>
          <p:cNvPr id="8" name="Topic text 1"/>
          <p:cNvSpPr txBox="1"/>
          <p:nvPr/>
        </p:nvSpPr>
        <p:spPr>
          <a:xfrm>
            <a:off x="1417320" y="1783080"/>
            <a:ext cx="4069080" cy="700430"/>
          </a:xfrm>
          <a:prstGeom prst="rect">
            <a:avLst/>
          </a:prstGeom>
          <a:noFill/>
        </p:spPr>
        <p:txBody>
          <a:bodyPr wrap="square" lIns="0" tIns="0" rIns="0" bIns="0" anchor="ctr">
            <a:noAutofit/>
          </a:bodyPr>
          <a:lstStyle/>
          <a:p>
            <a:pPr algn="l">
              <a:spcAft>
                <a:spcPts val="0"/>
              </a:spcAft>
            </a:pPr>
            <a:r>
              <a:rPr sz="1600" b="1" i="0">
                <a:solidFill>
                  <a:srgbClr val="0E2841"/>
                </a:solidFill>
              </a:rPr>
              <a:t>Methods and decomposition</a:t>
            </a:r>
          </a:p>
          <a:p>
            <a:pPr algn="l">
              <a:spcAft>
                <a:spcPts val="0"/>
              </a:spcAft>
            </a:pPr>
            <a:r>
              <a:rPr sz="1300" b="0" i="0">
                <a:solidFill>
                  <a:srgbClr val="5B6B7F"/>
                </a:solidFill>
              </a:rPr>
              <a:t>readInt, readName, findPatient, showQueue</a:t>
            </a:r>
          </a:p>
        </p:txBody>
      </p:sp>
      <p:sp>
        <p:nvSpPr>
          <p:cNvPr id="9" name="Topic row 2"/>
          <p:cNvSpPr/>
          <p:nvPr/>
        </p:nvSpPr>
        <p:spPr>
          <a:xfrm>
            <a:off x="841248" y="2556662"/>
            <a:ext cx="4754880" cy="700430"/>
          </a:xfrm>
          <a:prstGeom prst="roundRect">
            <a:avLst>
              <a:gd name="adj" fmla="val 8000"/>
            </a:avLst>
          </a:prstGeom>
          <a:solidFill>
            <a:srgbClr val="FFFFFF"/>
          </a:solidFill>
          <a:ln w="9525">
            <a:solidFill>
              <a:srgbClr val="E3E9EF"/>
            </a:solidFill>
          </a:ln>
          <a:effectLst>
            <a:outerShdw blurRad="76200" dist="25400" dir="5400000" algn="t" rotWithShape="0">
              <a:srgbClr val="0E2841">
                <a:alpha val="14000"/>
              </a:srgbClr>
            </a:outerShdw>
          </a:effectLst>
        </p:spPr>
        <p:txBody>
          <a:bodyPr rtlCol="0" anchor="ctr"/>
          <a:lstStyle/>
          <a:p>
            <a:pPr algn="ctr"/>
            <a:endParaRPr/>
          </a:p>
        </p:txBody>
      </p:sp>
      <p:sp>
        <p:nvSpPr>
          <p:cNvPr id="10" name="Topic number 2"/>
          <p:cNvSpPr/>
          <p:nvPr/>
        </p:nvSpPr>
        <p:spPr>
          <a:xfrm>
            <a:off x="950976" y="2742285"/>
            <a:ext cx="329184" cy="329184"/>
          </a:xfrm>
          <a:prstGeom prst="ellipse">
            <a:avLst/>
          </a:prstGeom>
          <a:solidFill>
            <a:srgbClr val="156082"/>
          </a:solidFill>
          <a:ln>
            <a:noFill/>
          </a:ln>
        </p:spPr>
        <p:txBody>
          <a:bodyPr wrap="square" lIns="0" tIns="0" rIns="0" bIns="0" rtlCol="0" anchor="ctr">
            <a:noAutofit/>
          </a:bodyPr>
          <a:lstStyle/>
          <a:p>
            <a:pPr algn="ctr">
              <a:spcAft>
                <a:spcPts val="600"/>
              </a:spcAft>
            </a:pPr>
            <a:r>
              <a:rPr sz="1300" b="1" i="0">
                <a:solidFill>
                  <a:srgbClr val="FFFFFF"/>
                </a:solidFill>
              </a:rPr>
              <a:t>2</a:t>
            </a:r>
          </a:p>
        </p:txBody>
      </p:sp>
      <p:sp>
        <p:nvSpPr>
          <p:cNvPr id="11" name="Topic text 2"/>
          <p:cNvSpPr txBox="1"/>
          <p:nvPr/>
        </p:nvSpPr>
        <p:spPr>
          <a:xfrm>
            <a:off x="1417320" y="2556662"/>
            <a:ext cx="4069080" cy="700430"/>
          </a:xfrm>
          <a:prstGeom prst="rect">
            <a:avLst/>
          </a:prstGeom>
          <a:noFill/>
        </p:spPr>
        <p:txBody>
          <a:bodyPr wrap="square" lIns="0" tIns="0" rIns="0" bIns="0" anchor="ctr">
            <a:noAutofit/>
          </a:bodyPr>
          <a:lstStyle/>
          <a:p>
            <a:pPr algn="l">
              <a:spcAft>
                <a:spcPts val="0"/>
              </a:spcAft>
            </a:pPr>
            <a:r>
              <a:rPr sz="1600" b="1" i="0">
                <a:solidFill>
                  <a:srgbClr val="0E2841"/>
                </a:solidFill>
              </a:rPr>
              <a:t>Parameters and return values</a:t>
            </a:r>
          </a:p>
          <a:p>
            <a:pPr algn="l">
              <a:spcAft>
                <a:spcPts val="0"/>
              </a:spcAft>
            </a:pPr>
            <a:r>
              <a:rPr sz="1300" b="0" i="0">
                <a:solidFill>
                  <a:srgbClr val="5B6B7F"/>
                </a:solidFill>
              </a:rPr>
              <a:t>findPatient returns an index or -1</a:t>
            </a:r>
          </a:p>
        </p:txBody>
      </p:sp>
      <p:sp>
        <p:nvSpPr>
          <p:cNvPr id="12" name="Topic row 3"/>
          <p:cNvSpPr/>
          <p:nvPr/>
        </p:nvSpPr>
        <p:spPr>
          <a:xfrm>
            <a:off x="841248" y="3330244"/>
            <a:ext cx="4754880" cy="700430"/>
          </a:xfrm>
          <a:prstGeom prst="roundRect">
            <a:avLst>
              <a:gd name="adj" fmla="val 8000"/>
            </a:avLst>
          </a:prstGeom>
          <a:solidFill>
            <a:srgbClr val="FFFFFF"/>
          </a:solidFill>
          <a:ln w="9525">
            <a:solidFill>
              <a:srgbClr val="E3E9EF"/>
            </a:solidFill>
          </a:ln>
          <a:effectLst>
            <a:outerShdw blurRad="76200" dist="25400" dir="5400000" algn="t" rotWithShape="0">
              <a:srgbClr val="0E2841">
                <a:alpha val="14000"/>
              </a:srgbClr>
            </a:outerShdw>
          </a:effectLst>
        </p:spPr>
        <p:txBody>
          <a:bodyPr rtlCol="0" anchor="ctr"/>
          <a:lstStyle/>
          <a:p>
            <a:pPr algn="ctr"/>
            <a:endParaRPr/>
          </a:p>
        </p:txBody>
      </p:sp>
      <p:sp>
        <p:nvSpPr>
          <p:cNvPr id="13" name="Topic number 3"/>
          <p:cNvSpPr/>
          <p:nvPr/>
        </p:nvSpPr>
        <p:spPr>
          <a:xfrm>
            <a:off x="950976" y="3515867"/>
            <a:ext cx="329184" cy="329184"/>
          </a:xfrm>
          <a:prstGeom prst="ellipse">
            <a:avLst/>
          </a:prstGeom>
          <a:solidFill>
            <a:srgbClr val="156082"/>
          </a:solidFill>
          <a:ln>
            <a:noFill/>
          </a:ln>
        </p:spPr>
        <p:txBody>
          <a:bodyPr wrap="square" lIns="0" tIns="0" rIns="0" bIns="0" rtlCol="0" anchor="ctr">
            <a:noAutofit/>
          </a:bodyPr>
          <a:lstStyle/>
          <a:p>
            <a:pPr algn="ctr">
              <a:spcAft>
                <a:spcPts val="600"/>
              </a:spcAft>
            </a:pPr>
            <a:r>
              <a:rPr sz="1300" b="1" i="0">
                <a:solidFill>
                  <a:srgbClr val="FFFFFF"/>
                </a:solidFill>
              </a:rPr>
              <a:t>3</a:t>
            </a:r>
          </a:p>
        </p:txBody>
      </p:sp>
      <p:sp>
        <p:nvSpPr>
          <p:cNvPr id="14" name="Topic text 3"/>
          <p:cNvSpPr txBox="1"/>
          <p:nvPr/>
        </p:nvSpPr>
        <p:spPr>
          <a:xfrm>
            <a:off x="1417320" y="3330244"/>
            <a:ext cx="4069080" cy="700430"/>
          </a:xfrm>
          <a:prstGeom prst="rect">
            <a:avLst/>
          </a:prstGeom>
          <a:noFill/>
        </p:spPr>
        <p:txBody>
          <a:bodyPr wrap="square" lIns="0" tIns="0" rIns="0" bIns="0" anchor="ctr">
            <a:noAutofit/>
          </a:bodyPr>
          <a:lstStyle/>
          <a:p>
            <a:pPr algn="l">
              <a:spcAft>
                <a:spcPts val="0"/>
              </a:spcAft>
            </a:pPr>
            <a:r>
              <a:rPr sz="1600" b="1" i="0">
                <a:solidFill>
                  <a:srgbClr val="0E2841"/>
                </a:solidFill>
              </a:rPr>
              <a:t>Method overloading</a:t>
            </a:r>
          </a:p>
          <a:p>
            <a:pPr algn="l">
              <a:spcAft>
                <a:spcPts val="0"/>
              </a:spcAft>
            </a:pPr>
            <a:r>
              <a:rPr sz="1300" b="0" i="0">
                <a:solidFill>
                  <a:srgbClr val="5B6B7F"/>
                </a:solidFill>
              </a:rPr>
              <a:t>printLine() and printLine(String title)</a:t>
            </a:r>
          </a:p>
        </p:txBody>
      </p:sp>
      <p:sp>
        <p:nvSpPr>
          <p:cNvPr id="15" name="Topic row 4"/>
          <p:cNvSpPr/>
          <p:nvPr/>
        </p:nvSpPr>
        <p:spPr>
          <a:xfrm>
            <a:off x="841248" y="4103827"/>
            <a:ext cx="4754880" cy="700430"/>
          </a:xfrm>
          <a:prstGeom prst="roundRect">
            <a:avLst>
              <a:gd name="adj" fmla="val 8000"/>
            </a:avLst>
          </a:prstGeom>
          <a:solidFill>
            <a:srgbClr val="FFFFFF"/>
          </a:solidFill>
          <a:ln w="9525">
            <a:solidFill>
              <a:srgbClr val="E3E9EF"/>
            </a:solidFill>
          </a:ln>
          <a:effectLst>
            <a:outerShdw blurRad="76200" dist="25400" dir="5400000" algn="t" rotWithShape="0">
              <a:srgbClr val="0E2841">
                <a:alpha val="14000"/>
              </a:srgbClr>
            </a:outerShdw>
          </a:effectLst>
        </p:spPr>
        <p:txBody>
          <a:bodyPr rtlCol="0" anchor="ctr"/>
          <a:lstStyle/>
          <a:p>
            <a:pPr algn="ctr"/>
            <a:endParaRPr/>
          </a:p>
        </p:txBody>
      </p:sp>
      <p:sp>
        <p:nvSpPr>
          <p:cNvPr id="16" name="Topic number 4"/>
          <p:cNvSpPr/>
          <p:nvPr/>
        </p:nvSpPr>
        <p:spPr>
          <a:xfrm>
            <a:off x="950976" y="4289450"/>
            <a:ext cx="329184" cy="329184"/>
          </a:xfrm>
          <a:prstGeom prst="ellipse">
            <a:avLst/>
          </a:prstGeom>
          <a:solidFill>
            <a:srgbClr val="156082"/>
          </a:solidFill>
          <a:ln>
            <a:noFill/>
          </a:ln>
        </p:spPr>
        <p:txBody>
          <a:bodyPr wrap="square" lIns="0" tIns="0" rIns="0" bIns="0" rtlCol="0" anchor="ctr">
            <a:noAutofit/>
          </a:bodyPr>
          <a:lstStyle/>
          <a:p>
            <a:pPr algn="ctr">
              <a:spcAft>
                <a:spcPts val="600"/>
              </a:spcAft>
            </a:pPr>
            <a:r>
              <a:rPr sz="1300" b="1" i="0">
                <a:solidFill>
                  <a:srgbClr val="FFFFFF"/>
                </a:solidFill>
              </a:rPr>
              <a:t>4</a:t>
            </a:r>
          </a:p>
        </p:txBody>
      </p:sp>
      <p:sp>
        <p:nvSpPr>
          <p:cNvPr id="17" name="Topic text 4"/>
          <p:cNvSpPr txBox="1"/>
          <p:nvPr/>
        </p:nvSpPr>
        <p:spPr>
          <a:xfrm>
            <a:off x="1417320" y="4103827"/>
            <a:ext cx="4069080" cy="700430"/>
          </a:xfrm>
          <a:prstGeom prst="rect">
            <a:avLst/>
          </a:prstGeom>
          <a:noFill/>
        </p:spPr>
        <p:txBody>
          <a:bodyPr wrap="square" lIns="0" tIns="0" rIns="0" bIns="0" anchor="ctr">
            <a:noAutofit/>
          </a:bodyPr>
          <a:lstStyle/>
          <a:p>
            <a:pPr algn="l">
              <a:spcAft>
                <a:spcPts val="0"/>
              </a:spcAft>
            </a:pPr>
            <a:r>
              <a:rPr sz="1600" b="1" i="0">
                <a:solidFill>
                  <a:srgbClr val="0E2841"/>
                </a:solidFill>
              </a:rPr>
              <a:t>Enhanced for-each loop</a:t>
            </a:r>
          </a:p>
          <a:p>
            <a:pPr algn="l">
              <a:spcAft>
                <a:spcPts val="0"/>
              </a:spcAft>
            </a:pPr>
            <a:r>
              <a:rPr sz="1300" b="0" i="0">
                <a:solidFill>
                  <a:srgbClr val="5B6B7F"/>
                </a:solidFill>
              </a:rPr>
              <a:t>for (Patient p : patients) in showQueue</a:t>
            </a:r>
          </a:p>
        </p:txBody>
      </p:sp>
      <p:sp>
        <p:nvSpPr>
          <p:cNvPr id="18" name="Topic row 5"/>
          <p:cNvSpPr/>
          <p:nvPr/>
        </p:nvSpPr>
        <p:spPr>
          <a:xfrm>
            <a:off x="841248" y="4877409"/>
            <a:ext cx="4754880" cy="700430"/>
          </a:xfrm>
          <a:prstGeom prst="roundRect">
            <a:avLst>
              <a:gd name="adj" fmla="val 8000"/>
            </a:avLst>
          </a:prstGeom>
          <a:solidFill>
            <a:srgbClr val="FFFFFF"/>
          </a:solidFill>
          <a:ln w="9525">
            <a:solidFill>
              <a:srgbClr val="E3E9EF"/>
            </a:solidFill>
          </a:ln>
          <a:effectLst>
            <a:outerShdw blurRad="76200" dist="25400" dir="5400000" algn="t" rotWithShape="0">
              <a:srgbClr val="0E2841">
                <a:alpha val="14000"/>
              </a:srgbClr>
            </a:outerShdw>
          </a:effectLst>
        </p:spPr>
        <p:txBody>
          <a:bodyPr rtlCol="0" anchor="ctr"/>
          <a:lstStyle/>
          <a:p>
            <a:pPr algn="ctr"/>
            <a:endParaRPr/>
          </a:p>
        </p:txBody>
      </p:sp>
      <p:sp>
        <p:nvSpPr>
          <p:cNvPr id="19" name="Topic number 5"/>
          <p:cNvSpPr/>
          <p:nvPr/>
        </p:nvSpPr>
        <p:spPr>
          <a:xfrm>
            <a:off x="950976" y="5063032"/>
            <a:ext cx="329184" cy="329184"/>
          </a:xfrm>
          <a:prstGeom prst="ellipse">
            <a:avLst/>
          </a:prstGeom>
          <a:solidFill>
            <a:srgbClr val="156082"/>
          </a:solidFill>
          <a:ln>
            <a:noFill/>
          </a:ln>
        </p:spPr>
        <p:txBody>
          <a:bodyPr wrap="square" lIns="0" tIns="0" rIns="0" bIns="0" rtlCol="0" anchor="ctr">
            <a:noAutofit/>
          </a:bodyPr>
          <a:lstStyle/>
          <a:p>
            <a:pPr algn="ctr">
              <a:spcAft>
                <a:spcPts val="600"/>
              </a:spcAft>
            </a:pPr>
            <a:r>
              <a:rPr sz="1300" b="1" i="0">
                <a:solidFill>
                  <a:srgbClr val="FFFFFF"/>
                </a:solidFill>
              </a:rPr>
              <a:t>5</a:t>
            </a:r>
          </a:p>
        </p:txBody>
      </p:sp>
      <p:sp>
        <p:nvSpPr>
          <p:cNvPr id="20" name="Topic text 5"/>
          <p:cNvSpPr txBox="1"/>
          <p:nvPr/>
        </p:nvSpPr>
        <p:spPr>
          <a:xfrm>
            <a:off x="1417320" y="4877409"/>
            <a:ext cx="4069080" cy="700430"/>
          </a:xfrm>
          <a:prstGeom prst="rect">
            <a:avLst/>
          </a:prstGeom>
          <a:noFill/>
        </p:spPr>
        <p:txBody>
          <a:bodyPr wrap="square" lIns="0" tIns="0" rIns="0" bIns="0" anchor="ctr">
            <a:noAutofit/>
          </a:bodyPr>
          <a:lstStyle/>
          <a:p>
            <a:pPr algn="l">
              <a:spcAft>
                <a:spcPts val="0"/>
              </a:spcAft>
            </a:pPr>
            <a:r>
              <a:rPr sz="1600" b="1" i="0">
                <a:solidFill>
                  <a:srgbClr val="0E2841"/>
                </a:solidFill>
              </a:rPr>
              <a:t>Searching</a:t>
            </a:r>
          </a:p>
          <a:p>
            <a:pPr algn="l">
              <a:spcAft>
                <a:spcPts val="0"/>
              </a:spcAft>
            </a:pPr>
            <a:r>
              <a:rPr sz="1300" b="0" i="0">
                <a:solidFill>
                  <a:srgbClr val="5B6B7F"/>
                </a:solidFill>
              </a:rPr>
              <a:t>linear search in findPatient</a:t>
            </a:r>
          </a:p>
        </p:txBody>
      </p:sp>
      <p:sp>
        <p:nvSpPr>
          <p:cNvPr id="21" name="Not used note"/>
          <p:cNvSpPr txBox="1"/>
          <p:nvPr/>
        </p:nvSpPr>
        <p:spPr>
          <a:xfrm>
            <a:off x="841248" y="5696712"/>
            <a:ext cx="4754880" cy="365760"/>
          </a:xfrm>
          <a:prstGeom prst="rect">
            <a:avLst/>
          </a:prstGeom>
          <a:noFill/>
        </p:spPr>
        <p:txBody>
          <a:bodyPr wrap="square" lIns="0" tIns="0" rIns="0" bIns="0" anchor="t">
            <a:noAutofit/>
          </a:bodyPr>
          <a:lstStyle/>
          <a:p>
            <a:pPr algn="l">
              <a:spcAft>
                <a:spcPts val="600"/>
              </a:spcAft>
            </a:pPr>
            <a:r>
              <a:rPr sz="1200" b="0" i="1">
                <a:solidFill>
                  <a:srgbClr val="5B6B7F"/>
                </a:solidFill>
              </a:rPr>
              <a:t>Not used in this project: recursion, 2D arrays.</a:t>
            </a:r>
          </a:p>
        </p:txBody>
      </p:sp>
      <p:sp>
        <p:nvSpPr>
          <p:cNvPr id="22" name="CO3 code A caption"/>
          <p:cNvSpPr txBox="1"/>
          <p:nvPr/>
        </p:nvSpPr>
        <p:spPr>
          <a:xfrm>
            <a:off x="5806440" y="1783080"/>
            <a:ext cx="5550408" cy="256032"/>
          </a:xfrm>
          <a:prstGeom prst="rect">
            <a:avLst/>
          </a:prstGeom>
          <a:noFill/>
        </p:spPr>
        <p:txBody>
          <a:bodyPr wrap="square" lIns="0" tIns="0" rIns="0" bIns="0" anchor="t">
            <a:noAutofit/>
          </a:bodyPr>
          <a:lstStyle/>
          <a:p>
            <a:pPr algn="l">
              <a:spcAft>
                <a:spcPts val="600"/>
              </a:spcAft>
            </a:pPr>
            <a:r>
              <a:rPr sz="1300" b="1" i="0">
                <a:solidFill>
                  <a:srgbClr val="0E2841"/>
                </a:solidFill>
              </a:rPr>
              <a:t>Linear search</a:t>
            </a:r>
          </a:p>
        </p:txBody>
      </p:sp>
      <p:sp>
        <p:nvSpPr>
          <p:cNvPr id="23" name="CO3 code A"/>
          <p:cNvSpPr/>
          <p:nvPr/>
        </p:nvSpPr>
        <p:spPr>
          <a:xfrm>
            <a:off x="5806440" y="2057400"/>
            <a:ext cx="5550408" cy="1943100"/>
          </a:xfrm>
          <a:prstGeom prst="roundRect">
            <a:avLst>
              <a:gd name="adj" fmla="val 4000"/>
            </a:avLst>
          </a:prstGeom>
          <a:solidFill>
            <a:srgbClr val="0D1117"/>
          </a:solidFill>
          <a:ln>
            <a:noFill/>
          </a:ln>
        </p:spPr>
        <p:txBody>
          <a:bodyPr wrap="square" lIns="137160" tIns="109728" rIns="137160" bIns="109728" rtlCol="0" anchor="t">
            <a:noAutofit/>
          </a:bodyPr>
          <a:lstStyle/>
          <a:p>
            <a:pPr algn="l">
              <a:spcAft>
                <a:spcPts val="0"/>
              </a:spcAft>
            </a:pPr>
            <a:r>
              <a:rPr sz="1150">
                <a:solidFill>
                  <a:srgbClr val="79C0FF"/>
                </a:solidFill>
                <a:latin typeface="Courier New"/>
              </a:rPr>
              <a:t>static</a:t>
            </a:r>
            <a:r>
              <a:rPr sz="1150">
                <a:solidFill>
                  <a:srgbClr val="E6EDF3"/>
                </a:solidFill>
                <a:latin typeface="Courier New"/>
              </a:rPr>
              <a:t> </a:t>
            </a:r>
            <a:r>
              <a:rPr sz="1150">
                <a:solidFill>
                  <a:srgbClr val="79C0FF"/>
                </a:solidFill>
                <a:latin typeface="Courier New"/>
              </a:rPr>
              <a:t>int</a:t>
            </a:r>
            <a:r>
              <a:rPr sz="1150">
                <a:solidFill>
                  <a:srgbClr val="E6EDF3"/>
                </a:solidFill>
                <a:latin typeface="Courier New"/>
              </a:rPr>
              <a:t> findPatient(ArrayList&lt;Patient&gt; patients,</a:t>
            </a:r>
          </a:p>
          <a:p>
            <a:pPr algn="l">
              <a:spcAft>
                <a:spcPts val="0"/>
              </a:spcAft>
            </a:pPr>
            <a:r>
              <a:rPr sz="1150">
                <a:solidFill>
                  <a:srgbClr val="E6EDF3"/>
                </a:solidFill>
                <a:latin typeface="Courier New"/>
              </a:rPr>
              <a:t>                       </a:t>
            </a:r>
            <a:r>
              <a:rPr sz="1150">
                <a:solidFill>
                  <a:srgbClr val="79C0FF"/>
                </a:solidFill>
                <a:latin typeface="Courier New"/>
              </a:rPr>
              <a:t>String</a:t>
            </a:r>
            <a:r>
              <a:rPr sz="1150">
                <a:solidFill>
                  <a:srgbClr val="E6EDF3"/>
                </a:solidFill>
                <a:latin typeface="Courier New"/>
              </a:rPr>
              <a:t> target) {</a:t>
            </a:r>
          </a:p>
          <a:p>
            <a:pPr algn="l">
              <a:spcAft>
                <a:spcPts val="0"/>
              </a:spcAft>
            </a:pPr>
            <a:r>
              <a:rPr sz="1150">
                <a:solidFill>
                  <a:srgbClr val="E6EDF3"/>
                </a:solidFill>
                <a:latin typeface="Courier New"/>
              </a:rPr>
              <a:t>    </a:t>
            </a:r>
            <a:r>
              <a:rPr sz="1150">
                <a:solidFill>
                  <a:srgbClr val="79C0FF"/>
                </a:solidFill>
                <a:latin typeface="Courier New"/>
              </a:rPr>
              <a:t>for</a:t>
            </a:r>
            <a:r>
              <a:rPr sz="1150">
                <a:solidFill>
                  <a:srgbClr val="E6EDF3"/>
                </a:solidFill>
                <a:latin typeface="Courier New"/>
              </a:rPr>
              <a:t> (</a:t>
            </a:r>
            <a:r>
              <a:rPr sz="1150">
                <a:solidFill>
                  <a:srgbClr val="79C0FF"/>
                </a:solidFill>
                <a:latin typeface="Courier New"/>
              </a:rPr>
              <a:t>int</a:t>
            </a:r>
            <a:r>
              <a:rPr sz="1150">
                <a:solidFill>
                  <a:srgbClr val="E6EDF3"/>
                </a:solidFill>
                <a:latin typeface="Courier New"/>
              </a:rPr>
              <a:t> i = 0; i &lt; patients.size(); i++) {</a:t>
            </a:r>
          </a:p>
          <a:p>
            <a:pPr algn="l">
              <a:spcAft>
                <a:spcPts val="0"/>
              </a:spcAft>
            </a:pPr>
            <a:r>
              <a:rPr sz="1150">
                <a:solidFill>
                  <a:srgbClr val="E6EDF3"/>
                </a:solidFill>
                <a:latin typeface="Courier New"/>
              </a:rPr>
              <a:t>        </a:t>
            </a:r>
            <a:r>
              <a:rPr sz="1150">
                <a:solidFill>
                  <a:srgbClr val="79C0FF"/>
                </a:solidFill>
                <a:latin typeface="Courier New"/>
              </a:rPr>
              <a:t>if</a:t>
            </a:r>
            <a:r>
              <a:rPr sz="1150">
                <a:solidFill>
                  <a:srgbClr val="E6EDF3"/>
                </a:solidFill>
                <a:latin typeface="Courier New"/>
              </a:rPr>
              <a:t> (patients.get(i).getName()</a:t>
            </a:r>
          </a:p>
          <a:p>
            <a:pPr algn="l">
              <a:spcAft>
                <a:spcPts val="0"/>
              </a:spcAft>
            </a:pPr>
            <a:r>
              <a:rPr sz="1150">
                <a:solidFill>
                  <a:srgbClr val="E6EDF3"/>
                </a:solidFill>
                <a:latin typeface="Courier New"/>
              </a:rPr>
              <a:t>                .equalsIgnoreCase(target))</a:t>
            </a:r>
          </a:p>
          <a:p>
            <a:pPr algn="l">
              <a:spcAft>
                <a:spcPts val="0"/>
              </a:spcAft>
            </a:pPr>
            <a:r>
              <a:rPr sz="1150">
                <a:solidFill>
                  <a:srgbClr val="E6EDF3"/>
                </a:solidFill>
                <a:latin typeface="Courier New"/>
              </a:rPr>
              <a:t>            </a:t>
            </a:r>
            <a:r>
              <a:rPr sz="1150">
                <a:solidFill>
                  <a:srgbClr val="79C0FF"/>
                </a:solidFill>
                <a:latin typeface="Courier New"/>
              </a:rPr>
              <a:t>return</a:t>
            </a:r>
            <a:r>
              <a:rPr sz="1150">
                <a:solidFill>
                  <a:srgbClr val="E6EDF3"/>
                </a:solidFill>
                <a:latin typeface="Courier New"/>
              </a:rPr>
              <a:t> i;</a:t>
            </a:r>
          </a:p>
          <a:p>
            <a:pPr algn="l">
              <a:spcAft>
                <a:spcPts val="0"/>
              </a:spcAft>
            </a:pPr>
            <a:r>
              <a:rPr sz="1150">
                <a:solidFill>
                  <a:srgbClr val="E6EDF3"/>
                </a:solidFill>
                <a:latin typeface="Courier New"/>
              </a:rPr>
              <a:t>    }</a:t>
            </a:r>
          </a:p>
          <a:p>
            <a:pPr algn="l">
              <a:spcAft>
                <a:spcPts val="0"/>
              </a:spcAft>
            </a:pPr>
            <a:r>
              <a:rPr sz="1150">
                <a:solidFill>
                  <a:srgbClr val="E6EDF3"/>
                </a:solidFill>
                <a:latin typeface="Courier New"/>
              </a:rPr>
              <a:t>    </a:t>
            </a:r>
            <a:r>
              <a:rPr sz="1150">
                <a:solidFill>
                  <a:srgbClr val="79C0FF"/>
                </a:solidFill>
                <a:latin typeface="Courier New"/>
              </a:rPr>
              <a:t>return</a:t>
            </a:r>
            <a:r>
              <a:rPr sz="1150">
                <a:solidFill>
                  <a:srgbClr val="E6EDF3"/>
                </a:solidFill>
                <a:latin typeface="Courier New"/>
              </a:rPr>
              <a:t> -1;</a:t>
            </a:r>
          </a:p>
          <a:p>
            <a:pPr algn="l">
              <a:spcAft>
                <a:spcPts val="0"/>
              </a:spcAft>
            </a:pPr>
            <a:r>
              <a:rPr sz="1150">
                <a:solidFill>
                  <a:srgbClr val="E6EDF3"/>
                </a:solidFill>
                <a:latin typeface="Courier New"/>
              </a:rPr>
              <a:t>}</a:t>
            </a:r>
          </a:p>
        </p:txBody>
      </p:sp>
      <p:sp>
        <p:nvSpPr>
          <p:cNvPr id="24" name="CO3 code B caption"/>
          <p:cNvSpPr txBox="1"/>
          <p:nvPr/>
        </p:nvSpPr>
        <p:spPr>
          <a:xfrm>
            <a:off x="5806440" y="4091939"/>
            <a:ext cx="5550408" cy="256032"/>
          </a:xfrm>
          <a:prstGeom prst="rect">
            <a:avLst/>
          </a:prstGeom>
          <a:noFill/>
        </p:spPr>
        <p:txBody>
          <a:bodyPr wrap="square" lIns="0" tIns="0" rIns="0" bIns="0" anchor="t">
            <a:noAutofit/>
          </a:bodyPr>
          <a:lstStyle/>
          <a:p>
            <a:pPr algn="l">
              <a:spcAft>
                <a:spcPts val="600"/>
              </a:spcAft>
            </a:pPr>
            <a:r>
              <a:rPr sz="1300" b="1" i="0">
                <a:solidFill>
                  <a:srgbClr val="0E2841"/>
                </a:solidFill>
              </a:rPr>
              <a:t>Method overloading</a:t>
            </a:r>
          </a:p>
        </p:txBody>
      </p:sp>
      <p:sp>
        <p:nvSpPr>
          <p:cNvPr id="25" name="CO3 code B"/>
          <p:cNvSpPr/>
          <p:nvPr/>
        </p:nvSpPr>
        <p:spPr>
          <a:xfrm>
            <a:off x="5806440" y="4366259"/>
            <a:ext cx="5550408" cy="1755648"/>
          </a:xfrm>
          <a:prstGeom prst="roundRect">
            <a:avLst>
              <a:gd name="adj" fmla="val 4000"/>
            </a:avLst>
          </a:prstGeom>
          <a:solidFill>
            <a:srgbClr val="0D1117"/>
          </a:solidFill>
          <a:ln>
            <a:noFill/>
          </a:ln>
        </p:spPr>
        <p:txBody>
          <a:bodyPr wrap="square" lIns="137160" tIns="109728" rIns="137160" bIns="109728" rtlCol="0" anchor="t">
            <a:noAutofit/>
          </a:bodyPr>
          <a:lstStyle/>
          <a:p>
            <a:pPr algn="l">
              <a:spcAft>
                <a:spcPts val="0"/>
              </a:spcAft>
            </a:pPr>
            <a:r>
              <a:rPr sz="1150">
                <a:solidFill>
                  <a:srgbClr val="79C0FF"/>
                </a:solidFill>
                <a:latin typeface="Courier New"/>
              </a:rPr>
              <a:t>static</a:t>
            </a:r>
            <a:r>
              <a:rPr sz="1150">
                <a:solidFill>
                  <a:srgbClr val="E6EDF3"/>
                </a:solidFill>
                <a:latin typeface="Courier New"/>
              </a:rPr>
              <a:t> </a:t>
            </a:r>
            <a:r>
              <a:rPr sz="1150">
                <a:solidFill>
                  <a:srgbClr val="79C0FF"/>
                </a:solidFill>
                <a:latin typeface="Courier New"/>
              </a:rPr>
              <a:t>void</a:t>
            </a:r>
            <a:r>
              <a:rPr sz="1150">
                <a:solidFill>
                  <a:srgbClr val="E6EDF3"/>
                </a:solidFill>
                <a:latin typeface="Courier New"/>
              </a:rPr>
              <a:t> printLine() {</a:t>
            </a:r>
          </a:p>
          <a:p>
            <a:pPr algn="l">
              <a:spcAft>
                <a:spcPts val="0"/>
              </a:spcAft>
            </a:pPr>
            <a:r>
              <a:rPr sz="1150">
                <a:solidFill>
                  <a:srgbClr val="E6EDF3"/>
                </a:solidFill>
                <a:latin typeface="Courier New"/>
              </a:rPr>
              <a:t>    System.out.println(</a:t>
            </a:r>
            <a:r>
              <a:rPr sz="1150">
                <a:solidFill>
                  <a:srgbClr val="7EE787"/>
                </a:solidFill>
                <a:latin typeface="Courier New"/>
              </a:rPr>
              <a:t>"=============================="</a:t>
            </a:r>
            <a:r>
              <a:rPr sz="1150">
                <a:solidFill>
                  <a:srgbClr val="E6EDF3"/>
                </a:solidFill>
                <a:latin typeface="Courier New"/>
              </a:rPr>
              <a:t>);</a:t>
            </a:r>
          </a:p>
          <a:p>
            <a:pPr algn="l">
              <a:spcAft>
                <a:spcPts val="0"/>
              </a:spcAft>
            </a:pPr>
            <a:r>
              <a:rPr sz="1150">
                <a:solidFill>
                  <a:srgbClr val="E6EDF3"/>
                </a:solidFill>
                <a:latin typeface="Courier New"/>
              </a:rPr>
              <a:t>}</a:t>
            </a:r>
          </a:p>
          <a:p>
            <a:pPr algn="l">
              <a:spcAft>
                <a:spcPts val="0"/>
              </a:spcAft>
            </a:pPr>
            <a:r>
              <a:rPr sz="1150">
                <a:solidFill>
                  <a:srgbClr val="79C0FF"/>
                </a:solidFill>
                <a:latin typeface="Courier New"/>
              </a:rPr>
              <a:t>static</a:t>
            </a:r>
            <a:r>
              <a:rPr sz="1150">
                <a:solidFill>
                  <a:srgbClr val="E6EDF3"/>
                </a:solidFill>
                <a:latin typeface="Courier New"/>
              </a:rPr>
              <a:t> </a:t>
            </a:r>
            <a:r>
              <a:rPr sz="1150">
                <a:solidFill>
                  <a:srgbClr val="79C0FF"/>
                </a:solidFill>
                <a:latin typeface="Courier New"/>
              </a:rPr>
              <a:t>void</a:t>
            </a:r>
            <a:r>
              <a:rPr sz="1150">
                <a:solidFill>
                  <a:srgbClr val="E6EDF3"/>
                </a:solidFill>
                <a:latin typeface="Courier New"/>
              </a:rPr>
              <a:t> printLine(</a:t>
            </a:r>
            <a:r>
              <a:rPr sz="1150">
                <a:solidFill>
                  <a:srgbClr val="79C0FF"/>
                </a:solidFill>
                <a:latin typeface="Courier New"/>
              </a:rPr>
              <a:t>String</a:t>
            </a:r>
            <a:r>
              <a:rPr sz="1150">
                <a:solidFill>
                  <a:srgbClr val="E6EDF3"/>
                </a:solidFill>
                <a:latin typeface="Courier New"/>
              </a:rPr>
              <a:t> title) {</a:t>
            </a:r>
          </a:p>
          <a:p>
            <a:pPr algn="l">
              <a:spcAft>
                <a:spcPts val="0"/>
              </a:spcAft>
            </a:pPr>
            <a:r>
              <a:rPr sz="1150">
                <a:solidFill>
                  <a:srgbClr val="E6EDF3"/>
                </a:solidFill>
                <a:latin typeface="Courier New"/>
              </a:rPr>
              <a:t>    printLine();</a:t>
            </a:r>
          </a:p>
          <a:p>
            <a:pPr algn="l">
              <a:spcAft>
                <a:spcPts val="0"/>
              </a:spcAft>
            </a:pPr>
            <a:r>
              <a:rPr sz="1150">
                <a:solidFill>
                  <a:srgbClr val="E6EDF3"/>
                </a:solidFill>
                <a:latin typeface="Courier New"/>
              </a:rPr>
              <a:t>    System.out.println(</a:t>
            </a:r>
            <a:r>
              <a:rPr sz="1150">
                <a:solidFill>
                  <a:srgbClr val="7EE787"/>
                </a:solidFill>
                <a:latin typeface="Courier New"/>
              </a:rPr>
              <a:t>" "</a:t>
            </a:r>
            <a:r>
              <a:rPr sz="1150">
                <a:solidFill>
                  <a:srgbClr val="E6EDF3"/>
                </a:solidFill>
                <a:latin typeface="Courier New"/>
              </a:rPr>
              <a:t> + title);</a:t>
            </a:r>
          </a:p>
          <a:p>
            <a:pPr algn="l">
              <a:spcAft>
                <a:spcPts val="0"/>
              </a:spcAft>
            </a:pPr>
            <a:r>
              <a:rPr sz="1150">
                <a:solidFill>
                  <a:srgbClr val="E6EDF3"/>
                </a:solidFill>
                <a:latin typeface="Courier New"/>
              </a:rPr>
              <a:t>    printLine();</a:t>
            </a:r>
          </a:p>
          <a:p>
            <a:pPr algn="l">
              <a:spcAft>
                <a:spcPts val="0"/>
              </a:spcAft>
            </a:pPr>
            <a:r>
              <a:rPr sz="1150">
                <a:solidFill>
                  <a:srgbClr val="E6EDF3"/>
                </a:solidFill>
                <a:latin typeface="Courier New"/>
              </a:rPr>
              <a:t>}</a:t>
            </a:r>
          </a:p>
        </p:txBody>
      </p:sp>
    </p:spTree>
    <p:extLst>
      <p:ext uri="{BB962C8B-B14F-4D97-AF65-F5344CB8AC3E}">
        <p14:creationId xmlns:p14="http://schemas.microsoft.com/office/powerpoint/2010/main" val="18698754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E591A-E528-51A2-6477-BF5075B32601}"/>
              </a:ext>
            </a:extLst>
          </p:cNvPr>
          <p:cNvSpPr>
            <a:spLocks noGrp="1"/>
          </p:cNvSpPr>
          <p:nvPr>
            <p:ph type="title"/>
          </p:nvPr>
        </p:nvSpPr>
        <p:spPr/>
        <p:txBody>
          <a:bodyPr/>
          <a:lstStyle/>
          <a:p>
            <a:r>
              <a:rPr lang="en-IN" sz="3400" b="1" dirty="0">
                <a:solidFill>
                  <a:srgbClr val="0E2841"/>
                </a:solidFill>
              </a:rPr>
              <a:t>CO 4 Topics</a:t>
            </a:r>
          </a:p>
        </p:txBody>
      </p:sp>
      <p:sp>
        <p:nvSpPr>
          <p:cNvPr id="4" name="Date Placeholder 3">
            <a:extLst>
              <a:ext uri="{FF2B5EF4-FFF2-40B4-BE49-F238E27FC236}">
                <a16:creationId xmlns:a16="http://schemas.microsoft.com/office/drawing/2014/main" id="{12815390-19B0-38A3-419D-59F37FA3AD2A}"/>
              </a:ext>
            </a:extLst>
          </p:cNvPr>
          <p:cNvSpPr>
            <a:spLocks noGrp="1"/>
          </p:cNvSpPr>
          <p:nvPr>
            <p:ph type="dt" sz="half" idx="10"/>
          </p:nvPr>
        </p:nvSpPr>
        <p:spPr/>
        <p:txBody>
          <a:bodyPr/>
          <a:lstStyle/>
          <a:p>
            <a:fld id="{07DE2E10-B9C9-4696-8C2C-567691D9BBFD}" type="datetime1">
              <a:rPr lang="en-IN" smtClean="0"/>
              <a:t>16-10-2026</a:t>
            </a:fld>
            <a:endParaRPr lang="en-IN"/>
          </a:p>
        </p:txBody>
      </p:sp>
      <p:sp>
        <p:nvSpPr>
          <p:cNvPr id="5" name="Slide Number Placeholder 4">
            <a:extLst>
              <a:ext uri="{FF2B5EF4-FFF2-40B4-BE49-F238E27FC236}">
                <a16:creationId xmlns:a16="http://schemas.microsoft.com/office/drawing/2014/main" id="{FD53250B-C6BE-E742-A34D-6B496E77E1B6}"/>
              </a:ext>
            </a:extLst>
          </p:cNvPr>
          <p:cNvSpPr>
            <a:spLocks noGrp="1"/>
          </p:cNvSpPr>
          <p:nvPr>
            <p:ph type="sldNum" sz="quarter" idx="12"/>
          </p:nvPr>
        </p:nvSpPr>
        <p:spPr/>
        <p:txBody>
          <a:bodyPr/>
          <a:lstStyle/>
          <a:p>
            <a:fld id="{CB012AB6-14AF-4351-87AD-D420B05274E1}" type="slidenum">
              <a:rPr lang="en-IN" smtClean="0"/>
              <a:t>9</a:t>
            </a:fld>
            <a:endParaRPr lang="en-IN"/>
          </a:p>
        </p:txBody>
      </p:sp>
      <p:sp>
        <p:nvSpPr>
          <p:cNvPr id="6" name="Topic row 1"/>
          <p:cNvSpPr/>
          <p:nvPr/>
        </p:nvSpPr>
        <p:spPr>
          <a:xfrm>
            <a:off x="841248" y="1783080"/>
            <a:ext cx="4754880" cy="538189"/>
          </a:xfrm>
          <a:prstGeom prst="roundRect">
            <a:avLst>
              <a:gd name="adj" fmla="val 8000"/>
            </a:avLst>
          </a:prstGeom>
          <a:solidFill>
            <a:srgbClr val="FFFFFF"/>
          </a:solidFill>
          <a:ln w="9525">
            <a:solidFill>
              <a:srgbClr val="E3E9EF"/>
            </a:solidFill>
          </a:ln>
          <a:effectLst>
            <a:outerShdw blurRad="76200" dist="25400" dir="5400000" algn="t" rotWithShape="0">
              <a:srgbClr val="0E2841">
                <a:alpha val="14000"/>
              </a:srgbClr>
            </a:outerShdw>
          </a:effectLst>
        </p:spPr>
        <p:txBody>
          <a:bodyPr rtlCol="0" anchor="ctr"/>
          <a:lstStyle/>
          <a:p>
            <a:pPr algn="ctr"/>
            <a:endParaRPr/>
          </a:p>
        </p:txBody>
      </p:sp>
      <p:sp>
        <p:nvSpPr>
          <p:cNvPr id="7" name="Topic number 1"/>
          <p:cNvSpPr/>
          <p:nvPr/>
        </p:nvSpPr>
        <p:spPr>
          <a:xfrm>
            <a:off x="950976" y="1887582"/>
            <a:ext cx="329184" cy="329184"/>
          </a:xfrm>
          <a:prstGeom prst="ellipse">
            <a:avLst/>
          </a:prstGeom>
          <a:solidFill>
            <a:srgbClr val="156082"/>
          </a:solidFill>
          <a:ln>
            <a:noFill/>
          </a:ln>
        </p:spPr>
        <p:txBody>
          <a:bodyPr wrap="square" lIns="0" tIns="0" rIns="0" bIns="0" rtlCol="0" anchor="ctr">
            <a:noAutofit/>
          </a:bodyPr>
          <a:lstStyle/>
          <a:p>
            <a:pPr algn="ctr">
              <a:spcAft>
                <a:spcPts val="600"/>
              </a:spcAft>
            </a:pPr>
            <a:r>
              <a:rPr sz="1300" b="1" i="0">
                <a:solidFill>
                  <a:srgbClr val="FFFFFF"/>
                </a:solidFill>
              </a:rPr>
              <a:t>1</a:t>
            </a:r>
          </a:p>
        </p:txBody>
      </p:sp>
      <p:sp>
        <p:nvSpPr>
          <p:cNvPr id="8" name="Topic text 1"/>
          <p:cNvSpPr txBox="1"/>
          <p:nvPr/>
        </p:nvSpPr>
        <p:spPr>
          <a:xfrm>
            <a:off x="1417320" y="1783080"/>
            <a:ext cx="4069080" cy="538189"/>
          </a:xfrm>
          <a:prstGeom prst="rect">
            <a:avLst/>
          </a:prstGeom>
          <a:noFill/>
        </p:spPr>
        <p:txBody>
          <a:bodyPr wrap="square" lIns="0" tIns="0" rIns="0" bIns="0" anchor="ctr">
            <a:noAutofit/>
          </a:bodyPr>
          <a:lstStyle/>
          <a:p>
            <a:pPr algn="l">
              <a:spcAft>
                <a:spcPts val="0"/>
              </a:spcAft>
            </a:pPr>
            <a:r>
              <a:rPr sz="1600" b="1" i="0">
                <a:solidFill>
                  <a:srgbClr val="0E2841"/>
                </a:solidFill>
              </a:rPr>
              <a:t>Classes, objects, constructors</a:t>
            </a:r>
          </a:p>
          <a:p>
            <a:pPr algn="l">
              <a:spcAft>
                <a:spcPts val="0"/>
              </a:spcAft>
            </a:pPr>
            <a:r>
              <a:rPr sz="1300" b="0" i="0">
                <a:solidFill>
                  <a:srgbClr val="5B6B7F"/>
                </a:solidFill>
              </a:rPr>
              <a:t>Patient, two constructors, this</a:t>
            </a:r>
          </a:p>
        </p:txBody>
      </p:sp>
      <p:sp>
        <p:nvSpPr>
          <p:cNvPr id="9" name="Topic row 2"/>
          <p:cNvSpPr/>
          <p:nvPr/>
        </p:nvSpPr>
        <p:spPr>
          <a:xfrm>
            <a:off x="841248" y="2394421"/>
            <a:ext cx="4754880" cy="538189"/>
          </a:xfrm>
          <a:prstGeom prst="roundRect">
            <a:avLst>
              <a:gd name="adj" fmla="val 8000"/>
            </a:avLst>
          </a:prstGeom>
          <a:solidFill>
            <a:srgbClr val="FFFFFF"/>
          </a:solidFill>
          <a:ln w="9525">
            <a:solidFill>
              <a:srgbClr val="E3E9EF"/>
            </a:solidFill>
          </a:ln>
          <a:effectLst>
            <a:outerShdw blurRad="76200" dist="25400" dir="5400000" algn="t" rotWithShape="0">
              <a:srgbClr val="0E2841">
                <a:alpha val="14000"/>
              </a:srgbClr>
            </a:outerShdw>
          </a:effectLst>
        </p:spPr>
        <p:txBody>
          <a:bodyPr rtlCol="0" anchor="ctr"/>
          <a:lstStyle/>
          <a:p>
            <a:pPr algn="ctr"/>
            <a:endParaRPr/>
          </a:p>
        </p:txBody>
      </p:sp>
      <p:sp>
        <p:nvSpPr>
          <p:cNvPr id="10" name="Topic number 2"/>
          <p:cNvSpPr/>
          <p:nvPr/>
        </p:nvSpPr>
        <p:spPr>
          <a:xfrm>
            <a:off x="950976" y="2498924"/>
            <a:ext cx="329184" cy="329184"/>
          </a:xfrm>
          <a:prstGeom prst="ellipse">
            <a:avLst/>
          </a:prstGeom>
          <a:solidFill>
            <a:srgbClr val="156082"/>
          </a:solidFill>
          <a:ln>
            <a:noFill/>
          </a:ln>
        </p:spPr>
        <p:txBody>
          <a:bodyPr wrap="square" lIns="0" tIns="0" rIns="0" bIns="0" rtlCol="0" anchor="ctr">
            <a:noAutofit/>
          </a:bodyPr>
          <a:lstStyle/>
          <a:p>
            <a:pPr algn="ctr">
              <a:spcAft>
                <a:spcPts val="600"/>
              </a:spcAft>
            </a:pPr>
            <a:r>
              <a:rPr sz="1300" b="1" i="0">
                <a:solidFill>
                  <a:srgbClr val="FFFFFF"/>
                </a:solidFill>
              </a:rPr>
              <a:t>2</a:t>
            </a:r>
          </a:p>
        </p:txBody>
      </p:sp>
      <p:sp>
        <p:nvSpPr>
          <p:cNvPr id="11" name="Topic text 2"/>
          <p:cNvSpPr txBox="1"/>
          <p:nvPr/>
        </p:nvSpPr>
        <p:spPr>
          <a:xfrm>
            <a:off x="1417320" y="2394421"/>
            <a:ext cx="4069080" cy="538189"/>
          </a:xfrm>
          <a:prstGeom prst="rect">
            <a:avLst/>
          </a:prstGeom>
          <a:noFill/>
        </p:spPr>
        <p:txBody>
          <a:bodyPr wrap="square" lIns="0" tIns="0" rIns="0" bIns="0" anchor="ctr">
            <a:noAutofit/>
          </a:bodyPr>
          <a:lstStyle/>
          <a:p>
            <a:pPr algn="l">
              <a:spcAft>
                <a:spcPts val="0"/>
              </a:spcAft>
            </a:pPr>
            <a:r>
              <a:rPr sz="1600" b="1" i="0">
                <a:solidFill>
                  <a:srgbClr val="0E2841"/>
                </a:solidFill>
              </a:rPr>
              <a:t>Encapsulation</a:t>
            </a:r>
          </a:p>
          <a:p>
            <a:pPr algn="l">
              <a:spcAft>
                <a:spcPts val="0"/>
              </a:spcAft>
            </a:pPr>
            <a:r>
              <a:rPr sz="1300" b="0" i="0">
                <a:solidFill>
                  <a:srgbClr val="5B6B7F"/>
                </a:solidFill>
              </a:rPr>
              <a:t>private fields, getName(), getAge()</a:t>
            </a:r>
          </a:p>
        </p:txBody>
      </p:sp>
      <p:sp>
        <p:nvSpPr>
          <p:cNvPr id="12" name="Topic row 3"/>
          <p:cNvSpPr/>
          <p:nvPr/>
        </p:nvSpPr>
        <p:spPr>
          <a:xfrm>
            <a:off x="841248" y="3005763"/>
            <a:ext cx="4754880" cy="538189"/>
          </a:xfrm>
          <a:prstGeom prst="roundRect">
            <a:avLst>
              <a:gd name="adj" fmla="val 8000"/>
            </a:avLst>
          </a:prstGeom>
          <a:solidFill>
            <a:srgbClr val="FFFFFF"/>
          </a:solidFill>
          <a:ln w="9525">
            <a:solidFill>
              <a:srgbClr val="E3E9EF"/>
            </a:solidFill>
          </a:ln>
          <a:effectLst>
            <a:outerShdw blurRad="76200" dist="25400" dir="5400000" algn="t" rotWithShape="0">
              <a:srgbClr val="0E2841">
                <a:alpha val="14000"/>
              </a:srgbClr>
            </a:outerShdw>
          </a:effectLst>
        </p:spPr>
        <p:txBody>
          <a:bodyPr rtlCol="0" anchor="ctr"/>
          <a:lstStyle/>
          <a:p>
            <a:pPr algn="ctr"/>
            <a:endParaRPr/>
          </a:p>
        </p:txBody>
      </p:sp>
      <p:sp>
        <p:nvSpPr>
          <p:cNvPr id="13" name="Topic number 3"/>
          <p:cNvSpPr/>
          <p:nvPr/>
        </p:nvSpPr>
        <p:spPr>
          <a:xfrm>
            <a:off x="950976" y="3110266"/>
            <a:ext cx="329184" cy="329184"/>
          </a:xfrm>
          <a:prstGeom prst="ellipse">
            <a:avLst/>
          </a:prstGeom>
          <a:solidFill>
            <a:srgbClr val="156082"/>
          </a:solidFill>
          <a:ln>
            <a:noFill/>
          </a:ln>
        </p:spPr>
        <p:txBody>
          <a:bodyPr wrap="square" lIns="0" tIns="0" rIns="0" bIns="0" rtlCol="0" anchor="ctr">
            <a:noAutofit/>
          </a:bodyPr>
          <a:lstStyle/>
          <a:p>
            <a:pPr algn="ctr">
              <a:spcAft>
                <a:spcPts val="600"/>
              </a:spcAft>
            </a:pPr>
            <a:r>
              <a:rPr sz="1300" b="1" i="0">
                <a:solidFill>
                  <a:srgbClr val="FFFFFF"/>
                </a:solidFill>
              </a:rPr>
              <a:t>3</a:t>
            </a:r>
          </a:p>
        </p:txBody>
      </p:sp>
      <p:sp>
        <p:nvSpPr>
          <p:cNvPr id="14" name="Topic text 3"/>
          <p:cNvSpPr txBox="1"/>
          <p:nvPr/>
        </p:nvSpPr>
        <p:spPr>
          <a:xfrm>
            <a:off x="1417320" y="3005763"/>
            <a:ext cx="4069080" cy="538189"/>
          </a:xfrm>
          <a:prstGeom prst="rect">
            <a:avLst/>
          </a:prstGeom>
          <a:noFill/>
        </p:spPr>
        <p:txBody>
          <a:bodyPr wrap="square" lIns="0" tIns="0" rIns="0" bIns="0" anchor="ctr">
            <a:noAutofit/>
          </a:bodyPr>
          <a:lstStyle/>
          <a:p>
            <a:pPr algn="l">
              <a:spcAft>
                <a:spcPts val="0"/>
              </a:spcAft>
            </a:pPr>
            <a:r>
              <a:rPr sz="1600" b="1" i="0">
                <a:solidFill>
                  <a:srgbClr val="0E2841"/>
                </a:solidFill>
              </a:rPr>
              <a:t>static members and toString()</a:t>
            </a:r>
          </a:p>
          <a:p>
            <a:pPr algn="l">
              <a:spcAft>
                <a:spcPts val="0"/>
              </a:spcAft>
            </a:pPr>
            <a:r>
              <a:rPr sz="1300" b="0" i="0">
                <a:solidFill>
                  <a:srgbClr val="5B6B7F"/>
                </a:solidFill>
              </a:rPr>
              <a:t>static final, categoryName(), toString()</a:t>
            </a:r>
          </a:p>
        </p:txBody>
      </p:sp>
      <p:sp>
        <p:nvSpPr>
          <p:cNvPr id="15" name="Topic row 4"/>
          <p:cNvSpPr/>
          <p:nvPr/>
        </p:nvSpPr>
        <p:spPr>
          <a:xfrm>
            <a:off x="841248" y="3617105"/>
            <a:ext cx="4754880" cy="538189"/>
          </a:xfrm>
          <a:prstGeom prst="roundRect">
            <a:avLst>
              <a:gd name="adj" fmla="val 8000"/>
            </a:avLst>
          </a:prstGeom>
          <a:solidFill>
            <a:srgbClr val="FFFFFF"/>
          </a:solidFill>
          <a:ln w="9525">
            <a:solidFill>
              <a:srgbClr val="E3E9EF"/>
            </a:solidFill>
          </a:ln>
          <a:effectLst>
            <a:outerShdw blurRad="76200" dist="25400" dir="5400000" algn="t" rotWithShape="0">
              <a:srgbClr val="0E2841">
                <a:alpha val="14000"/>
              </a:srgbClr>
            </a:outerShdw>
          </a:effectLst>
        </p:spPr>
        <p:txBody>
          <a:bodyPr rtlCol="0" anchor="ctr"/>
          <a:lstStyle/>
          <a:p>
            <a:pPr algn="ctr"/>
            <a:endParaRPr/>
          </a:p>
        </p:txBody>
      </p:sp>
      <p:sp>
        <p:nvSpPr>
          <p:cNvPr id="16" name="Topic number 4"/>
          <p:cNvSpPr/>
          <p:nvPr/>
        </p:nvSpPr>
        <p:spPr>
          <a:xfrm>
            <a:off x="950976" y="3721607"/>
            <a:ext cx="329184" cy="329184"/>
          </a:xfrm>
          <a:prstGeom prst="ellipse">
            <a:avLst/>
          </a:prstGeom>
          <a:solidFill>
            <a:srgbClr val="156082"/>
          </a:solidFill>
          <a:ln>
            <a:noFill/>
          </a:ln>
        </p:spPr>
        <p:txBody>
          <a:bodyPr wrap="square" lIns="0" tIns="0" rIns="0" bIns="0" rtlCol="0" anchor="ctr">
            <a:noAutofit/>
          </a:bodyPr>
          <a:lstStyle/>
          <a:p>
            <a:pPr algn="ctr">
              <a:spcAft>
                <a:spcPts val="600"/>
              </a:spcAft>
            </a:pPr>
            <a:r>
              <a:rPr sz="1300" b="1" i="0">
                <a:solidFill>
                  <a:srgbClr val="FFFFFF"/>
                </a:solidFill>
              </a:rPr>
              <a:t>4</a:t>
            </a:r>
          </a:p>
        </p:txBody>
      </p:sp>
      <p:sp>
        <p:nvSpPr>
          <p:cNvPr id="17" name="Topic text 4"/>
          <p:cNvSpPr txBox="1"/>
          <p:nvPr/>
        </p:nvSpPr>
        <p:spPr>
          <a:xfrm>
            <a:off x="1417320" y="3617105"/>
            <a:ext cx="4069080" cy="538189"/>
          </a:xfrm>
          <a:prstGeom prst="rect">
            <a:avLst/>
          </a:prstGeom>
          <a:noFill/>
        </p:spPr>
        <p:txBody>
          <a:bodyPr wrap="square" lIns="0" tIns="0" rIns="0" bIns="0" anchor="ctr">
            <a:noAutofit/>
          </a:bodyPr>
          <a:lstStyle/>
          <a:p>
            <a:pPr algn="l">
              <a:spcAft>
                <a:spcPts val="0"/>
              </a:spcAft>
            </a:pPr>
            <a:r>
              <a:rPr sz="1600" b="1" i="0">
                <a:solidFill>
                  <a:srgbClr val="0E2841"/>
                </a:solidFill>
              </a:rPr>
              <a:t>Inheritance and overriding</a:t>
            </a:r>
          </a:p>
          <a:p>
            <a:pPr algn="l">
              <a:spcAft>
                <a:spcPts val="0"/>
              </a:spcAft>
            </a:pPr>
            <a:r>
              <a:rPr sz="1300" b="0" i="0">
                <a:solidFill>
                  <a:srgbClr val="5B6B7F"/>
                </a:solidFill>
              </a:rPr>
              <a:t>TraumaPatient extends Patient</a:t>
            </a:r>
          </a:p>
        </p:txBody>
      </p:sp>
      <p:sp>
        <p:nvSpPr>
          <p:cNvPr id="18" name="Topic row 5"/>
          <p:cNvSpPr/>
          <p:nvPr/>
        </p:nvSpPr>
        <p:spPr>
          <a:xfrm>
            <a:off x="841248" y="4228446"/>
            <a:ext cx="4754880" cy="538189"/>
          </a:xfrm>
          <a:prstGeom prst="roundRect">
            <a:avLst>
              <a:gd name="adj" fmla="val 8000"/>
            </a:avLst>
          </a:prstGeom>
          <a:solidFill>
            <a:srgbClr val="FFFFFF"/>
          </a:solidFill>
          <a:ln w="9525">
            <a:solidFill>
              <a:srgbClr val="E3E9EF"/>
            </a:solidFill>
          </a:ln>
          <a:effectLst>
            <a:outerShdw blurRad="76200" dist="25400" dir="5400000" algn="t" rotWithShape="0">
              <a:srgbClr val="0E2841">
                <a:alpha val="14000"/>
              </a:srgbClr>
            </a:outerShdw>
          </a:effectLst>
        </p:spPr>
        <p:txBody>
          <a:bodyPr rtlCol="0" anchor="ctr"/>
          <a:lstStyle/>
          <a:p>
            <a:pPr algn="ctr"/>
            <a:endParaRPr/>
          </a:p>
        </p:txBody>
      </p:sp>
      <p:sp>
        <p:nvSpPr>
          <p:cNvPr id="19" name="Topic number 5"/>
          <p:cNvSpPr/>
          <p:nvPr/>
        </p:nvSpPr>
        <p:spPr>
          <a:xfrm>
            <a:off x="950976" y="4332949"/>
            <a:ext cx="329184" cy="329184"/>
          </a:xfrm>
          <a:prstGeom prst="ellipse">
            <a:avLst/>
          </a:prstGeom>
          <a:solidFill>
            <a:srgbClr val="156082"/>
          </a:solidFill>
          <a:ln>
            <a:noFill/>
          </a:ln>
        </p:spPr>
        <p:txBody>
          <a:bodyPr wrap="square" lIns="0" tIns="0" rIns="0" bIns="0" rtlCol="0" anchor="ctr">
            <a:noAutofit/>
          </a:bodyPr>
          <a:lstStyle/>
          <a:p>
            <a:pPr algn="ctr">
              <a:spcAft>
                <a:spcPts val="600"/>
              </a:spcAft>
            </a:pPr>
            <a:r>
              <a:rPr sz="1300" b="1" i="0">
                <a:solidFill>
                  <a:srgbClr val="FFFFFF"/>
                </a:solidFill>
              </a:rPr>
              <a:t>5</a:t>
            </a:r>
          </a:p>
        </p:txBody>
      </p:sp>
      <p:sp>
        <p:nvSpPr>
          <p:cNvPr id="20" name="Topic text 5"/>
          <p:cNvSpPr txBox="1"/>
          <p:nvPr/>
        </p:nvSpPr>
        <p:spPr>
          <a:xfrm>
            <a:off x="1417320" y="4228446"/>
            <a:ext cx="4069080" cy="538189"/>
          </a:xfrm>
          <a:prstGeom prst="rect">
            <a:avLst/>
          </a:prstGeom>
          <a:noFill/>
        </p:spPr>
        <p:txBody>
          <a:bodyPr wrap="square" lIns="0" tIns="0" rIns="0" bIns="0" anchor="ctr">
            <a:noAutofit/>
          </a:bodyPr>
          <a:lstStyle/>
          <a:p>
            <a:pPr algn="l">
              <a:spcAft>
                <a:spcPts val="0"/>
              </a:spcAft>
            </a:pPr>
            <a:r>
              <a:rPr sz="1600" b="1" i="0">
                <a:solidFill>
                  <a:srgbClr val="0E2841"/>
                </a:solidFill>
              </a:rPr>
              <a:t>Interface</a:t>
            </a:r>
          </a:p>
          <a:p>
            <a:pPr algn="l">
              <a:spcAft>
                <a:spcPts val="0"/>
              </a:spcAft>
            </a:pPr>
            <a:r>
              <a:rPr sz="1300" b="0" i="0">
                <a:solidFill>
                  <a:srgbClr val="5B6B7F"/>
                </a:solidFill>
              </a:rPr>
              <a:t>Patient implements Comparable&lt;Patient&gt;</a:t>
            </a:r>
          </a:p>
        </p:txBody>
      </p:sp>
      <p:sp>
        <p:nvSpPr>
          <p:cNvPr id="21" name="Topic row 6"/>
          <p:cNvSpPr/>
          <p:nvPr/>
        </p:nvSpPr>
        <p:spPr>
          <a:xfrm>
            <a:off x="841248" y="4839788"/>
            <a:ext cx="4754880" cy="538189"/>
          </a:xfrm>
          <a:prstGeom prst="roundRect">
            <a:avLst>
              <a:gd name="adj" fmla="val 8000"/>
            </a:avLst>
          </a:prstGeom>
          <a:solidFill>
            <a:srgbClr val="FFFFFF"/>
          </a:solidFill>
          <a:ln w="9525">
            <a:solidFill>
              <a:srgbClr val="E3E9EF"/>
            </a:solidFill>
          </a:ln>
          <a:effectLst>
            <a:outerShdw blurRad="76200" dist="25400" dir="5400000" algn="t" rotWithShape="0">
              <a:srgbClr val="0E2841">
                <a:alpha val="14000"/>
              </a:srgbClr>
            </a:outerShdw>
          </a:effectLst>
        </p:spPr>
        <p:txBody>
          <a:bodyPr rtlCol="0" anchor="ctr"/>
          <a:lstStyle/>
          <a:p>
            <a:pPr algn="ctr"/>
            <a:endParaRPr/>
          </a:p>
        </p:txBody>
      </p:sp>
      <p:sp>
        <p:nvSpPr>
          <p:cNvPr id="22" name="Topic number 6"/>
          <p:cNvSpPr/>
          <p:nvPr/>
        </p:nvSpPr>
        <p:spPr>
          <a:xfrm>
            <a:off x="950976" y="4944291"/>
            <a:ext cx="329184" cy="329184"/>
          </a:xfrm>
          <a:prstGeom prst="ellipse">
            <a:avLst/>
          </a:prstGeom>
          <a:solidFill>
            <a:srgbClr val="156082"/>
          </a:solidFill>
          <a:ln>
            <a:noFill/>
          </a:ln>
        </p:spPr>
        <p:txBody>
          <a:bodyPr wrap="square" lIns="0" tIns="0" rIns="0" bIns="0" rtlCol="0" anchor="ctr">
            <a:noAutofit/>
          </a:bodyPr>
          <a:lstStyle/>
          <a:p>
            <a:pPr algn="ctr">
              <a:spcAft>
                <a:spcPts val="600"/>
              </a:spcAft>
            </a:pPr>
            <a:r>
              <a:rPr sz="1300" b="1" i="0">
                <a:solidFill>
                  <a:srgbClr val="FFFFFF"/>
                </a:solidFill>
              </a:rPr>
              <a:t>6</a:t>
            </a:r>
          </a:p>
        </p:txBody>
      </p:sp>
      <p:sp>
        <p:nvSpPr>
          <p:cNvPr id="23" name="Topic text 6"/>
          <p:cNvSpPr txBox="1"/>
          <p:nvPr/>
        </p:nvSpPr>
        <p:spPr>
          <a:xfrm>
            <a:off x="1417320" y="4839788"/>
            <a:ext cx="4069080" cy="538189"/>
          </a:xfrm>
          <a:prstGeom prst="rect">
            <a:avLst/>
          </a:prstGeom>
          <a:noFill/>
        </p:spPr>
        <p:txBody>
          <a:bodyPr wrap="square" lIns="0" tIns="0" rIns="0" bIns="0" anchor="ctr">
            <a:noAutofit/>
          </a:bodyPr>
          <a:lstStyle/>
          <a:p>
            <a:pPr algn="l">
              <a:spcAft>
                <a:spcPts val="0"/>
              </a:spcAft>
            </a:pPr>
            <a:r>
              <a:rPr sz="1600" b="1" i="0">
                <a:solidFill>
                  <a:srgbClr val="0E2841"/>
                </a:solidFill>
              </a:rPr>
              <a:t>Exceptions: throw and throws</a:t>
            </a:r>
          </a:p>
          <a:p>
            <a:pPr algn="l">
              <a:spcAft>
                <a:spcPts val="0"/>
              </a:spcAft>
            </a:pPr>
            <a:r>
              <a:rPr sz="1300" b="0" i="0">
                <a:solidFill>
                  <a:srgbClr val="5B6B7F"/>
                </a:solidFill>
              </a:rPr>
              <a:t>custom InvalidVitalsException, checkRange()</a:t>
            </a:r>
          </a:p>
        </p:txBody>
      </p:sp>
      <p:sp>
        <p:nvSpPr>
          <p:cNvPr id="24" name="Topic row 7"/>
          <p:cNvSpPr/>
          <p:nvPr/>
        </p:nvSpPr>
        <p:spPr>
          <a:xfrm>
            <a:off x="841248" y="5451130"/>
            <a:ext cx="4754880" cy="538189"/>
          </a:xfrm>
          <a:prstGeom prst="roundRect">
            <a:avLst>
              <a:gd name="adj" fmla="val 8000"/>
            </a:avLst>
          </a:prstGeom>
          <a:solidFill>
            <a:srgbClr val="FFFFFF"/>
          </a:solidFill>
          <a:ln w="9525">
            <a:solidFill>
              <a:srgbClr val="E3E9EF"/>
            </a:solidFill>
          </a:ln>
          <a:effectLst>
            <a:outerShdw blurRad="76200" dist="25400" dir="5400000" algn="t" rotWithShape="0">
              <a:srgbClr val="0E2841">
                <a:alpha val="14000"/>
              </a:srgbClr>
            </a:outerShdw>
          </a:effectLst>
        </p:spPr>
        <p:txBody>
          <a:bodyPr rtlCol="0" anchor="ctr"/>
          <a:lstStyle/>
          <a:p>
            <a:pPr algn="ctr"/>
            <a:endParaRPr/>
          </a:p>
        </p:txBody>
      </p:sp>
      <p:sp>
        <p:nvSpPr>
          <p:cNvPr id="25" name="Topic number 7"/>
          <p:cNvSpPr/>
          <p:nvPr/>
        </p:nvSpPr>
        <p:spPr>
          <a:xfrm>
            <a:off x="950976" y="5555633"/>
            <a:ext cx="329184" cy="329184"/>
          </a:xfrm>
          <a:prstGeom prst="ellipse">
            <a:avLst/>
          </a:prstGeom>
          <a:solidFill>
            <a:srgbClr val="156082"/>
          </a:solidFill>
          <a:ln>
            <a:noFill/>
          </a:ln>
        </p:spPr>
        <p:txBody>
          <a:bodyPr wrap="square" lIns="0" tIns="0" rIns="0" bIns="0" rtlCol="0" anchor="ctr">
            <a:noAutofit/>
          </a:bodyPr>
          <a:lstStyle/>
          <a:p>
            <a:pPr algn="ctr">
              <a:spcAft>
                <a:spcPts val="600"/>
              </a:spcAft>
            </a:pPr>
            <a:r>
              <a:rPr sz="1300" b="1" i="0">
                <a:solidFill>
                  <a:srgbClr val="FFFFFF"/>
                </a:solidFill>
              </a:rPr>
              <a:t>7</a:t>
            </a:r>
          </a:p>
        </p:txBody>
      </p:sp>
      <p:sp>
        <p:nvSpPr>
          <p:cNvPr id="26" name="Topic text 7"/>
          <p:cNvSpPr txBox="1"/>
          <p:nvPr/>
        </p:nvSpPr>
        <p:spPr>
          <a:xfrm>
            <a:off x="1417320" y="5451130"/>
            <a:ext cx="4069080" cy="538189"/>
          </a:xfrm>
          <a:prstGeom prst="rect">
            <a:avLst/>
          </a:prstGeom>
          <a:noFill/>
        </p:spPr>
        <p:txBody>
          <a:bodyPr wrap="square" lIns="0" tIns="0" rIns="0" bIns="0" anchor="ctr">
            <a:noAutofit/>
          </a:bodyPr>
          <a:lstStyle/>
          <a:p>
            <a:pPr algn="l">
              <a:spcAft>
                <a:spcPts val="0"/>
              </a:spcAft>
            </a:pPr>
            <a:r>
              <a:rPr sz="1600" b="1" i="0">
                <a:solidFill>
                  <a:srgbClr val="0E2841"/>
                </a:solidFill>
              </a:rPr>
              <a:t>try-catch-finally</a:t>
            </a:r>
          </a:p>
          <a:p>
            <a:pPr algn="l">
              <a:spcAft>
                <a:spcPts val="0"/>
              </a:spcAft>
            </a:pPr>
            <a:r>
              <a:rPr sz="1300" b="0" i="0">
                <a:solidFill>
                  <a:srgbClr val="5B6B7F"/>
                </a:solidFill>
              </a:rPr>
              <a:t>readInt: two catch blocks and a finally block</a:t>
            </a:r>
          </a:p>
        </p:txBody>
      </p:sp>
      <p:sp>
        <p:nvSpPr>
          <p:cNvPr id="27" name="CO4 code A caption"/>
          <p:cNvSpPr txBox="1"/>
          <p:nvPr/>
        </p:nvSpPr>
        <p:spPr>
          <a:xfrm>
            <a:off x="5806440" y="1783080"/>
            <a:ext cx="5550408" cy="256032"/>
          </a:xfrm>
          <a:prstGeom prst="rect">
            <a:avLst/>
          </a:prstGeom>
          <a:noFill/>
        </p:spPr>
        <p:txBody>
          <a:bodyPr wrap="square" lIns="0" tIns="0" rIns="0" bIns="0" anchor="t">
            <a:noAutofit/>
          </a:bodyPr>
          <a:lstStyle/>
          <a:p>
            <a:pPr algn="l">
              <a:spcAft>
                <a:spcPts val="600"/>
              </a:spcAft>
            </a:pPr>
            <a:r>
              <a:rPr sz="1300" b="1" i="0">
                <a:solidFill>
                  <a:srgbClr val="0E2841"/>
                </a:solidFill>
              </a:rPr>
              <a:t>Overriding: injuries turn YELLOW at pain 5</a:t>
            </a:r>
          </a:p>
        </p:txBody>
      </p:sp>
      <p:sp>
        <p:nvSpPr>
          <p:cNvPr id="28" name="CO4 code A"/>
          <p:cNvSpPr/>
          <p:nvPr/>
        </p:nvSpPr>
        <p:spPr>
          <a:xfrm>
            <a:off x="5806440" y="2057400"/>
            <a:ext cx="5550408" cy="818388"/>
          </a:xfrm>
          <a:prstGeom prst="roundRect">
            <a:avLst>
              <a:gd name="adj" fmla="val 4000"/>
            </a:avLst>
          </a:prstGeom>
          <a:solidFill>
            <a:srgbClr val="0D1117"/>
          </a:solidFill>
          <a:ln>
            <a:noFill/>
          </a:ln>
        </p:spPr>
        <p:txBody>
          <a:bodyPr wrap="square" lIns="137160" tIns="109728" rIns="137160" bIns="109728" rtlCol="0" anchor="t">
            <a:noAutofit/>
          </a:bodyPr>
          <a:lstStyle/>
          <a:p>
            <a:pPr algn="l">
              <a:spcAft>
                <a:spcPts val="0"/>
              </a:spcAft>
            </a:pPr>
            <a:r>
              <a:rPr sz="1150">
                <a:solidFill>
                  <a:srgbClr val="79C0FF"/>
                </a:solidFill>
                <a:latin typeface="Courier New"/>
              </a:rPr>
              <a:t>class</a:t>
            </a:r>
            <a:r>
              <a:rPr sz="1150">
                <a:solidFill>
                  <a:srgbClr val="E6EDF3"/>
                </a:solidFill>
                <a:latin typeface="Courier New"/>
              </a:rPr>
              <a:t> TraumaPatient </a:t>
            </a:r>
            <a:r>
              <a:rPr sz="1150">
                <a:solidFill>
                  <a:srgbClr val="79C0FF"/>
                </a:solidFill>
                <a:latin typeface="Courier New"/>
              </a:rPr>
              <a:t>extends</a:t>
            </a:r>
            <a:r>
              <a:rPr sz="1150">
                <a:solidFill>
                  <a:srgbClr val="E6EDF3"/>
                </a:solidFill>
                <a:latin typeface="Courier New"/>
              </a:rPr>
              <a:t> Patient {</a:t>
            </a:r>
          </a:p>
          <a:p>
            <a:pPr algn="l">
              <a:spcAft>
                <a:spcPts val="0"/>
              </a:spcAft>
            </a:pPr>
            <a:r>
              <a:rPr sz="1150">
                <a:solidFill>
                  <a:srgbClr val="E6EDF3"/>
                </a:solidFill>
                <a:latin typeface="Courier New"/>
              </a:rPr>
              <a:t>    @</a:t>
            </a:r>
            <a:r>
              <a:rPr sz="1150">
                <a:solidFill>
                  <a:srgbClr val="79C0FF"/>
                </a:solidFill>
                <a:latin typeface="Courier New"/>
              </a:rPr>
              <a:t>Override</a:t>
            </a:r>
            <a:r>
              <a:rPr sz="1150">
                <a:solidFill>
                  <a:srgbClr val="E6EDF3"/>
                </a:solidFill>
                <a:latin typeface="Courier New"/>
              </a:rPr>
              <a:t> </a:t>
            </a:r>
            <a:r>
              <a:rPr sz="1150">
                <a:solidFill>
                  <a:srgbClr val="79C0FF"/>
                </a:solidFill>
                <a:latin typeface="Courier New"/>
              </a:rPr>
              <a:t>int</a:t>
            </a:r>
            <a:r>
              <a:rPr sz="1150">
                <a:solidFill>
                  <a:srgbClr val="E6EDF3"/>
                </a:solidFill>
                <a:latin typeface="Courier New"/>
              </a:rPr>
              <a:t> yellowPainLimit() { </a:t>
            </a:r>
            <a:r>
              <a:rPr sz="1150">
                <a:solidFill>
                  <a:srgbClr val="79C0FF"/>
                </a:solidFill>
                <a:latin typeface="Courier New"/>
              </a:rPr>
              <a:t>return</a:t>
            </a:r>
            <a:r>
              <a:rPr sz="1150">
                <a:solidFill>
                  <a:srgbClr val="E6EDF3"/>
                </a:solidFill>
                <a:latin typeface="Courier New"/>
              </a:rPr>
              <a:t> 5; }</a:t>
            </a:r>
          </a:p>
          <a:p>
            <a:pPr algn="l">
              <a:spcAft>
                <a:spcPts val="0"/>
              </a:spcAft>
            </a:pPr>
            <a:r>
              <a:rPr sz="1150">
                <a:solidFill>
                  <a:srgbClr val="E6EDF3"/>
                </a:solidFill>
                <a:latin typeface="Courier New"/>
              </a:rPr>
              <a:t>}</a:t>
            </a:r>
          </a:p>
        </p:txBody>
      </p:sp>
      <p:sp>
        <p:nvSpPr>
          <p:cNvPr id="29" name="CO4 code B caption"/>
          <p:cNvSpPr txBox="1"/>
          <p:nvPr/>
        </p:nvSpPr>
        <p:spPr>
          <a:xfrm>
            <a:off x="5806440" y="2967228"/>
            <a:ext cx="5550408" cy="256032"/>
          </a:xfrm>
          <a:prstGeom prst="rect">
            <a:avLst/>
          </a:prstGeom>
          <a:noFill/>
        </p:spPr>
        <p:txBody>
          <a:bodyPr wrap="square" lIns="0" tIns="0" rIns="0" bIns="0" anchor="t">
            <a:noAutofit/>
          </a:bodyPr>
          <a:lstStyle/>
          <a:p>
            <a:pPr algn="l">
              <a:spcAft>
                <a:spcPts val="600"/>
              </a:spcAft>
            </a:pPr>
            <a:r>
              <a:rPr sz="1300" b="1" i="0">
                <a:solidFill>
                  <a:srgbClr val="0E2841"/>
                </a:solidFill>
              </a:rPr>
              <a:t>try-catch-finally in readInt</a:t>
            </a:r>
          </a:p>
        </p:txBody>
      </p:sp>
      <p:sp>
        <p:nvSpPr>
          <p:cNvPr id="30" name="CO4 code B"/>
          <p:cNvSpPr/>
          <p:nvPr/>
        </p:nvSpPr>
        <p:spPr>
          <a:xfrm>
            <a:off x="5806440" y="3241548"/>
            <a:ext cx="5550408" cy="2692908"/>
          </a:xfrm>
          <a:prstGeom prst="roundRect">
            <a:avLst>
              <a:gd name="adj" fmla="val 4000"/>
            </a:avLst>
          </a:prstGeom>
          <a:solidFill>
            <a:srgbClr val="0D1117"/>
          </a:solidFill>
          <a:ln>
            <a:noFill/>
          </a:ln>
        </p:spPr>
        <p:txBody>
          <a:bodyPr wrap="square" lIns="137160" tIns="109728" rIns="137160" bIns="109728" rtlCol="0" anchor="t">
            <a:noAutofit/>
          </a:bodyPr>
          <a:lstStyle/>
          <a:p>
            <a:pPr algn="l">
              <a:spcAft>
                <a:spcPts val="0"/>
              </a:spcAft>
            </a:pPr>
            <a:r>
              <a:rPr sz="1150">
                <a:solidFill>
                  <a:srgbClr val="79C0FF"/>
                </a:solidFill>
                <a:latin typeface="Courier New"/>
              </a:rPr>
              <a:t>try</a:t>
            </a:r>
            <a:r>
              <a:rPr sz="1150">
                <a:solidFill>
                  <a:srgbClr val="E6EDF3"/>
                </a:solidFill>
                <a:latin typeface="Courier New"/>
              </a:rPr>
              <a:t> {</a:t>
            </a:r>
          </a:p>
          <a:p>
            <a:pPr algn="l">
              <a:spcAft>
                <a:spcPts val="0"/>
              </a:spcAft>
            </a:pPr>
            <a:r>
              <a:rPr sz="1150">
                <a:solidFill>
                  <a:srgbClr val="E6EDF3"/>
                </a:solidFill>
                <a:latin typeface="Courier New"/>
              </a:rPr>
              <a:t>    value = sc.nextInt();</a:t>
            </a:r>
          </a:p>
          <a:p>
            <a:pPr algn="l">
              <a:spcAft>
                <a:spcPts val="0"/>
              </a:spcAft>
            </a:pPr>
            <a:r>
              <a:rPr sz="1150">
                <a:solidFill>
                  <a:srgbClr val="E6EDF3"/>
                </a:solidFill>
                <a:latin typeface="Courier New"/>
              </a:rPr>
              <a:t>    checkRange(value, min, max);</a:t>
            </a:r>
          </a:p>
          <a:p>
            <a:pPr algn="l">
              <a:spcAft>
                <a:spcPts val="0"/>
              </a:spcAft>
            </a:pPr>
            <a:r>
              <a:rPr sz="1150">
                <a:solidFill>
                  <a:srgbClr val="E6EDF3"/>
                </a:solidFill>
                <a:latin typeface="Courier New"/>
              </a:rPr>
              <a:t>    valid = true;</a:t>
            </a:r>
          </a:p>
          <a:p>
            <a:pPr algn="l">
              <a:spcAft>
                <a:spcPts val="0"/>
              </a:spcAft>
            </a:pPr>
            <a:r>
              <a:rPr sz="1150">
                <a:solidFill>
                  <a:srgbClr val="E6EDF3"/>
                </a:solidFill>
                <a:latin typeface="Courier New"/>
              </a:rPr>
              <a:t>} </a:t>
            </a:r>
            <a:r>
              <a:rPr sz="1150">
                <a:solidFill>
                  <a:srgbClr val="79C0FF"/>
                </a:solidFill>
                <a:latin typeface="Courier New"/>
              </a:rPr>
              <a:t>catch</a:t>
            </a:r>
            <a:r>
              <a:rPr sz="1150">
                <a:solidFill>
                  <a:srgbClr val="E6EDF3"/>
                </a:solidFill>
                <a:latin typeface="Courier New"/>
              </a:rPr>
              <a:t> (InputMismatchException e) {</a:t>
            </a:r>
          </a:p>
          <a:p>
            <a:pPr algn="l">
              <a:spcAft>
                <a:spcPts val="0"/>
              </a:spcAft>
            </a:pPr>
            <a:r>
              <a:rPr sz="1150">
                <a:solidFill>
                  <a:srgbClr val="E6EDF3"/>
                </a:solidFill>
                <a:latin typeface="Courier New"/>
              </a:rPr>
              <a:t>    System.out.println(</a:t>
            </a:r>
          </a:p>
          <a:p>
            <a:pPr algn="l">
              <a:spcAft>
                <a:spcPts val="0"/>
              </a:spcAft>
            </a:pPr>
            <a:r>
              <a:rPr sz="1150">
                <a:solidFill>
                  <a:srgbClr val="E6EDF3"/>
                </a:solidFill>
                <a:latin typeface="Courier New"/>
              </a:rPr>
              <a:t>        </a:t>
            </a:r>
            <a:r>
              <a:rPr sz="1150">
                <a:solidFill>
                  <a:srgbClr val="7EE787"/>
                </a:solidFill>
                <a:latin typeface="Courier New"/>
              </a:rPr>
              <a:t>"That's not a number, try again."</a:t>
            </a:r>
            <a:r>
              <a:rPr sz="1150">
                <a:solidFill>
                  <a:srgbClr val="E6EDF3"/>
                </a:solidFill>
                <a:latin typeface="Courier New"/>
              </a:rPr>
              <a:t>);</a:t>
            </a:r>
          </a:p>
          <a:p>
            <a:pPr algn="l">
              <a:spcAft>
                <a:spcPts val="0"/>
              </a:spcAft>
            </a:pPr>
            <a:r>
              <a:rPr sz="1150">
                <a:solidFill>
                  <a:srgbClr val="E6EDF3"/>
                </a:solidFill>
                <a:latin typeface="Courier New"/>
              </a:rPr>
              <a:t>    sc.next();</a:t>
            </a:r>
          </a:p>
          <a:p>
            <a:pPr algn="l">
              <a:spcAft>
                <a:spcPts val="0"/>
              </a:spcAft>
            </a:pPr>
            <a:r>
              <a:rPr sz="1150">
                <a:solidFill>
                  <a:srgbClr val="E6EDF3"/>
                </a:solidFill>
                <a:latin typeface="Courier New"/>
              </a:rPr>
              <a:t>} </a:t>
            </a:r>
            <a:r>
              <a:rPr sz="1150">
                <a:solidFill>
                  <a:srgbClr val="79C0FF"/>
                </a:solidFill>
                <a:latin typeface="Courier New"/>
              </a:rPr>
              <a:t>catch</a:t>
            </a:r>
            <a:r>
              <a:rPr sz="1150">
                <a:solidFill>
                  <a:srgbClr val="E6EDF3"/>
                </a:solidFill>
                <a:latin typeface="Courier New"/>
              </a:rPr>
              <a:t> (InvalidVitalsException e) {</a:t>
            </a:r>
          </a:p>
          <a:p>
            <a:pPr algn="l">
              <a:spcAft>
                <a:spcPts val="0"/>
              </a:spcAft>
            </a:pPr>
            <a:r>
              <a:rPr sz="1150">
                <a:solidFill>
                  <a:srgbClr val="E6EDF3"/>
                </a:solidFill>
                <a:latin typeface="Courier New"/>
              </a:rPr>
              <a:t>    System.out.println(e.getMessage());</a:t>
            </a:r>
          </a:p>
          <a:p>
            <a:pPr algn="l">
              <a:spcAft>
                <a:spcPts val="0"/>
              </a:spcAft>
            </a:pPr>
            <a:r>
              <a:rPr sz="1150">
                <a:solidFill>
                  <a:srgbClr val="E6EDF3"/>
                </a:solidFill>
                <a:latin typeface="Courier New"/>
              </a:rPr>
              <a:t>} </a:t>
            </a:r>
            <a:r>
              <a:rPr sz="1150">
                <a:solidFill>
                  <a:srgbClr val="79C0FF"/>
                </a:solidFill>
                <a:latin typeface="Courier New"/>
              </a:rPr>
              <a:t>finally</a:t>
            </a:r>
            <a:r>
              <a:rPr sz="1150">
                <a:solidFill>
                  <a:srgbClr val="E6EDF3"/>
                </a:solidFill>
                <a:latin typeface="Courier New"/>
              </a:rPr>
              <a:t> {</a:t>
            </a:r>
          </a:p>
          <a:p>
            <a:pPr algn="l">
              <a:spcAft>
                <a:spcPts val="0"/>
              </a:spcAft>
            </a:pPr>
            <a:r>
              <a:rPr sz="1150">
                <a:solidFill>
                  <a:srgbClr val="E6EDF3"/>
                </a:solidFill>
                <a:latin typeface="Courier New"/>
              </a:rPr>
              <a:t>    sc.nextLine();</a:t>
            </a:r>
          </a:p>
          <a:p>
            <a:pPr algn="l">
              <a:spcAft>
                <a:spcPts val="0"/>
              </a:spcAft>
            </a:pPr>
            <a:r>
              <a:rPr sz="1150">
                <a:solidFill>
                  <a:srgbClr val="E6EDF3"/>
                </a:solidFill>
                <a:latin typeface="Courier New"/>
              </a:rPr>
              <a:t>}</a:t>
            </a:r>
          </a:p>
        </p:txBody>
      </p:sp>
    </p:spTree>
    <p:extLst>
      <p:ext uri="{BB962C8B-B14F-4D97-AF65-F5344CB8AC3E}">
        <p14:creationId xmlns:p14="http://schemas.microsoft.com/office/powerpoint/2010/main" val="20349745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4DDC3-4D1F-21CF-55F4-04AC539E2B86}"/>
              </a:ext>
            </a:extLst>
          </p:cNvPr>
          <p:cNvSpPr>
            <a:spLocks noGrp="1"/>
          </p:cNvSpPr>
          <p:nvPr>
            <p:ph type="title"/>
          </p:nvPr>
        </p:nvSpPr>
        <p:spPr/>
        <p:txBody>
          <a:bodyPr/>
          <a:lstStyle/>
          <a:p>
            <a:r>
              <a:rPr lang="en-IN" sz="3400" b="1" dirty="0">
                <a:solidFill>
                  <a:srgbClr val="0E2841"/>
                </a:solidFill>
              </a:rPr>
              <a:t>CO 5 Topics</a:t>
            </a:r>
          </a:p>
        </p:txBody>
      </p:sp>
      <p:sp>
        <p:nvSpPr>
          <p:cNvPr id="4" name="Date Placeholder 3">
            <a:extLst>
              <a:ext uri="{FF2B5EF4-FFF2-40B4-BE49-F238E27FC236}">
                <a16:creationId xmlns:a16="http://schemas.microsoft.com/office/drawing/2014/main" id="{84AD4194-282F-9DD3-B905-AF4DCC709072}"/>
              </a:ext>
            </a:extLst>
          </p:cNvPr>
          <p:cNvSpPr>
            <a:spLocks noGrp="1"/>
          </p:cNvSpPr>
          <p:nvPr>
            <p:ph type="dt" sz="half" idx="10"/>
          </p:nvPr>
        </p:nvSpPr>
        <p:spPr/>
        <p:txBody>
          <a:bodyPr/>
          <a:lstStyle/>
          <a:p>
            <a:fld id="{07DE2E10-B9C9-4696-8C2C-567691D9BBFD}" type="datetime1">
              <a:rPr lang="en-IN" smtClean="0"/>
              <a:t>16-10-2026</a:t>
            </a:fld>
            <a:endParaRPr lang="en-IN"/>
          </a:p>
        </p:txBody>
      </p:sp>
      <p:sp>
        <p:nvSpPr>
          <p:cNvPr id="5" name="Slide Number Placeholder 4">
            <a:extLst>
              <a:ext uri="{FF2B5EF4-FFF2-40B4-BE49-F238E27FC236}">
                <a16:creationId xmlns:a16="http://schemas.microsoft.com/office/drawing/2014/main" id="{012EFFB7-2020-7F21-31F3-A08A79B5EFF2}"/>
              </a:ext>
            </a:extLst>
          </p:cNvPr>
          <p:cNvSpPr>
            <a:spLocks noGrp="1"/>
          </p:cNvSpPr>
          <p:nvPr>
            <p:ph type="sldNum" sz="quarter" idx="12"/>
          </p:nvPr>
        </p:nvSpPr>
        <p:spPr/>
        <p:txBody>
          <a:bodyPr/>
          <a:lstStyle/>
          <a:p>
            <a:fld id="{CB012AB6-14AF-4351-87AD-D420B05274E1}" type="slidenum">
              <a:rPr lang="en-IN" smtClean="0"/>
              <a:t>10</a:t>
            </a:fld>
            <a:endParaRPr lang="en-IN"/>
          </a:p>
        </p:txBody>
      </p:sp>
      <p:sp>
        <p:nvSpPr>
          <p:cNvPr id="6" name="Topic row 1"/>
          <p:cNvSpPr/>
          <p:nvPr/>
        </p:nvSpPr>
        <p:spPr>
          <a:xfrm>
            <a:off x="841248" y="1783080"/>
            <a:ext cx="4754880" cy="700430"/>
          </a:xfrm>
          <a:prstGeom prst="roundRect">
            <a:avLst>
              <a:gd name="adj" fmla="val 8000"/>
            </a:avLst>
          </a:prstGeom>
          <a:solidFill>
            <a:srgbClr val="FFFFFF"/>
          </a:solidFill>
          <a:ln w="9525">
            <a:solidFill>
              <a:srgbClr val="E3E9EF"/>
            </a:solidFill>
          </a:ln>
          <a:effectLst>
            <a:outerShdw blurRad="76200" dist="25400" dir="5400000" algn="t" rotWithShape="0">
              <a:srgbClr val="0E2841">
                <a:alpha val="14000"/>
              </a:srgbClr>
            </a:outerShdw>
          </a:effectLst>
        </p:spPr>
        <p:txBody>
          <a:bodyPr rtlCol="0" anchor="ctr"/>
          <a:lstStyle/>
          <a:p>
            <a:pPr algn="ctr"/>
            <a:endParaRPr/>
          </a:p>
        </p:txBody>
      </p:sp>
      <p:sp>
        <p:nvSpPr>
          <p:cNvPr id="7" name="Topic number 1"/>
          <p:cNvSpPr/>
          <p:nvPr/>
        </p:nvSpPr>
        <p:spPr>
          <a:xfrm>
            <a:off x="950976" y="1968703"/>
            <a:ext cx="329184" cy="329184"/>
          </a:xfrm>
          <a:prstGeom prst="ellipse">
            <a:avLst/>
          </a:prstGeom>
          <a:solidFill>
            <a:srgbClr val="156082"/>
          </a:solidFill>
          <a:ln>
            <a:noFill/>
          </a:ln>
        </p:spPr>
        <p:txBody>
          <a:bodyPr wrap="square" lIns="0" tIns="0" rIns="0" bIns="0" rtlCol="0" anchor="ctr">
            <a:noAutofit/>
          </a:bodyPr>
          <a:lstStyle/>
          <a:p>
            <a:pPr algn="ctr">
              <a:spcAft>
                <a:spcPts val="600"/>
              </a:spcAft>
            </a:pPr>
            <a:r>
              <a:rPr sz="1300" b="1" i="0">
                <a:solidFill>
                  <a:srgbClr val="FFFFFF"/>
                </a:solidFill>
              </a:rPr>
              <a:t>1</a:t>
            </a:r>
          </a:p>
        </p:txBody>
      </p:sp>
      <p:sp>
        <p:nvSpPr>
          <p:cNvPr id="8" name="Topic text 1"/>
          <p:cNvSpPr txBox="1"/>
          <p:nvPr/>
        </p:nvSpPr>
        <p:spPr>
          <a:xfrm>
            <a:off x="1417320" y="1783080"/>
            <a:ext cx="4069080" cy="700430"/>
          </a:xfrm>
          <a:prstGeom prst="rect">
            <a:avLst/>
          </a:prstGeom>
          <a:noFill/>
        </p:spPr>
        <p:txBody>
          <a:bodyPr wrap="square" lIns="0" tIns="0" rIns="0" bIns="0" anchor="ctr">
            <a:noAutofit/>
          </a:bodyPr>
          <a:lstStyle/>
          <a:p>
            <a:pPr algn="l">
              <a:spcAft>
                <a:spcPts val="0"/>
              </a:spcAft>
            </a:pPr>
            <a:r>
              <a:rPr sz="1600" b="1" i="0">
                <a:solidFill>
                  <a:srgbClr val="0E2841"/>
                </a:solidFill>
              </a:rPr>
              <a:t>Strings and immutability</a:t>
            </a:r>
          </a:p>
          <a:p>
            <a:pPr algn="l">
              <a:spcAft>
                <a:spcPts val="0"/>
              </a:spcAft>
            </a:pPr>
            <a:r>
              <a:rPr sz="1300" b="0" i="0">
                <a:solidFill>
                  <a:srgbClr val="5B6B7F"/>
                </a:solidFill>
              </a:rPr>
              <a:t>name is a String; trim() returns a new one</a:t>
            </a:r>
          </a:p>
        </p:txBody>
      </p:sp>
      <p:sp>
        <p:nvSpPr>
          <p:cNvPr id="9" name="Topic row 2"/>
          <p:cNvSpPr/>
          <p:nvPr/>
        </p:nvSpPr>
        <p:spPr>
          <a:xfrm>
            <a:off x="841248" y="2556662"/>
            <a:ext cx="4754880" cy="700430"/>
          </a:xfrm>
          <a:prstGeom prst="roundRect">
            <a:avLst>
              <a:gd name="adj" fmla="val 8000"/>
            </a:avLst>
          </a:prstGeom>
          <a:solidFill>
            <a:srgbClr val="FFFFFF"/>
          </a:solidFill>
          <a:ln w="9525">
            <a:solidFill>
              <a:srgbClr val="E3E9EF"/>
            </a:solidFill>
          </a:ln>
          <a:effectLst>
            <a:outerShdw blurRad="76200" dist="25400" dir="5400000" algn="t" rotWithShape="0">
              <a:srgbClr val="0E2841">
                <a:alpha val="14000"/>
              </a:srgbClr>
            </a:outerShdw>
          </a:effectLst>
        </p:spPr>
        <p:txBody>
          <a:bodyPr rtlCol="0" anchor="ctr"/>
          <a:lstStyle/>
          <a:p>
            <a:pPr algn="ctr"/>
            <a:endParaRPr/>
          </a:p>
        </p:txBody>
      </p:sp>
      <p:sp>
        <p:nvSpPr>
          <p:cNvPr id="10" name="Topic number 2"/>
          <p:cNvSpPr/>
          <p:nvPr/>
        </p:nvSpPr>
        <p:spPr>
          <a:xfrm>
            <a:off x="950976" y="2742285"/>
            <a:ext cx="329184" cy="329184"/>
          </a:xfrm>
          <a:prstGeom prst="ellipse">
            <a:avLst/>
          </a:prstGeom>
          <a:solidFill>
            <a:srgbClr val="156082"/>
          </a:solidFill>
          <a:ln>
            <a:noFill/>
          </a:ln>
        </p:spPr>
        <p:txBody>
          <a:bodyPr wrap="square" lIns="0" tIns="0" rIns="0" bIns="0" rtlCol="0" anchor="ctr">
            <a:noAutofit/>
          </a:bodyPr>
          <a:lstStyle/>
          <a:p>
            <a:pPr algn="ctr">
              <a:spcAft>
                <a:spcPts val="600"/>
              </a:spcAft>
            </a:pPr>
            <a:r>
              <a:rPr sz="1300" b="1" i="0">
                <a:solidFill>
                  <a:srgbClr val="FFFFFF"/>
                </a:solidFill>
              </a:rPr>
              <a:t>2</a:t>
            </a:r>
          </a:p>
        </p:txBody>
      </p:sp>
      <p:sp>
        <p:nvSpPr>
          <p:cNvPr id="11" name="Topic text 2"/>
          <p:cNvSpPr txBox="1"/>
          <p:nvPr/>
        </p:nvSpPr>
        <p:spPr>
          <a:xfrm>
            <a:off x="1417320" y="2556662"/>
            <a:ext cx="4069080" cy="700430"/>
          </a:xfrm>
          <a:prstGeom prst="rect">
            <a:avLst/>
          </a:prstGeom>
          <a:noFill/>
        </p:spPr>
        <p:txBody>
          <a:bodyPr wrap="square" lIns="0" tIns="0" rIns="0" bIns="0" anchor="ctr">
            <a:noAutofit/>
          </a:bodyPr>
          <a:lstStyle/>
          <a:p>
            <a:pPr algn="l">
              <a:spcAft>
                <a:spcPts val="0"/>
              </a:spcAft>
            </a:pPr>
            <a:r>
              <a:rPr sz="1600" b="1" i="0">
                <a:solidFill>
                  <a:srgbClr val="0E2841"/>
                </a:solidFill>
              </a:rPr>
              <a:t>Core String operations</a:t>
            </a:r>
          </a:p>
          <a:p>
            <a:pPr algn="l">
              <a:spcAft>
                <a:spcPts val="0"/>
              </a:spcAft>
            </a:pPr>
            <a:r>
              <a:rPr sz="1300" b="0" i="0">
                <a:solidFill>
                  <a:srgbClr val="5B6B7F"/>
                </a:solidFill>
              </a:rPr>
              <a:t>trim(), isEmpty(), concatenation with +</a:t>
            </a:r>
          </a:p>
        </p:txBody>
      </p:sp>
      <p:sp>
        <p:nvSpPr>
          <p:cNvPr id="12" name="Topic row 3"/>
          <p:cNvSpPr/>
          <p:nvPr/>
        </p:nvSpPr>
        <p:spPr>
          <a:xfrm>
            <a:off x="841248" y="3330244"/>
            <a:ext cx="4754880" cy="700430"/>
          </a:xfrm>
          <a:prstGeom prst="roundRect">
            <a:avLst>
              <a:gd name="adj" fmla="val 8000"/>
            </a:avLst>
          </a:prstGeom>
          <a:solidFill>
            <a:srgbClr val="FFFFFF"/>
          </a:solidFill>
          <a:ln w="9525">
            <a:solidFill>
              <a:srgbClr val="E3E9EF"/>
            </a:solidFill>
          </a:ln>
          <a:effectLst>
            <a:outerShdw blurRad="76200" dist="25400" dir="5400000" algn="t" rotWithShape="0">
              <a:srgbClr val="0E2841">
                <a:alpha val="14000"/>
              </a:srgbClr>
            </a:outerShdw>
          </a:effectLst>
        </p:spPr>
        <p:txBody>
          <a:bodyPr rtlCol="0" anchor="ctr"/>
          <a:lstStyle/>
          <a:p>
            <a:pPr algn="ctr"/>
            <a:endParaRPr/>
          </a:p>
        </p:txBody>
      </p:sp>
      <p:sp>
        <p:nvSpPr>
          <p:cNvPr id="13" name="Topic number 3"/>
          <p:cNvSpPr/>
          <p:nvPr/>
        </p:nvSpPr>
        <p:spPr>
          <a:xfrm>
            <a:off x="950976" y="3515867"/>
            <a:ext cx="329184" cy="329184"/>
          </a:xfrm>
          <a:prstGeom prst="ellipse">
            <a:avLst/>
          </a:prstGeom>
          <a:solidFill>
            <a:srgbClr val="156082"/>
          </a:solidFill>
          <a:ln>
            <a:noFill/>
          </a:ln>
        </p:spPr>
        <p:txBody>
          <a:bodyPr wrap="square" lIns="0" tIns="0" rIns="0" bIns="0" rtlCol="0" anchor="ctr">
            <a:noAutofit/>
          </a:bodyPr>
          <a:lstStyle/>
          <a:p>
            <a:pPr algn="ctr">
              <a:spcAft>
                <a:spcPts val="600"/>
              </a:spcAft>
            </a:pPr>
            <a:r>
              <a:rPr sz="1300" b="1" i="0">
                <a:solidFill>
                  <a:srgbClr val="FFFFFF"/>
                </a:solidFill>
              </a:rPr>
              <a:t>3</a:t>
            </a:r>
          </a:p>
        </p:txBody>
      </p:sp>
      <p:sp>
        <p:nvSpPr>
          <p:cNvPr id="14" name="Topic text 3"/>
          <p:cNvSpPr txBox="1"/>
          <p:nvPr/>
        </p:nvSpPr>
        <p:spPr>
          <a:xfrm>
            <a:off x="1417320" y="3330244"/>
            <a:ext cx="4069080" cy="700430"/>
          </a:xfrm>
          <a:prstGeom prst="rect">
            <a:avLst/>
          </a:prstGeom>
          <a:noFill/>
        </p:spPr>
        <p:txBody>
          <a:bodyPr wrap="square" lIns="0" tIns="0" rIns="0" bIns="0" anchor="ctr">
            <a:noAutofit/>
          </a:bodyPr>
          <a:lstStyle/>
          <a:p>
            <a:pPr algn="l">
              <a:spcAft>
                <a:spcPts val="0"/>
              </a:spcAft>
            </a:pPr>
            <a:r>
              <a:rPr sz="1600" b="1" i="0">
                <a:solidFill>
                  <a:srgbClr val="0E2841"/>
                </a:solidFill>
              </a:rPr>
              <a:t>String comparison</a:t>
            </a:r>
          </a:p>
          <a:p>
            <a:pPr algn="l">
              <a:spcAft>
                <a:spcPts val="0"/>
              </a:spcAft>
            </a:pPr>
            <a:r>
              <a:rPr sz="1300" b="0" i="0">
                <a:solidFill>
                  <a:srgbClr val="5B6B7F"/>
                </a:solidFill>
              </a:rPr>
              <a:t>equalsIgnoreCase() in findPatient</a:t>
            </a:r>
          </a:p>
        </p:txBody>
      </p:sp>
      <p:sp>
        <p:nvSpPr>
          <p:cNvPr id="15" name="Topic row 4"/>
          <p:cNvSpPr/>
          <p:nvPr/>
        </p:nvSpPr>
        <p:spPr>
          <a:xfrm>
            <a:off x="841248" y="4103827"/>
            <a:ext cx="4754880" cy="700430"/>
          </a:xfrm>
          <a:prstGeom prst="roundRect">
            <a:avLst>
              <a:gd name="adj" fmla="val 8000"/>
            </a:avLst>
          </a:prstGeom>
          <a:solidFill>
            <a:srgbClr val="FFFFFF"/>
          </a:solidFill>
          <a:ln w="9525">
            <a:solidFill>
              <a:srgbClr val="E3E9EF"/>
            </a:solidFill>
          </a:ln>
          <a:effectLst>
            <a:outerShdw blurRad="76200" dist="25400" dir="5400000" algn="t" rotWithShape="0">
              <a:srgbClr val="0E2841">
                <a:alpha val="14000"/>
              </a:srgbClr>
            </a:outerShdw>
          </a:effectLst>
        </p:spPr>
        <p:txBody>
          <a:bodyPr rtlCol="0" anchor="ctr"/>
          <a:lstStyle/>
          <a:p>
            <a:pPr algn="ctr"/>
            <a:endParaRPr/>
          </a:p>
        </p:txBody>
      </p:sp>
      <p:sp>
        <p:nvSpPr>
          <p:cNvPr id="16" name="Topic number 4"/>
          <p:cNvSpPr/>
          <p:nvPr/>
        </p:nvSpPr>
        <p:spPr>
          <a:xfrm>
            <a:off x="950976" y="4289450"/>
            <a:ext cx="329184" cy="329184"/>
          </a:xfrm>
          <a:prstGeom prst="ellipse">
            <a:avLst/>
          </a:prstGeom>
          <a:solidFill>
            <a:srgbClr val="156082"/>
          </a:solidFill>
          <a:ln>
            <a:noFill/>
          </a:ln>
        </p:spPr>
        <p:txBody>
          <a:bodyPr wrap="square" lIns="0" tIns="0" rIns="0" bIns="0" rtlCol="0" anchor="ctr">
            <a:noAutofit/>
          </a:bodyPr>
          <a:lstStyle/>
          <a:p>
            <a:pPr algn="ctr">
              <a:spcAft>
                <a:spcPts val="600"/>
              </a:spcAft>
            </a:pPr>
            <a:r>
              <a:rPr sz="1300" b="1" i="0">
                <a:solidFill>
                  <a:srgbClr val="FFFFFF"/>
                </a:solidFill>
              </a:rPr>
              <a:t>4</a:t>
            </a:r>
          </a:p>
        </p:txBody>
      </p:sp>
      <p:sp>
        <p:nvSpPr>
          <p:cNvPr id="17" name="Topic text 4"/>
          <p:cNvSpPr txBox="1"/>
          <p:nvPr/>
        </p:nvSpPr>
        <p:spPr>
          <a:xfrm>
            <a:off x="1417320" y="4103827"/>
            <a:ext cx="4069080" cy="700430"/>
          </a:xfrm>
          <a:prstGeom prst="rect">
            <a:avLst/>
          </a:prstGeom>
          <a:noFill/>
        </p:spPr>
        <p:txBody>
          <a:bodyPr wrap="square" lIns="0" tIns="0" rIns="0" bIns="0" anchor="ctr">
            <a:noAutofit/>
          </a:bodyPr>
          <a:lstStyle/>
          <a:p>
            <a:pPr algn="l">
              <a:spcAft>
                <a:spcPts val="0"/>
              </a:spcAft>
            </a:pPr>
            <a:r>
              <a:rPr sz="1600" b="1" i="0">
                <a:solidFill>
                  <a:srgbClr val="0E2841"/>
                </a:solidFill>
              </a:rPr>
              <a:t>Ordering with Comparable</a:t>
            </a:r>
          </a:p>
          <a:p>
            <a:pPr algn="l">
              <a:spcAft>
                <a:spcPts val="0"/>
              </a:spcAft>
            </a:pPr>
            <a:r>
              <a:rPr sz="1300" b="0" i="0">
                <a:solidFill>
                  <a:srgbClr val="5B6B7F"/>
                </a:solidFill>
              </a:rPr>
              <a:t>compareTo() in Patient</a:t>
            </a:r>
          </a:p>
        </p:txBody>
      </p:sp>
      <p:sp>
        <p:nvSpPr>
          <p:cNvPr id="18" name="Topic row 5"/>
          <p:cNvSpPr/>
          <p:nvPr/>
        </p:nvSpPr>
        <p:spPr>
          <a:xfrm>
            <a:off x="841248" y="4877409"/>
            <a:ext cx="4754880" cy="700430"/>
          </a:xfrm>
          <a:prstGeom prst="roundRect">
            <a:avLst>
              <a:gd name="adj" fmla="val 8000"/>
            </a:avLst>
          </a:prstGeom>
          <a:solidFill>
            <a:srgbClr val="FFFFFF"/>
          </a:solidFill>
          <a:ln w="9525">
            <a:solidFill>
              <a:srgbClr val="E3E9EF"/>
            </a:solidFill>
          </a:ln>
          <a:effectLst>
            <a:outerShdw blurRad="76200" dist="25400" dir="5400000" algn="t" rotWithShape="0">
              <a:srgbClr val="0E2841">
                <a:alpha val="14000"/>
              </a:srgbClr>
            </a:outerShdw>
          </a:effectLst>
        </p:spPr>
        <p:txBody>
          <a:bodyPr rtlCol="0" anchor="ctr"/>
          <a:lstStyle/>
          <a:p>
            <a:pPr algn="ctr"/>
            <a:endParaRPr/>
          </a:p>
        </p:txBody>
      </p:sp>
      <p:sp>
        <p:nvSpPr>
          <p:cNvPr id="19" name="Topic number 5"/>
          <p:cNvSpPr/>
          <p:nvPr/>
        </p:nvSpPr>
        <p:spPr>
          <a:xfrm>
            <a:off x="950976" y="5063032"/>
            <a:ext cx="329184" cy="329184"/>
          </a:xfrm>
          <a:prstGeom prst="ellipse">
            <a:avLst/>
          </a:prstGeom>
          <a:solidFill>
            <a:srgbClr val="156082"/>
          </a:solidFill>
          <a:ln>
            <a:noFill/>
          </a:ln>
        </p:spPr>
        <p:txBody>
          <a:bodyPr wrap="square" lIns="0" tIns="0" rIns="0" bIns="0" rtlCol="0" anchor="ctr">
            <a:noAutofit/>
          </a:bodyPr>
          <a:lstStyle/>
          <a:p>
            <a:pPr algn="ctr">
              <a:spcAft>
                <a:spcPts val="600"/>
              </a:spcAft>
            </a:pPr>
            <a:r>
              <a:rPr sz="1300" b="1" i="0">
                <a:solidFill>
                  <a:srgbClr val="FFFFFF"/>
                </a:solidFill>
              </a:rPr>
              <a:t>5</a:t>
            </a:r>
          </a:p>
        </p:txBody>
      </p:sp>
      <p:sp>
        <p:nvSpPr>
          <p:cNvPr id="20" name="Topic text 5"/>
          <p:cNvSpPr txBox="1"/>
          <p:nvPr/>
        </p:nvSpPr>
        <p:spPr>
          <a:xfrm>
            <a:off x="1417320" y="4877409"/>
            <a:ext cx="4069080" cy="700430"/>
          </a:xfrm>
          <a:prstGeom prst="rect">
            <a:avLst/>
          </a:prstGeom>
          <a:noFill/>
        </p:spPr>
        <p:txBody>
          <a:bodyPr wrap="square" lIns="0" tIns="0" rIns="0" bIns="0" anchor="ctr">
            <a:noAutofit/>
          </a:bodyPr>
          <a:lstStyle/>
          <a:p>
            <a:pPr algn="l">
              <a:spcAft>
                <a:spcPts val="0"/>
              </a:spcAft>
            </a:pPr>
            <a:r>
              <a:rPr sz="1600" b="1" i="0">
                <a:solidFill>
                  <a:srgbClr val="0E2841"/>
                </a:solidFill>
              </a:rPr>
              <a:t>Library sorting</a:t>
            </a:r>
          </a:p>
          <a:p>
            <a:pPr algn="l">
              <a:spcAft>
                <a:spcPts val="0"/>
              </a:spcAft>
            </a:pPr>
            <a:r>
              <a:rPr sz="1300" b="0" i="0">
                <a:solidFill>
                  <a:srgbClr val="5B6B7F"/>
                </a:solidFill>
              </a:rPr>
              <a:t>Collections.sort(patients) in showQueue</a:t>
            </a:r>
          </a:p>
        </p:txBody>
      </p:sp>
      <p:sp>
        <p:nvSpPr>
          <p:cNvPr id="21" name="Not used note"/>
          <p:cNvSpPr txBox="1"/>
          <p:nvPr/>
        </p:nvSpPr>
        <p:spPr>
          <a:xfrm>
            <a:off x="841248" y="5696712"/>
            <a:ext cx="4754880" cy="365760"/>
          </a:xfrm>
          <a:prstGeom prst="rect">
            <a:avLst/>
          </a:prstGeom>
          <a:noFill/>
        </p:spPr>
        <p:txBody>
          <a:bodyPr wrap="square" lIns="0" tIns="0" rIns="0" bIns="0" anchor="t">
            <a:noAutofit/>
          </a:bodyPr>
          <a:lstStyle/>
          <a:p>
            <a:pPr algn="l">
              <a:spcAft>
                <a:spcPts val="600"/>
              </a:spcAft>
            </a:pPr>
            <a:r>
              <a:rPr sz="1200" b="0" i="1">
                <a:solidFill>
                  <a:srgbClr val="5B6B7F"/>
                </a:solidFill>
              </a:rPr>
              <a:t>Not used in this project: file I/O, StringBuilder, split(), Comparator.</a:t>
            </a:r>
          </a:p>
        </p:txBody>
      </p:sp>
      <p:sp>
        <p:nvSpPr>
          <p:cNvPr id="22" name="CO5 code A caption"/>
          <p:cNvSpPr txBox="1"/>
          <p:nvPr/>
        </p:nvSpPr>
        <p:spPr>
          <a:xfrm>
            <a:off x="5806440" y="1783080"/>
            <a:ext cx="5550408" cy="256032"/>
          </a:xfrm>
          <a:prstGeom prst="rect">
            <a:avLst/>
          </a:prstGeom>
          <a:noFill/>
        </p:spPr>
        <p:txBody>
          <a:bodyPr wrap="square" lIns="0" tIns="0" rIns="0" bIns="0" anchor="t">
            <a:noAutofit/>
          </a:bodyPr>
          <a:lstStyle/>
          <a:p>
            <a:pPr algn="l">
              <a:spcAft>
                <a:spcPts val="600"/>
              </a:spcAft>
            </a:pPr>
            <a:r>
              <a:rPr sz="1300" b="1" i="0">
                <a:solidFill>
                  <a:srgbClr val="0E2841"/>
                </a:solidFill>
              </a:rPr>
              <a:t>Sort order: category first, then higher pain</a:t>
            </a:r>
          </a:p>
        </p:txBody>
      </p:sp>
      <p:sp>
        <p:nvSpPr>
          <p:cNvPr id="23" name="CO5 code A"/>
          <p:cNvSpPr/>
          <p:nvPr/>
        </p:nvSpPr>
        <p:spPr>
          <a:xfrm>
            <a:off x="5806440" y="2057400"/>
            <a:ext cx="5550408" cy="1193292"/>
          </a:xfrm>
          <a:prstGeom prst="roundRect">
            <a:avLst>
              <a:gd name="adj" fmla="val 4000"/>
            </a:avLst>
          </a:prstGeom>
          <a:solidFill>
            <a:srgbClr val="0D1117"/>
          </a:solidFill>
          <a:ln>
            <a:noFill/>
          </a:ln>
        </p:spPr>
        <p:txBody>
          <a:bodyPr wrap="square" lIns="137160" tIns="109728" rIns="137160" bIns="109728" rtlCol="0" anchor="t">
            <a:noAutofit/>
          </a:bodyPr>
          <a:lstStyle/>
          <a:p>
            <a:pPr algn="l">
              <a:spcAft>
                <a:spcPts val="0"/>
              </a:spcAft>
            </a:pPr>
            <a:r>
              <a:rPr sz="1150">
                <a:solidFill>
                  <a:srgbClr val="79C0FF"/>
                </a:solidFill>
                <a:latin typeface="Courier New"/>
              </a:rPr>
              <a:t>public</a:t>
            </a:r>
            <a:r>
              <a:rPr sz="1150">
                <a:solidFill>
                  <a:srgbClr val="E6EDF3"/>
                </a:solidFill>
                <a:latin typeface="Courier New"/>
              </a:rPr>
              <a:t> </a:t>
            </a:r>
            <a:r>
              <a:rPr sz="1150">
                <a:solidFill>
                  <a:srgbClr val="79C0FF"/>
                </a:solidFill>
                <a:latin typeface="Courier New"/>
              </a:rPr>
              <a:t>int</a:t>
            </a:r>
            <a:r>
              <a:rPr sz="1150">
                <a:solidFill>
                  <a:srgbClr val="E6EDF3"/>
                </a:solidFill>
                <a:latin typeface="Courier New"/>
              </a:rPr>
              <a:t> compareTo(Patient other) {</a:t>
            </a:r>
          </a:p>
          <a:p>
            <a:pPr algn="l">
              <a:spcAft>
                <a:spcPts val="0"/>
              </a:spcAft>
            </a:pPr>
            <a:r>
              <a:rPr sz="1150">
                <a:solidFill>
                  <a:srgbClr val="E6EDF3"/>
                </a:solidFill>
                <a:latin typeface="Courier New"/>
              </a:rPr>
              <a:t>    </a:t>
            </a:r>
            <a:r>
              <a:rPr sz="1150">
                <a:solidFill>
                  <a:srgbClr val="79C0FF"/>
                </a:solidFill>
                <a:latin typeface="Courier New"/>
              </a:rPr>
              <a:t>if</a:t>
            </a:r>
            <a:r>
              <a:rPr sz="1150">
                <a:solidFill>
                  <a:srgbClr val="E6EDF3"/>
                </a:solidFill>
                <a:latin typeface="Courier New"/>
              </a:rPr>
              <a:t> (getCategory() != other.getCategory())</a:t>
            </a:r>
          </a:p>
          <a:p>
            <a:pPr algn="l">
              <a:spcAft>
                <a:spcPts val="0"/>
              </a:spcAft>
            </a:pPr>
            <a:r>
              <a:rPr sz="1150">
                <a:solidFill>
                  <a:srgbClr val="E6EDF3"/>
                </a:solidFill>
                <a:latin typeface="Courier New"/>
              </a:rPr>
              <a:t>        </a:t>
            </a:r>
            <a:r>
              <a:rPr sz="1150">
                <a:solidFill>
                  <a:srgbClr val="79C0FF"/>
                </a:solidFill>
                <a:latin typeface="Courier New"/>
              </a:rPr>
              <a:t>return</a:t>
            </a:r>
            <a:r>
              <a:rPr sz="1150">
                <a:solidFill>
                  <a:srgbClr val="E6EDF3"/>
                </a:solidFill>
                <a:latin typeface="Courier New"/>
              </a:rPr>
              <a:t> getCategory() - other.getCategory();</a:t>
            </a:r>
          </a:p>
          <a:p>
            <a:pPr algn="l">
              <a:spcAft>
                <a:spcPts val="0"/>
              </a:spcAft>
            </a:pPr>
            <a:r>
              <a:rPr sz="1150">
                <a:solidFill>
                  <a:srgbClr val="E6EDF3"/>
                </a:solidFill>
                <a:latin typeface="Courier New"/>
              </a:rPr>
              <a:t>    </a:t>
            </a:r>
            <a:r>
              <a:rPr sz="1150">
                <a:solidFill>
                  <a:srgbClr val="79C0FF"/>
                </a:solidFill>
                <a:latin typeface="Courier New"/>
              </a:rPr>
              <a:t>return</a:t>
            </a:r>
            <a:r>
              <a:rPr sz="1150">
                <a:solidFill>
                  <a:srgbClr val="E6EDF3"/>
                </a:solidFill>
                <a:latin typeface="Courier New"/>
              </a:rPr>
              <a:t> other.pain - pain;</a:t>
            </a:r>
          </a:p>
          <a:p>
            <a:pPr algn="l">
              <a:spcAft>
                <a:spcPts val="0"/>
              </a:spcAft>
            </a:pPr>
            <a:r>
              <a:rPr sz="1150">
                <a:solidFill>
                  <a:srgbClr val="E6EDF3"/>
                </a:solidFill>
                <a:latin typeface="Courier New"/>
              </a:rPr>
              <a:t>}</a:t>
            </a:r>
          </a:p>
        </p:txBody>
      </p:sp>
      <p:sp>
        <p:nvSpPr>
          <p:cNvPr id="24" name="CO5 code B caption"/>
          <p:cNvSpPr txBox="1"/>
          <p:nvPr/>
        </p:nvSpPr>
        <p:spPr>
          <a:xfrm>
            <a:off x="5806440" y="3342132"/>
            <a:ext cx="5550408" cy="256032"/>
          </a:xfrm>
          <a:prstGeom prst="rect">
            <a:avLst/>
          </a:prstGeom>
          <a:noFill/>
        </p:spPr>
        <p:txBody>
          <a:bodyPr wrap="square" lIns="0" tIns="0" rIns="0" bIns="0" anchor="t">
            <a:noAutofit/>
          </a:bodyPr>
          <a:lstStyle/>
          <a:p>
            <a:pPr algn="l">
              <a:spcAft>
                <a:spcPts val="600"/>
              </a:spcAft>
            </a:pPr>
            <a:r>
              <a:rPr sz="1300" b="1" i="0">
                <a:solidFill>
                  <a:srgbClr val="0E2841"/>
                </a:solidFill>
              </a:rPr>
              <a:t>Trim input, then sort the list</a:t>
            </a:r>
          </a:p>
        </p:txBody>
      </p:sp>
      <p:sp>
        <p:nvSpPr>
          <p:cNvPr id="25" name="CO5 code B"/>
          <p:cNvSpPr/>
          <p:nvPr/>
        </p:nvSpPr>
        <p:spPr>
          <a:xfrm>
            <a:off x="5806440" y="3616451"/>
            <a:ext cx="5550408" cy="630936"/>
          </a:xfrm>
          <a:prstGeom prst="roundRect">
            <a:avLst>
              <a:gd name="adj" fmla="val 4000"/>
            </a:avLst>
          </a:prstGeom>
          <a:solidFill>
            <a:srgbClr val="0D1117"/>
          </a:solidFill>
          <a:ln>
            <a:noFill/>
          </a:ln>
        </p:spPr>
        <p:txBody>
          <a:bodyPr wrap="square" lIns="137160" tIns="109728" rIns="137160" bIns="109728" rtlCol="0" anchor="t">
            <a:noAutofit/>
          </a:bodyPr>
          <a:lstStyle/>
          <a:p>
            <a:pPr algn="l">
              <a:spcAft>
                <a:spcPts val="0"/>
              </a:spcAft>
            </a:pPr>
            <a:r>
              <a:rPr sz="1150">
                <a:solidFill>
                  <a:srgbClr val="E6EDF3"/>
                </a:solidFill>
                <a:latin typeface="Courier New"/>
              </a:rPr>
              <a:t>name = sc.nextLine().trim();</a:t>
            </a:r>
          </a:p>
          <a:p>
            <a:pPr algn="l">
              <a:spcAft>
                <a:spcPts val="0"/>
              </a:spcAft>
            </a:pPr>
            <a:r>
              <a:rPr sz="1150">
                <a:solidFill>
                  <a:srgbClr val="E6EDF3"/>
                </a:solidFill>
                <a:latin typeface="Courier New"/>
              </a:rPr>
              <a:t>Collections.sort(patients);</a:t>
            </a:r>
          </a:p>
        </p:txBody>
      </p:sp>
    </p:spTree>
    <p:extLst>
      <p:ext uri="{BB962C8B-B14F-4D97-AF65-F5344CB8AC3E}">
        <p14:creationId xmlns:p14="http://schemas.microsoft.com/office/powerpoint/2010/main" val="23773685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7C36F-68C1-38D5-BFA7-072938C7FF01}"/>
              </a:ext>
            </a:extLst>
          </p:cNvPr>
          <p:cNvSpPr>
            <a:spLocks noGrp="1"/>
          </p:cNvSpPr>
          <p:nvPr>
            <p:ph type="title"/>
          </p:nvPr>
        </p:nvSpPr>
        <p:spPr/>
        <p:txBody>
          <a:bodyPr/>
          <a:lstStyle/>
          <a:p>
            <a:r>
              <a:rPr lang="en-IN" sz="3400" b="1" dirty="0">
                <a:solidFill>
                  <a:srgbClr val="0E2841"/>
                </a:solidFill>
              </a:rPr>
              <a:t>CO 6 Topics</a:t>
            </a:r>
          </a:p>
        </p:txBody>
      </p:sp>
      <p:sp>
        <p:nvSpPr>
          <p:cNvPr id="4" name="Date Placeholder 3">
            <a:extLst>
              <a:ext uri="{FF2B5EF4-FFF2-40B4-BE49-F238E27FC236}">
                <a16:creationId xmlns:a16="http://schemas.microsoft.com/office/drawing/2014/main" id="{FCA7D639-42E4-340C-86C7-AC49E0E499A2}"/>
              </a:ext>
            </a:extLst>
          </p:cNvPr>
          <p:cNvSpPr>
            <a:spLocks noGrp="1"/>
          </p:cNvSpPr>
          <p:nvPr>
            <p:ph type="dt" sz="half" idx="10"/>
          </p:nvPr>
        </p:nvSpPr>
        <p:spPr/>
        <p:txBody>
          <a:bodyPr/>
          <a:lstStyle/>
          <a:p>
            <a:fld id="{07DE2E10-B9C9-4696-8C2C-567691D9BBFD}" type="datetime1">
              <a:rPr lang="en-IN" smtClean="0"/>
              <a:t>16-10-2026</a:t>
            </a:fld>
            <a:endParaRPr lang="en-IN"/>
          </a:p>
        </p:txBody>
      </p:sp>
      <p:sp>
        <p:nvSpPr>
          <p:cNvPr id="5" name="Slide Number Placeholder 4">
            <a:extLst>
              <a:ext uri="{FF2B5EF4-FFF2-40B4-BE49-F238E27FC236}">
                <a16:creationId xmlns:a16="http://schemas.microsoft.com/office/drawing/2014/main" id="{49D618D2-09FF-1F94-1B2A-BA5BD90DF337}"/>
              </a:ext>
            </a:extLst>
          </p:cNvPr>
          <p:cNvSpPr>
            <a:spLocks noGrp="1"/>
          </p:cNvSpPr>
          <p:nvPr>
            <p:ph type="sldNum" sz="quarter" idx="12"/>
          </p:nvPr>
        </p:nvSpPr>
        <p:spPr/>
        <p:txBody>
          <a:bodyPr/>
          <a:lstStyle/>
          <a:p>
            <a:fld id="{CB012AB6-14AF-4351-87AD-D420B05274E1}" type="slidenum">
              <a:rPr lang="en-IN" smtClean="0"/>
              <a:t>11</a:t>
            </a:fld>
            <a:endParaRPr lang="en-IN"/>
          </a:p>
        </p:txBody>
      </p:sp>
      <p:sp>
        <p:nvSpPr>
          <p:cNvPr id="6" name="Topic row 1"/>
          <p:cNvSpPr/>
          <p:nvPr/>
        </p:nvSpPr>
        <p:spPr>
          <a:xfrm>
            <a:off x="841248" y="1783080"/>
            <a:ext cx="4754880" cy="731520"/>
          </a:xfrm>
          <a:prstGeom prst="roundRect">
            <a:avLst>
              <a:gd name="adj" fmla="val 8000"/>
            </a:avLst>
          </a:prstGeom>
          <a:solidFill>
            <a:srgbClr val="FFFFFF"/>
          </a:solidFill>
          <a:ln w="9525">
            <a:solidFill>
              <a:srgbClr val="E3E9EF"/>
            </a:solidFill>
          </a:ln>
          <a:effectLst>
            <a:outerShdw blurRad="76200" dist="25400" dir="5400000" algn="t" rotWithShape="0">
              <a:srgbClr val="0E2841">
                <a:alpha val="14000"/>
              </a:srgbClr>
            </a:outerShdw>
          </a:effectLst>
        </p:spPr>
        <p:txBody>
          <a:bodyPr rtlCol="0" anchor="ctr"/>
          <a:lstStyle/>
          <a:p>
            <a:pPr algn="ctr"/>
            <a:endParaRPr/>
          </a:p>
        </p:txBody>
      </p:sp>
      <p:sp>
        <p:nvSpPr>
          <p:cNvPr id="7" name="Topic number 1"/>
          <p:cNvSpPr/>
          <p:nvPr/>
        </p:nvSpPr>
        <p:spPr>
          <a:xfrm>
            <a:off x="950976" y="1984248"/>
            <a:ext cx="329184" cy="329184"/>
          </a:xfrm>
          <a:prstGeom prst="ellipse">
            <a:avLst/>
          </a:prstGeom>
          <a:solidFill>
            <a:srgbClr val="156082"/>
          </a:solidFill>
          <a:ln>
            <a:noFill/>
          </a:ln>
        </p:spPr>
        <p:txBody>
          <a:bodyPr wrap="square" lIns="0" tIns="0" rIns="0" bIns="0" rtlCol="0" anchor="ctr">
            <a:noAutofit/>
          </a:bodyPr>
          <a:lstStyle/>
          <a:p>
            <a:pPr algn="ctr">
              <a:spcAft>
                <a:spcPts val="600"/>
              </a:spcAft>
            </a:pPr>
            <a:r>
              <a:rPr sz="1300" b="1" i="0">
                <a:solidFill>
                  <a:srgbClr val="FFFFFF"/>
                </a:solidFill>
              </a:rPr>
              <a:t>1</a:t>
            </a:r>
          </a:p>
        </p:txBody>
      </p:sp>
      <p:sp>
        <p:nvSpPr>
          <p:cNvPr id="8" name="Topic text 1"/>
          <p:cNvSpPr txBox="1"/>
          <p:nvPr/>
        </p:nvSpPr>
        <p:spPr>
          <a:xfrm>
            <a:off x="1417320" y="1783080"/>
            <a:ext cx="4069080" cy="731520"/>
          </a:xfrm>
          <a:prstGeom prst="rect">
            <a:avLst/>
          </a:prstGeom>
          <a:noFill/>
        </p:spPr>
        <p:txBody>
          <a:bodyPr wrap="square" lIns="0" tIns="0" rIns="0" bIns="0" anchor="ctr">
            <a:noAutofit/>
          </a:bodyPr>
          <a:lstStyle/>
          <a:p>
            <a:pPr algn="l">
              <a:spcAft>
                <a:spcPts val="0"/>
              </a:spcAft>
            </a:pPr>
            <a:r>
              <a:rPr sz="1600" b="1" i="0">
                <a:solidFill>
                  <a:srgbClr val="0E2841"/>
                </a:solidFill>
              </a:rPr>
              <a:t>Collections: List</a:t>
            </a:r>
          </a:p>
          <a:p>
            <a:pPr algn="l">
              <a:spcAft>
                <a:spcPts val="0"/>
              </a:spcAft>
            </a:pPr>
            <a:r>
              <a:rPr sz="1300" b="0" i="0">
                <a:solidFill>
                  <a:srgbClr val="5B6B7F"/>
                </a:solidFill>
              </a:rPr>
              <a:t>ArrayList&lt;Patient&gt; stores all patients</a:t>
            </a:r>
          </a:p>
        </p:txBody>
      </p:sp>
      <p:sp>
        <p:nvSpPr>
          <p:cNvPr id="9" name="Topic row 2"/>
          <p:cNvSpPr/>
          <p:nvPr/>
        </p:nvSpPr>
        <p:spPr>
          <a:xfrm>
            <a:off x="841248" y="2587752"/>
            <a:ext cx="4754880" cy="731520"/>
          </a:xfrm>
          <a:prstGeom prst="roundRect">
            <a:avLst>
              <a:gd name="adj" fmla="val 8000"/>
            </a:avLst>
          </a:prstGeom>
          <a:solidFill>
            <a:srgbClr val="FFFFFF"/>
          </a:solidFill>
          <a:ln w="9525">
            <a:solidFill>
              <a:srgbClr val="E3E9EF"/>
            </a:solidFill>
          </a:ln>
          <a:effectLst>
            <a:outerShdw blurRad="76200" dist="25400" dir="5400000" algn="t" rotWithShape="0">
              <a:srgbClr val="0E2841">
                <a:alpha val="14000"/>
              </a:srgbClr>
            </a:outerShdw>
          </a:effectLst>
        </p:spPr>
        <p:txBody>
          <a:bodyPr rtlCol="0" anchor="ctr"/>
          <a:lstStyle/>
          <a:p>
            <a:pPr algn="ctr"/>
            <a:endParaRPr/>
          </a:p>
        </p:txBody>
      </p:sp>
      <p:sp>
        <p:nvSpPr>
          <p:cNvPr id="10" name="Topic number 2"/>
          <p:cNvSpPr/>
          <p:nvPr/>
        </p:nvSpPr>
        <p:spPr>
          <a:xfrm>
            <a:off x="950976" y="2788920"/>
            <a:ext cx="329184" cy="329184"/>
          </a:xfrm>
          <a:prstGeom prst="ellipse">
            <a:avLst/>
          </a:prstGeom>
          <a:solidFill>
            <a:srgbClr val="156082"/>
          </a:solidFill>
          <a:ln>
            <a:noFill/>
          </a:ln>
        </p:spPr>
        <p:txBody>
          <a:bodyPr wrap="square" lIns="0" tIns="0" rIns="0" bIns="0" rtlCol="0" anchor="ctr">
            <a:noAutofit/>
          </a:bodyPr>
          <a:lstStyle/>
          <a:p>
            <a:pPr algn="ctr">
              <a:spcAft>
                <a:spcPts val="600"/>
              </a:spcAft>
            </a:pPr>
            <a:r>
              <a:rPr sz="1300" b="1" i="0">
                <a:solidFill>
                  <a:srgbClr val="FFFFFF"/>
                </a:solidFill>
              </a:rPr>
              <a:t>2</a:t>
            </a:r>
          </a:p>
        </p:txBody>
      </p:sp>
      <p:sp>
        <p:nvSpPr>
          <p:cNvPr id="11" name="Topic text 2"/>
          <p:cNvSpPr txBox="1"/>
          <p:nvPr/>
        </p:nvSpPr>
        <p:spPr>
          <a:xfrm>
            <a:off x="1417320" y="2587752"/>
            <a:ext cx="4069080" cy="731520"/>
          </a:xfrm>
          <a:prstGeom prst="rect">
            <a:avLst/>
          </a:prstGeom>
          <a:noFill/>
        </p:spPr>
        <p:txBody>
          <a:bodyPr wrap="square" lIns="0" tIns="0" rIns="0" bIns="0" anchor="ctr">
            <a:noAutofit/>
          </a:bodyPr>
          <a:lstStyle/>
          <a:p>
            <a:pPr algn="l">
              <a:spcAft>
                <a:spcPts val="0"/>
              </a:spcAft>
            </a:pPr>
            <a:r>
              <a:rPr sz="1600" b="1" i="0">
                <a:solidFill>
                  <a:srgbClr val="0E2841"/>
                </a:solidFill>
              </a:rPr>
              <a:t>Generics</a:t>
            </a:r>
          </a:p>
          <a:p>
            <a:pPr algn="l">
              <a:spcAft>
                <a:spcPts val="0"/>
              </a:spcAft>
            </a:pPr>
            <a:r>
              <a:rPr sz="1300" b="0" i="0">
                <a:solidFill>
                  <a:srgbClr val="5B6B7F"/>
                </a:solidFill>
              </a:rPr>
              <a:t>ArrayList&lt;Patient&gt;, Comparable&lt;Patient&gt;</a:t>
            </a:r>
          </a:p>
        </p:txBody>
      </p:sp>
      <p:sp>
        <p:nvSpPr>
          <p:cNvPr id="12" name="Topic row 3"/>
          <p:cNvSpPr/>
          <p:nvPr/>
        </p:nvSpPr>
        <p:spPr>
          <a:xfrm>
            <a:off x="841248" y="3392424"/>
            <a:ext cx="4754880" cy="731520"/>
          </a:xfrm>
          <a:prstGeom prst="roundRect">
            <a:avLst>
              <a:gd name="adj" fmla="val 8000"/>
            </a:avLst>
          </a:prstGeom>
          <a:solidFill>
            <a:srgbClr val="FFFFFF"/>
          </a:solidFill>
          <a:ln w="9525">
            <a:solidFill>
              <a:srgbClr val="E3E9EF"/>
            </a:solidFill>
          </a:ln>
          <a:effectLst>
            <a:outerShdw blurRad="76200" dist="25400" dir="5400000" algn="t" rotWithShape="0">
              <a:srgbClr val="0E2841">
                <a:alpha val="14000"/>
              </a:srgbClr>
            </a:outerShdw>
          </a:effectLst>
        </p:spPr>
        <p:txBody>
          <a:bodyPr rtlCol="0" anchor="ctr"/>
          <a:lstStyle/>
          <a:p>
            <a:pPr algn="ctr"/>
            <a:endParaRPr/>
          </a:p>
        </p:txBody>
      </p:sp>
      <p:sp>
        <p:nvSpPr>
          <p:cNvPr id="13" name="Topic number 3"/>
          <p:cNvSpPr/>
          <p:nvPr/>
        </p:nvSpPr>
        <p:spPr>
          <a:xfrm>
            <a:off x="950976" y="3593592"/>
            <a:ext cx="329184" cy="329184"/>
          </a:xfrm>
          <a:prstGeom prst="ellipse">
            <a:avLst/>
          </a:prstGeom>
          <a:solidFill>
            <a:srgbClr val="156082"/>
          </a:solidFill>
          <a:ln>
            <a:noFill/>
          </a:ln>
        </p:spPr>
        <p:txBody>
          <a:bodyPr wrap="square" lIns="0" tIns="0" rIns="0" bIns="0" rtlCol="0" anchor="ctr">
            <a:noAutofit/>
          </a:bodyPr>
          <a:lstStyle/>
          <a:p>
            <a:pPr algn="ctr">
              <a:spcAft>
                <a:spcPts val="600"/>
              </a:spcAft>
            </a:pPr>
            <a:r>
              <a:rPr sz="1300" b="1" i="0">
                <a:solidFill>
                  <a:srgbClr val="FFFFFF"/>
                </a:solidFill>
              </a:rPr>
              <a:t>3</a:t>
            </a:r>
          </a:p>
        </p:txBody>
      </p:sp>
      <p:sp>
        <p:nvSpPr>
          <p:cNvPr id="14" name="Topic text 3"/>
          <p:cNvSpPr txBox="1"/>
          <p:nvPr/>
        </p:nvSpPr>
        <p:spPr>
          <a:xfrm>
            <a:off x="1417320" y="3392424"/>
            <a:ext cx="4069080" cy="731520"/>
          </a:xfrm>
          <a:prstGeom prst="rect">
            <a:avLst/>
          </a:prstGeom>
          <a:noFill/>
        </p:spPr>
        <p:txBody>
          <a:bodyPr wrap="square" lIns="0" tIns="0" rIns="0" bIns="0" anchor="ctr">
            <a:noAutofit/>
          </a:bodyPr>
          <a:lstStyle/>
          <a:p>
            <a:pPr algn="l">
              <a:spcAft>
                <a:spcPts val="0"/>
              </a:spcAft>
            </a:pPr>
            <a:r>
              <a:rPr sz="1600" b="1" i="0">
                <a:solidFill>
                  <a:srgbClr val="0E2841"/>
                </a:solidFill>
              </a:rPr>
              <a:t>List operations</a:t>
            </a:r>
          </a:p>
          <a:p>
            <a:pPr algn="l">
              <a:spcAft>
                <a:spcPts val="0"/>
              </a:spcAft>
            </a:pPr>
            <a:r>
              <a:rPr sz="1300" b="0" i="0">
                <a:solidFill>
                  <a:srgbClr val="5B6B7F"/>
                </a:solidFill>
              </a:rPr>
              <a:t>add, get, size, isEmpty</a:t>
            </a:r>
          </a:p>
        </p:txBody>
      </p:sp>
      <p:sp>
        <p:nvSpPr>
          <p:cNvPr id="15" name="Topic row 4"/>
          <p:cNvSpPr/>
          <p:nvPr/>
        </p:nvSpPr>
        <p:spPr>
          <a:xfrm>
            <a:off x="841248" y="4197096"/>
            <a:ext cx="4754880" cy="731520"/>
          </a:xfrm>
          <a:prstGeom prst="roundRect">
            <a:avLst>
              <a:gd name="adj" fmla="val 8000"/>
            </a:avLst>
          </a:prstGeom>
          <a:solidFill>
            <a:srgbClr val="FFFFFF"/>
          </a:solidFill>
          <a:ln w="9525">
            <a:solidFill>
              <a:srgbClr val="E3E9EF"/>
            </a:solidFill>
          </a:ln>
          <a:effectLst>
            <a:outerShdw blurRad="76200" dist="25400" dir="5400000" algn="t" rotWithShape="0">
              <a:srgbClr val="0E2841">
                <a:alpha val="14000"/>
              </a:srgbClr>
            </a:outerShdw>
          </a:effectLst>
        </p:spPr>
        <p:txBody>
          <a:bodyPr rtlCol="0" anchor="ctr"/>
          <a:lstStyle/>
          <a:p>
            <a:pPr algn="ctr"/>
            <a:endParaRPr/>
          </a:p>
        </p:txBody>
      </p:sp>
      <p:sp>
        <p:nvSpPr>
          <p:cNvPr id="16" name="Topic number 4"/>
          <p:cNvSpPr/>
          <p:nvPr/>
        </p:nvSpPr>
        <p:spPr>
          <a:xfrm>
            <a:off x="950976" y="4398264"/>
            <a:ext cx="329184" cy="329184"/>
          </a:xfrm>
          <a:prstGeom prst="ellipse">
            <a:avLst/>
          </a:prstGeom>
          <a:solidFill>
            <a:srgbClr val="156082"/>
          </a:solidFill>
          <a:ln>
            <a:noFill/>
          </a:ln>
        </p:spPr>
        <p:txBody>
          <a:bodyPr wrap="square" lIns="0" tIns="0" rIns="0" bIns="0" rtlCol="0" anchor="ctr">
            <a:noAutofit/>
          </a:bodyPr>
          <a:lstStyle/>
          <a:p>
            <a:pPr algn="ctr">
              <a:spcAft>
                <a:spcPts val="600"/>
              </a:spcAft>
            </a:pPr>
            <a:r>
              <a:rPr sz="1300" b="1" i="0">
                <a:solidFill>
                  <a:srgbClr val="FFFFFF"/>
                </a:solidFill>
              </a:rPr>
              <a:t>4</a:t>
            </a:r>
          </a:p>
        </p:txBody>
      </p:sp>
      <p:sp>
        <p:nvSpPr>
          <p:cNvPr id="17" name="Topic text 4"/>
          <p:cNvSpPr txBox="1"/>
          <p:nvPr/>
        </p:nvSpPr>
        <p:spPr>
          <a:xfrm>
            <a:off x="1417320" y="4197096"/>
            <a:ext cx="4069080" cy="731520"/>
          </a:xfrm>
          <a:prstGeom prst="rect">
            <a:avLst/>
          </a:prstGeom>
          <a:noFill/>
        </p:spPr>
        <p:txBody>
          <a:bodyPr wrap="square" lIns="0" tIns="0" rIns="0" bIns="0" anchor="ctr">
            <a:noAutofit/>
          </a:bodyPr>
          <a:lstStyle/>
          <a:p>
            <a:pPr algn="l">
              <a:spcAft>
                <a:spcPts val="0"/>
              </a:spcAft>
            </a:pPr>
            <a:r>
              <a:rPr sz="1600" b="1" i="0">
                <a:solidFill>
                  <a:srgbClr val="0E2841"/>
                </a:solidFill>
              </a:rPr>
              <a:t>Iterating collections</a:t>
            </a:r>
          </a:p>
          <a:p>
            <a:pPr algn="l">
              <a:spcAft>
                <a:spcPts val="0"/>
              </a:spcAft>
            </a:pPr>
            <a:r>
              <a:rPr sz="1300" b="0" i="0">
                <a:solidFill>
                  <a:srgbClr val="5B6B7F"/>
                </a:solidFill>
              </a:rPr>
              <a:t>for-each loop and indexed for loop</a:t>
            </a:r>
          </a:p>
        </p:txBody>
      </p:sp>
      <p:sp>
        <p:nvSpPr>
          <p:cNvPr id="18" name="Not used note"/>
          <p:cNvSpPr txBox="1"/>
          <p:nvPr/>
        </p:nvSpPr>
        <p:spPr>
          <a:xfrm>
            <a:off x="841248" y="5047488"/>
            <a:ext cx="4754880" cy="365760"/>
          </a:xfrm>
          <a:prstGeom prst="rect">
            <a:avLst/>
          </a:prstGeom>
          <a:noFill/>
        </p:spPr>
        <p:txBody>
          <a:bodyPr wrap="square" lIns="0" tIns="0" rIns="0" bIns="0" anchor="t">
            <a:noAutofit/>
          </a:bodyPr>
          <a:lstStyle/>
          <a:p>
            <a:pPr algn="l">
              <a:spcAft>
                <a:spcPts val="600"/>
              </a:spcAft>
            </a:pPr>
            <a:r>
              <a:rPr sz="1200" b="0" i="1">
                <a:solidFill>
                  <a:srgbClr val="5B6B7F"/>
                </a:solidFill>
              </a:rPr>
              <a:t>Not used in this project: HashMap, HashSet, lambdas, streams.</a:t>
            </a:r>
          </a:p>
        </p:txBody>
      </p:sp>
      <p:sp>
        <p:nvSpPr>
          <p:cNvPr id="19" name="Chips caption"/>
          <p:cNvSpPr txBox="1"/>
          <p:nvPr/>
        </p:nvSpPr>
        <p:spPr>
          <a:xfrm>
            <a:off x="5806440" y="1783080"/>
            <a:ext cx="5550408" cy="256032"/>
          </a:xfrm>
          <a:prstGeom prst="rect">
            <a:avLst/>
          </a:prstGeom>
          <a:noFill/>
        </p:spPr>
        <p:txBody>
          <a:bodyPr wrap="square" lIns="0" tIns="0" rIns="0" bIns="0" anchor="t">
            <a:noAutofit/>
          </a:bodyPr>
          <a:lstStyle/>
          <a:p>
            <a:pPr algn="l">
              <a:spcAft>
                <a:spcPts val="600"/>
              </a:spcAft>
            </a:pPr>
            <a:r>
              <a:rPr sz="1300" b="1" i="0">
                <a:solidFill>
                  <a:srgbClr val="0E2841"/>
                </a:solidFill>
              </a:rPr>
              <a:t>patients (sorted treatment queue)</a:t>
            </a:r>
          </a:p>
        </p:txBody>
      </p:sp>
      <p:sp>
        <p:nvSpPr>
          <p:cNvPr id="20" name="List chip Kiran"/>
          <p:cNvSpPr/>
          <p:nvPr/>
        </p:nvSpPr>
        <p:spPr>
          <a:xfrm>
            <a:off x="5806440" y="2103120"/>
            <a:ext cx="1280160" cy="822960"/>
          </a:xfrm>
          <a:prstGeom prst="roundRect">
            <a:avLst>
              <a:gd name="adj" fmla="val 8000"/>
            </a:avLst>
          </a:prstGeom>
          <a:solidFill>
            <a:srgbClr val="E5484D"/>
          </a:solidFill>
          <a:ln>
            <a:noFill/>
          </a:ln>
        </p:spPr>
        <p:txBody>
          <a:bodyPr wrap="square" lIns="0" tIns="0" rIns="0" bIns="0" rtlCol="0" anchor="ctr">
            <a:noAutofit/>
          </a:bodyPr>
          <a:lstStyle/>
          <a:p>
            <a:pPr algn="ctr">
              <a:spcAft>
                <a:spcPts val="0"/>
              </a:spcAft>
            </a:pPr>
            <a:r>
              <a:rPr sz="1500" b="1" i="0">
                <a:solidFill>
                  <a:srgbClr val="FFFFFF"/>
                </a:solidFill>
              </a:rPr>
              <a:t>Kiran</a:t>
            </a:r>
          </a:p>
          <a:p>
            <a:pPr algn="ctr">
              <a:spcAft>
                <a:spcPts val="0"/>
              </a:spcAft>
            </a:pPr>
            <a:r>
              <a:rPr sz="1200" b="0" i="0">
                <a:solidFill>
                  <a:srgbClr val="FFFFFF"/>
                </a:solidFill>
              </a:rPr>
              <a:t>RED</a:t>
            </a:r>
          </a:p>
        </p:txBody>
      </p:sp>
      <p:sp>
        <p:nvSpPr>
          <p:cNvPr id="21" name="List chip Meena"/>
          <p:cNvSpPr/>
          <p:nvPr/>
        </p:nvSpPr>
        <p:spPr>
          <a:xfrm>
            <a:off x="7178040" y="2103120"/>
            <a:ext cx="1280160" cy="822960"/>
          </a:xfrm>
          <a:prstGeom prst="roundRect">
            <a:avLst>
              <a:gd name="adj" fmla="val 8000"/>
            </a:avLst>
          </a:prstGeom>
          <a:solidFill>
            <a:srgbClr val="F2A900"/>
          </a:solidFill>
          <a:ln>
            <a:noFill/>
          </a:ln>
        </p:spPr>
        <p:txBody>
          <a:bodyPr wrap="square" lIns="0" tIns="0" rIns="0" bIns="0" rtlCol="0" anchor="ctr">
            <a:noAutofit/>
          </a:bodyPr>
          <a:lstStyle/>
          <a:p>
            <a:pPr algn="ctr">
              <a:spcAft>
                <a:spcPts val="0"/>
              </a:spcAft>
            </a:pPr>
            <a:r>
              <a:rPr sz="1500" b="1" i="0">
                <a:solidFill>
                  <a:srgbClr val="1F2933"/>
                </a:solidFill>
              </a:rPr>
              <a:t>Meena</a:t>
            </a:r>
          </a:p>
          <a:p>
            <a:pPr algn="ctr">
              <a:spcAft>
                <a:spcPts val="0"/>
              </a:spcAft>
            </a:pPr>
            <a:r>
              <a:rPr sz="1200" b="0" i="0">
                <a:solidFill>
                  <a:srgbClr val="1F2933"/>
                </a:solidFill>
              </a:rPr>
              <a:t>YELLOW</a:t>
            </a:r>
          </a:p>
        </p:txBody>
      </p:sp>
      <p:sp>
        <p:nvSpPr>
          <p:cNvPr id="22" name="List chip Rahul"/>
          <p:cNvSpPr/>
          <p:nvPr/>
        </p:nvSpPr>
        <p:spPr>
          <a:xfrm>
            <a:off x="8549640" y="2103120"/>
            <a:ext cx="1280160" cy="822960"/>
          </a:xfrm>
          <a:prstGeom prst="roundRect">
            <a:avLst>
              <a:gd name="adj" fmla="val 8000"/>
            </a:avLst>
          </a:prstGeom>
          <a:solidFill>
            <a:srgbClr val="F2A900"/>
          </a:solidFill>
          <a:ln>
            <a:noFill/>
          </a:ln>
        </p:spPr>
        <p:txBody>
          <a:bodyPr wrap="square" lIns="0" tIns="0" rIns="0" bIns="0" rtlCol="0" anchor="ctr">
            <a:noAutofit/>
          </a:bodyPr>
          <a:lstStyle/>
          <a:p>
            <a:pPr algn="ctr">
              <a:spcAft>
                <a:spcPts val="0"/>
              </a:spcAft>
            </a:pPr>
            <a:r>
              <a:rPr sz="1500" b="1" i="0">
                <a:solidFill>
                  <a:srgbClr val="1F2933"/>
                </a:solidFill>
              </a:rPr>
              <a:t>Rahul</a:t>
            </a:r>
          </a:p>
          <a:p>
            <a:pPr algn="ctr">
              <a:spcAft>
                <a:spcPts val="0"/>
              </a:spcAft>
            </a:pPr>
            <a:r>
              <a:rPr sz="1200" b="0" i="0">
                <a:solidFill>
                  <a:srgbClr val="1F2933"/>
                </a:solidFill>
              </a:rPr>
              <a:t>YELLOW</a:t>
            </a:r>
          </a:p>
        </p:txBody>
      </p:sp>
      <p:sp>
        <p:nvSpPr>
          <p:cNvPr id="23" name="List chip Asha"/>
          <p:cNvSpPr/>
          <p:nvPr/>
        </p:nvSpPr>
        <p:spPr>
          <a:xfrm>
            <a:off x="9921240" y="2103120"/>
            <a:ext cx="1280160" cy="822960"/>
          </a:xfrm>
          <a:prstGeom prst="roundRect">
            <a:avLst>
              <a:gd name="adj" fmla="val 8000"/>
            </a:avLst>
          </a:prstGeom>
          <a:solidFill>
            <a:srgbClr val="2FA84F"/>
          </a:solidFill>
          <a:ln>
            <a:noFill/>
          </a:ln>
        </p:spPr>
        <p:txBody>
          <a:bodyPr wrap="square" lIns="0" tIns="0" rIns="0" bIns="0" rtlCol="0" anchor="ctr">
            <a:noAutofit/>
          </a:bodyPr>
          <a:lstStyle/>
          <a:p>
            <a:pPr algn="ctr">
              <a:spcAft>
                <a:spcPts val="0"/>
              </a:spcAft>
            </a:pPr>
            <a:r>
              <a:rPr sz="1500" b="1" i="0">
                <a:solidFill>
                  <a:srgbClr val="FFFFFF"/>
                </a:solidFill>
              </a:rPr>
              <a:t>Asha</a:t>
            </a:r>
          </a:p>
          <a:p>
            <a:pPr algn="ctr">
              <a:spcAft>
                <a:spcPts val="0"/>
              </a:spcAft>
            </a:pPr>
            <a:r>
              <a:rPr sz="1200" b="0" i="0">
                <a:solidFill>
                  <a:srgbClr val="FFFFFF"/>
                </a:solidFill>
              </a:rPr>
              <a:t>GREEN</a:t>
            </a:r>
          </a:p>
        </p:txBody>
      </p:sp>
      <p:sp>
        <p:nvSpPr>
          <p:cNvPr id="24" name="CO6 code caption"/>
          <p:cNvSpPr txBox="1"/>
          <p:nvPr/>
        </p:nvSpPr>
        <p:spPr>
          <a:xfrm>
            <a:off x="5806440" y="3017520"/>
            <a:ext cx="5550408" cy="256032"/>
          </a:xfrm>
          <a:prstGeom prst="rect">
            <a:avLst/>
          </a:prstGeom>
          <a:noFill/>
        </p:spPr>
        <p:txBody>
          <a:bodyPr wrap="square" lIns="0" tIns="0" rIns="0" bIns="0" anchor="t">
            <a:noAutofit/>
          </a:bodyPr>
          <a:lstStyle/>
          <a:p>
            <a:pPr algn="l">
              <a:spcAft>
                <a:spcPts val="600"/>
              </a:spcAft>
            </a:pPr>
            <a:r>
              <a:rPr sz="1300" b="1" i="0">
                <a:solidFill>
                  <a:srgbClr val="0E2841"/>
                </a:solidFill>
              </a:rPr>
              <a:t>Creating, filling and iterating the list</a:t>
            </a:r>
          </a:p>
        </p:txBody>
      </p:sp>
      <p:sp>
        <p:nvSpPr>
          <p:cNvPr id="25" name="CO6 code"/>
          <p:cNvSpPr/>
          <p:nvPr/>
        </p:nvSpPr>
        <p:spPr>
          <a:xfrm>
            <a:off x="5806440" y="3291839"/>
            <a:ext cx="5550408" cy="1568195"/>
          </a:xfrm>
          <a:prstGeom prst="roundRect">
            <a:avLst>
              <a:gd name="adj" fmla="val 4000"/>
            </a:avLst>
          </a:prstGeom>
          <a:solidFill>
            <a:srgbClr val="0D1117"/>
          </a:solidFill>
          <a:ln>
            <a:noFill/>
          </a:ln>
        </p:spPr>
        <p:txBody>
          <a:bodyPr wrap="square" lIns="137160" tIns="109728" rIns="137160" bIns="109728" rtlCol="0" anchor="t">
            <a:noAutofit/>
          </a:bodyPr>
          <a:lstStyle/>
          <a:p>
            <a:pPr algn="l">
              <a:spcAft>
                <a:spcPts val="0"/>
              </a:spcAft>
            </a:pPr>
            <a:r>
              <a:rPr sz="1150">
                <a:solidFill>
                  <a:srgbClr val="E6EDF3"/>
                </a:solidFill>
                <a:latin typeface="Courier New"/>
              </a:rPr>
              <a:t>ArrayList&lt;Patient&gt; patients = </a:t>
            </a:r>
            <a:r>
              <a:rPr sz="1150">
                <a:solidFill>
                  <a:srgbClr val="79C0FF"/>
                </a:solidFill>
                <a:latin typeface="Courier New"/>
              </a:rPr>
              <a:t>new</a:t>
            </a:r>
            <a:r>
              <a:rPr sz="1150">
                <a:solidFill>
                  <a:srgbClr val="E6EDF3"/>
                </a:solidFill>
                <a:latin typeface="Courier New"/>
              </a:rPr>
              <a:t> ArrayList&lt;&gt;();</a:t>
            </a:r>
          </a:p>
          <a:p>
            <a:pPr algn="l">
              <a:spcAft>
                <a:spcPts val="0"/>
              </a:spcAft>
            </a:pPr>
            <a:r>
              <a:rPr sz="1150">
                <a:solidFill>
                  <a:srgbClr val="E6EDF3"/>
                </a:solidFill>
                <a:latin typeface="Courier New"/>
              </a:rPr>
              <a:t>patients.add(p);</a:t>
            </a:r>
          </a:p>
          <a:p>
            <a:pPr algn="l">
              <a:spcAft>
                <a:spcPts val="0"/>
              </a:spcAft>
            </a:pPr>
            <a:endParaRPr sz="1150">
              <a:solidFill>
                <a:srgbClr val="E6EDF3"/>
              </a:solidFill>
              <a:latin typeface="Courier New"/>
            </a:endParaRPr>
          </a:p>
          <a:p>
            <a:pPr algn="l">
              <a:spcAft>
                <a:spcPts val="0"/>
              </a:spcAft>
            </a:pPr>
            <a:r>
              <a:rPr sz="1150">
                <a:solidFill>
                  <a:srgbClr val="79C0FF"/>
                </a:solidFill>
                <a:latin typeface="Courier New"/>
              </a:rPr>
              <a:t>for</a:t>
            </a:r>
            <a:r>
              <a:rPr sz="1150">
                <a:solidFill>
                  <a:srgbClr val="E6EDF3"/>
                </a:solidFill>
                <a:latin typeface="Courier New"/>
              </a:rPr>
              <a:t> (Patient p : patients) {</a:t>
            </a:r>
          </a:p>
          <a:p>
            <a:pPr algn="l">
              <a:spcAft>
                <a:spcPts val="0"/>
              </a:spcAft>
            </a:pPr>
            <a:r>
              <a:rPr sz="1150">
                <a:solidFill>
                  <a:srgbClr val="E6EDF3"/>
                </a:solidFill>
                <a:latin typeface="Courier New"/>
              </a:rPr>
              <a:t>    System.out.println(position + </a:t>
            </a:r>
            <a:r>
              <a:rPr sz="1150">
                <a:solidFill>
                  <a:srgbClr val="7EE787"/>
                </a:solidFill>
                <a:latin typeface="Courier New"/>
              </a:rPr>
              <a:t>". "</a:t>
            </a:r>
            <a:r>
              <a:rPr sz="1150">
                <a:solidFill>
                  <a:srgbClr val="E6EDF3"/>
                </a:solidFill>
                <a:latin typeface="Courier New"/>
              </a:rPr>
              <a:t> + p);</a:t>
            </a:r>
          </a:p>
          <a:p>
            <a:pPr algn="l">
              <a:spcAft>
                <a:spcPts val="0"/>
              </a:spcAft>
            </a:pPr>
            <a:r>
              <a:rPr sz="1150">
                <a:solidFill>
                  <a:srgbClr val="E6EDF3"/>
                </a:solidFill>
                <a:latin typeface="Courier New"/>
              </a:rPr>
              <a:t>    position++;</a:t>
            </a:r>
          </a:p>
          <a:p>
            <a:pPr algn="l">
              <a:spcAft>
                <a:spcPts val="0"/>
              </a:spcAft>
            </a:pPr>
            <a:r>
              <a:rPr sz="1150">
                <a:solidFill>
                  <a:srgbClr val="E6EDF3"/>
                </a:solidFill>
                <a:latin typeface="Courier New"/>
              </a:rPr>
              <a:t>}</a:t>
            </a:r>
          </a:p>
        </p:txBody>
      </p:sp>
    </p:spTree>
    <p:extLst>
      <p:ext uri="{BB962C8B-B14F-4D97-AF65-F5344CB8AC3E}">
        <p14:creationId xmlns:p14="http://schemas.microsoft.com/office/powerpoint/2010/main" val="7071174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AD3A7-F925-7472-F39D-15B33FC20F53}"/>
              </a:ext>
            </a:extLst>
          </p:cNvPr>
          <p:cNvSpPr>
            <a:spLocks noGrp="1"/>
          </p:cNvSpPr>
          <p:nvPr>
            <p:ph type="title"/>
          </p:nvPr>
        </p:nvSpPr>
        <p:spPr/>
        <p:txBody>
          <a:bodyPr/>
          <a:lstStyle/>
          <a:p>
            <a:r>
              <a:rPr lang="en-IN" sz="3400" b="1" dirty="0">
                <a:solidFill>
                  <a:srgbClr val="0E2841"/>
                </a:solidFill>
              </a:rPr>
              <a:t>Conclusion</a:t>
            </a:r>
          </a:p>
        </p:txBody>
      </p:sp>
      <p:sp>
        <p:nvSpPr>
          <p:cNvPr id="4" name="Date Placeholder 3">
            <a:extLst>
              <a:ext uri="{FF2B5EF4-FFF2-40B4-BE49-F238E27FC236}">
                <a16:creationId xmlns:a16="http://schemas.microsoft.com/office/drawing/2014/main" id="{26120CA1-D5C4-5904-1345-350900EF2C7B}"/>
              </a:ext>
            </a:extLst>
          </p:cNvPr>
          <p:cNvSpPr>
            <a:spLocks noGrp="1"/>
          </p:cNvSpPr>
          <p:nvPr>
            <p:ph type="dt" sz="half" idx="10"/>
          </p:nvPr>
        </p:nvSpPr>
        <p:spPr/>
        <p:txBody>
          <a:bodyPr/>
          <a:lstStyle/>
          <a:p>
            <a:fld id="{07DE2E10-B9C9-4696-8C2C-567691D9BBFD}" type="datetime1">
              <a:rPr lang="en-IN" smtClean="0"/>
              <a:t>16-10-2026</a:t>
            </a:fld>
            <a:endParaRPr lang="en-IN"/>
          </a:p>
        </p:txBody>
      </p:sp>
      <p:sp>
        <p:nvSpPr>
          <p:cNvPr id="5" name="Slide Number Placeholder 4">
            <a:extLst>
              <a:ext uri="{FF2B5EF4-FFF2-40B4-BE49-F238E27FC236}">
                <a16:creationId xmlns:a16="http://schemas.microsoft.com/office/drawing/2014/main" id="{9292BF1E-562C-F1F9-8BD5-71BDFB3438D1}"/>
              </a:ext>
            </a:extLst>
          </p:cNvPr>
          <p:cNvSpPr>
            <a:spLocks noGrp="1"/>
          </p:cNvSpPr>
          <p:nvPr>
            <p:ph type="sldNum" sz="quarter" idx="12"/>
          </p:nvPr>
        </p:nvSpPr>
        <p:spPr/>
        <p:txBody>
          <a:bodyPr/>
          <a:lstStyle/>
          <a:p>
            <a:fld id="{CB012AB6-14AF-4351-87AD-D420B05274E1}" type="slidenum">
              <a:rPr lang="en-IN" smtClean="0"/>
              <a:t>12</a:t>
            </a:fld>
            <a:endParaRPr lang="en-IN"/>
          </a:p>
        </p:txBody>
      </p:sp>
      <p:sp>
        <p:nvSpPr>
          <p:cNvPr id="6" name="Conclusion card"/>
          <p:cNvSpPr/>
          <p:nvPr/>
        </p:nvSpPr>
        <p:spPr>
          <a:xfrm>
            <a:off x="841248" y="1783080"/>
            <a:ext cx="5074920" cy="4206240"/>
          </a:xfrm>
          <a:prstGeom prst="roundRect">
            <a:avLst>
              <a:gd name="adj" fmla="val 8000"/>
            </a:avLst>
          </a:prstGeom>
          <a:solidFill>
            <a:srgbClr val="FFFFFF"/>
          </a:solidFill>
          <a:ln w="9525">
            <a:solidFill>
              <a:srgbClr val="E3E9EF"/>
            </a:solidFill>
          </a:ln>
          <a:effectLst>
            <a:outerShdw blurRad="76200" dist="25400" dir="5400000" algn="t" rotWithShape="0">
              <a:srgbClr val="0E2841">
                <a:alpha val="14000"/>
              </a:srgbClr>
            </a:outerShdw>
          </a:effectLst>
        </p:spPr>
        <p:txBody>
          <a:bodyPr rtlCol="0" anchor="ctr"/>
          <a:lstStyle/>
          <a:p>
            <a:pPr algn="ctr"/>
            <a:endParaRPr/>
          </a:p>
        </p:txBody>
      </p:sp>
      <p:sp>
        <p:nvSpPr>
          <p:cNvPr id="7" name="Conclusion dot"/>
          <p:cNvSpPr/>
          <p:nvPr/>
        </p:nvSpPr>
        <p:spPr>
          <a:xfrm>
            <a:off x="1069848" y="1965960"/>
            <a:ext cx="365760" cy="365760"/>
          </a:xfrm>
          <a:prstGeom prst="ellipse">
            <a:avLst/>
          </a:prstGeom>
          <a:solidFill>
            <a:srgbClr val="156082"/>
          </a:solidFill>
          <a:ln>
            <a:noFill/>
          </a:ln>
        </p:spPr>
        <p:txBody>
          <a:bodyPr rtlCol="0" anchor="ctr"/>
          <a:lstStyle/>
          <a:p>
            <a:pPr algn="ctr"/>
            <a:endParaRPr/>
          </a:p>
        </p:txBody>
      </p:sp>
      <p:sp>
        <p:nvSpPr>
          <p:cNvPr id="8" name="Conclusion header"/>
          <p:cNvSpPr txBox="1"/>
          <p:nvPr/>
        </p:nvSpPr>
        <p:spPr>
          <a:xfrm>
            <a:off x="1572768" y="1965960"/>
            <a:ext cx="4114800" cy="365760"/>
          </a:xfrm>
          <a:prstGeom prst="rect">
            <a:avLst/>
          </a:prstGeom>
          <a:noFill/>
        </p:spPr>
        <p:txBody>
          <a:bodyPr wrap="square" lIns="0" tIns="0" rIns="0" bIns="0" anchor="ctr">
            <a:noAutofit/>
          </a:bodyPr>
          <a:lstStyle/>
          <a:p>
            <a:pPr algn="l">
              <a:spcAft>
                <a:spcPts val="600"/>
              </a:spcAft>
            </a:pPr>
            <a:r>
              <a:rPr sz="2200" b="1" i="0">
                <a:solidFill>
                  <a:srgbClr val="0E2841"/>
                </a:solidFill>
              </a:rPr>
              <a:t>Conclusion</a:t>
            </a:r>
          </a:p>
        </p:txBody>
      </p:sp>
      <p:sp>
        <p:nvSpPr>
          <p:cNvPr id="9" name="Conclusion bullets"/>
          <p:cNvSpPr txBox="1"/>
          <p:nvPr/>
        </p:nvSpPr>
        <p:spPr>
          <a:xfrm>
            <a:off x="1115568" y="2606040"/>
            <a:ext cx="4572000" cy="3291840"/>
          </a:xfrm>
          <a:prstGeom prst="rect">
            <a:avLst/>
          </a:prstGeom>
          <a:noFill/>
        </p:spPr>
        <p:txBody>
          <a:bodyPr wrap="square" lIns="0" tIns="0" rIns="0" bIns="0" anchor="t">
            <a:noAutofit/>
          </a:bodyPr>
          <a:lstStyle/>
          <a:p>
            <a:pPr marL="228600" indent="-228600" algn="l">
              <a:spcAft>
                <a:spcPts val="1200"/>
              </a:spcAft>
              <a:buFont typeface="Arial"/>
              <a:buChar char="•"/>
            </a:pPr>
            <a:r>
              <a:rPr sz="1800" b="0" i="0">
                <a:solidFill>
                  <a:srgbClr val="1F2933"/>
                </a:solidFill>
              </a:rPr>
              <a:t>Delivers rule-based triage and a prioritised treatment queue in a small, readable Java program.</a:t>
            </a:r>
          </a:p>
          <a:p>
            <a:pPr marL="228600" indent="-228600" algn="l">
              <a:spcAft>
                <a:spcPts val="1200"/>
              </a:spcAft>
              <a:buFont typeface="Arial"/>
              <a:buChar char="•"/>
            </a:pPr>
            <a:r>
              <a:rPr sz="1800" b="0" i="0">
                <a:solidFill>
                  <a:srgbClr val="1F2933"/>
                </a:solidFill>
              </a:rPr>
              <a:t>Inheritance and overriding make new patient types easy to add.</a:t>
            </a:r>
          </a:p>
          <a:p>
            <a:pPr marL="228600" indent="-228600" algn="l">
              <a:spcAft>
                <a:spcPts val="1200"/>
              </a:spcAft>
              <a:buFont typeface="Arial"/>
              <a:buChar char="•"/>
            </a:pPr>
            <a:r>
              <a:rPr sz="1800" b="0" i="0">
                <a:solidFill>
                  <a:srgbClr val="1F2933"/>
                </a:solidFill>
              </a:rPr>
              <a:t>A custom exception and input checks keep the program from crashing.</a:t>
            </a:r>
          </a:p>
          <a:p>
            <a:pPr marL="228600" indent="-228600" algn="l">
              <a:spcAft>
                <a:spcPts val="1200"/>
              </a:spcAft>
              <a:buFont typeface="Arial"/>
              <a:buChar char="•"/>
            </a:pPr>
            <a:r>
              <a:rPr sz="1800" b="0" i="0">
                <a:solidFill>
                  <a:srgbClr val="1F2933"/>
                </a:solidFill>
              </a:rPr>
              <a:t>Applies CO1 to CO5 topics and the ArrayList part of CO6.</a:t>
            </a:r>
          </a:p>
        </p:txBody>
      </p:sp>
      <p:sp>
        <p:nvSpPr>
          <p:cNvPr id="10" name="Future scope card"/>
          <p:cNvSpPr/>
          <p:nvPr/>
        </p:nvSpPr>
        <p:spPr>
          <a:xfrm>
            <a:off x="6263640" y="1783080"/>
            <a:ext cx="5074920" cy="4206240"/>
          </a:xfrm>
          <a:prstGeom prst="roundRect">
            <a:avLst>
              <a:gd name="adj" fmla="val 8000"/>
            </a:avLst>
          </a:prstGeom>
          <a:solidFill>
            <a:srgbClr val="FFFFFF"/>
          </a:solidFill>
          <a:ln w="9525">
            <a:solidFill>
              <a:srgbClr val="E3E9EF"/>
            </a:solidFill>
          </a:ln>
          <a:effectLst>
            <a:outerShdw blurRad="76200" dist="25400" dir="5400000" algn="t" rotWithShape="0">
              <a:srgbClr val="0E2841">
                <a:alpha val="14000"/>
              </a:srgbClr>
            </a:outerShdw>
          </a:effectLst>
        </p:spPr>
        <p:txBody>
          <a:bodyPr rtlCol="0" anchor="ctr"/>
          <a:lstStyle/>
          <a:p>
            <a:pPr algn="ctr"/>
            <a:endParaRPr/>
          </a:p>
        </p:txBody>
      </p:sp>
      <p:sp>
        <p:nvSpPr>
          <p:cNvPr id="11" name="Future scope dot"/>
          <p:cNvSpPr/>
          <p:nvPr/>
        </p:nvSpPr>
        <p:spPr>
          <a:xfrm>
            <a:off x="6492240" y="1965960"/>
            <a:ext cx="365760" cy="365760"/>
          </a:xfrm>
          <a:prstGeom prst="ellipse">
            <a:avLst/>
          </a:prstGeom>
          <a:solidFill>
            <a:srgbClr val="F2A900"/>
          </a:solidFill>
          <a:ln>
            <a:noFill/>
          </a:ln>
        </p:spPr>
        <p:txBody>
          <a:bodyPr rtlCol="0" anchor="ctr"/>
          <a:lstStyle/>
          <a:p>
            <a:pPr algn="ctr"/>
            <a:endParaRPr/>
          </a:p>
        </p:txBody>
      </p:sp>
      <p:sp>
        <p:nvSpPr>
          <p:cNvPr id="12" name="Future scope header"/>
          <p:cNvSpPr txBox="1"/>
          <p:nvPr/>
        </p:nvSpPr>
        <p:spPr>
          <a:xfrm>
            <a:off x="6995159" y="1965960"/>
            <a:ext cx="4114800" cy="365760"/>
          </a:xfrm>
          <a:prstGeom prst="rect">
            <a:avLst/>
          </a:prstGeom>
          <a:noFill/>
        </p:spPr>
        <p:txBody>
          <a:bodyPr wrap="square" lIns="0" tIns="0" rIns="0" bIns="0" anchor="ctr">
            <a:noAutofit/>
          </a:bodyPr>
          <a:lstStyle/>
          <a:p>
            <a:pPr algn="l">
              <a:spcAft>
                <a:spcPts val="600"/>
              </a:spcAft>
            </a:pPr>
            <a:r>
              <a:rPr sz="2200" b="1" i="0">
                <a:solidFill>
                  <a:srgbClr val="0E2841"/>
                </a:solidFill>
              </a:rPr>
              <a:t>Future scope</a:t>
            </a:r>
          </a:p>
        </p:txBody>
      </p:sp>
      <p:sp>
        <p:nvSpPr>
          <p:cNvPr id="13" name="Future scope bullets"/>
          <p:cNvSpPr txBox="1"/>
          <p:nvPr/>
        </p:nvSpPr>
        <p:spPr>
          <a:xfrm>
            <a:off x="6537959" y="2606040"/>
            <a:ext cx="4572000" cy="3291840"/>
          </a:xfrm>
          <a:prstGeom prst="rect">
            <a:avLst/>
          </a:prstGeom>
          <a:noFill/>
        </p:spPr>
        <p:txBody>
          <a:bodyPr wrap="square" lIns="0" tIns="0" rIns="0" bIns="0" anchor="t">
            <a:noAutofit/>
          </a:bodyPr>
          <a:lstStyle/>
          <a:p>
            <a:pPr marL="228600" indent="-228600" algn="l">
              <a:spcAft>
                <a:spcPts val="1200"/>
              </a:spcAft>
              <a:buFont typeface="Arial"/>
              <a:buChar char="•"/>
            </a:pPr>
            <a:r>
              <a:rPr sz="1800" b="0" i="0">
                <a:solidFill>
                  <a:srgbClr val="1F2933"/>
                </a:solidFill>
              </a:rPr>
              <a:t>Save patient records to a file or database.</a:t>
            </a:r>
          </a:p>
          <a:p>
            <a:pPr marL="228600" indent="-228600" algn="l">
              <a:spcAft>
                <a:spcPts val="1200"/>
              </a:spcAft>
              <a:buFont typeface="Arial"/>
              <a:buChar char="•"/>
            </a:pPr>
            <a:r>
              <a:rPr sz="1800" b="0" i="0">
                <a:solidFill>
                  <a:srgbClr val="1F2933"/>
                </a:solidFill>
              </a:rPr>
              <a:t>Add arrival and waiting time to the sort order.</a:t>
            </a:r>
          </a:p>
          <a:p>
            <a:pPr marL="228600" indent="-228600" algn="l">
              <a:spcAft>
                <a:spcPts val="1200"/>
              </a:spcAft>
              <a:buFont typeface="Arial"/>
              <a:buChar char="•"/>
            </a:pPr>
            <a:r>
              <a:rPr sz="1800" b="0" i="0">
                <a:solidFill>
                  <a:srgbClr val="1F2933"/>
                </a:solidFill>
              </a:rPr>
              <a:t>Add more vitals, such as blood pressure and SpO2.</a:t>
            </a:r>
          </a:p>
          <a:p>
            <a:pPr marL="228600" indent="-228600" algn="l">
              <a:spcAft>
                <a:spcPts val="1200"/>
              </a:spcAft>
              <a:buFont typeface="Arial"/>
              <a:buChar char="•"/>
            </a:pPr>
            <a:r>
              <a:rPr sz="1800" b="0" i="0">
                <a:solidFill>
                  <a:srgbClr val="1F2933"/>
                </a:solidFill>
              </a:rPr>
              <a:t>Show statistics with streams.</a:t>
            </a:r>
          </a:p>
          <a:p>
            <a:pPr marL="228600" indent="-228600" algn="l">
              <a:spcAft>
                <a:spcPts val="1200"/>
              </a:spcAft>
              <a:buFont typeface="Arial"/>
              <a:buChar char="•"/>
            </a:pPr>
            <a:r>
              <a:rPr sz="1800" b="0" i="0">
                <a:solidFill>
                  <a:srgbClr val="1F2933"/>
                </a:solidFill>
              </a:rPr>
              <a:t>Build a GUI or web front end.</a:t>
            </a:r>
          </a:p>
        </p:txBody>
      </p:sp>
    </p:spTree>
    <p:extLst>
      <p:ext uri="{BB962C8B-B14F-4D97-AF65-F5344CB8AC3E}">
        <p14:creationId xmlns:p14="http://schemas.microsoft.com/office/powerpoint/2010/main" val="17449643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77661-8074-79B2-B035-E36DFB30941A}"/>
              </a:ext>
            </a:extLst>
          </p:cNvPr>
          <p:cNvSpPr>
            <a:spLocks noGrp="1"/>
          </p:cNvSpPr>
          <p:nvPr>
            <p:ph type="title"/>
          </p:nvPr>
        </p:nvSpPr>
        <p:spPr/>
        <p:txBody>
          <a:bodyPr/>
          <a:lstStyle/>
          <a:p>
            <a:r>
              <a:rPr lang="en-IN" sz="3400" b="1">
                <a:solidFill>
                  <a:srgbClr val="0E2841"/>
                </a:solidFill>
              </a:rPr>
              <a:t>Output</a:t>
            </a:r>
            <a:endParaRPr lang="en-IN" dirty="0"/>
          </a:p>
        </p:txBody>
      </p:sp>
      <p:sp>
        <p:nvSpPr>
          <p:cNvPr id="4" name="Date Placeholder 3">
            <a:extLst>
              <a:ext uri="{FF2B5EF4-FFF2-40B4-BE49-F238E27FC236}">
                <a16:creationId xmlns:a16="http://schemas.microsoft.com/office/drawing/2014/main" id="{D39311A9-71C6-FE7D-18DF-375E38D50229}"/>
              </a:ext>
            </a:extLst>
          </p:cNvPr>
          <p:cNvSpPr>
            <a:spLocks noGrp="1"/>
          </p:cNvSpPr>
          <p:nvPr>
            <p:ph type="dt" sz="half" idx="10"/>
          </p:nvPr>
        </p:nvSpPr>
        <p:spPr/>
        <p:txBody>
          <a:bodyPr/>
          <a:lstStyle/>
          <a:p>
            <a:fld id="{07DE2E10-B9C9-4696-8C2C-567691D9BBFD}" type="datetime1">
              <a:rPr lang="en-IN" smtClean="0"/>
              <a:t>16-10-2026</a:t>
            </a:fld>
            <a:endParaRPr lang="en-IN"/>
          </a:p>
        </p:txBody>
      </p:sp>
      <p:sp>
        <p:nvSpPr>
          <p:cNvPr id="5" name="Slide Number Placeholder 4">
            <a:extLst>
              <a:ext uri="{FF2B5EF4-FFF2-40B4-BE49-F238E27FC236}">
                <a16:creationId xmlns:a16="http://schemas.microsoft.com/office/drawing/2014/main" id="{DBB251AB-4887-6558-97BB-1B1D9180333A}"/>
              </a:ext>
            </a:extLst>
          </p:cNvPr>
          <p:cNvSpPr>
            <a:spLocks noGrp="1"/>
          </p:cNvSpPr>
          <p:nvPr>
            <p:ph type="sldNum" sz="quarter" idx="12"/>
          </p:nvPr>
        </p:nvSpPr>
        <p:spPr/>
        <p:txBody>
          <a:bodyPr/>
          <a:lstStyle/>
          <a:p>
            <a:fld id="{CB012AB6-14AF-4351-87AD-D420B05274E1}" type="slidenum">
              <a:rPr lang="en-IN" smtClean="0"/>
              <a:t>13</a:t>
            </a:fld>
            <a:endParaRPr lang="en-IN"/>
          </a:p>
        </p:txBody>
      </p:sp>
      <p:pic>
        <p:nvPicPr>
          <p:cNvPr id="6" name="Screenshot 1" descr="Data entry with automatic triage result"/>
          <p:cNvPicPr>
            <a:picLocks noChangeAspect="1"/>
          </p:cNvPicPr>
          <p:nvPr/>
        </p:nvPicPr>
        <p:blipFill>
          <a:blip r:embed="rId2"/>
          <a:stretch>
            <a:fillRect/>
          </a:stretch>
        </p:blipFill>
        <p:spPr>
          <a:xfrm>
            <a:off x="841248" y="1737360"/>
            <a:ext cx="4832497" cy="3291840"/>
          </a:xfrm>
          <a:prstGeom prst="rect">
            <a:avLst/>
          </a:prstGeom>
          <a:ln w="12700">
            <a:solidFill>
              <a:srgbClr val="5B6B7F"/>
            </a:solidFill>
          </a:ln>
        </p:spPr>
      </p:pic>
      <p:sp>
        <p:nvSpPr>
          <p:cNvPr id="7" name="Screenshot caption 1"/>
          <p:cNvSpPr txBox="1"/>
          <p:nvPr/>
        </p:nvSpPr>
        <p:spPr>
          <a:xfrm>
            <a:off x="841248" y="5120640"/>
            <a:ext cx="4832497" cy="320040"/>
          </a:xfrm>
          <a:prstGeom prst="rect">
            <a:avLst/>
          </a:prstGeom>
          <a:noFill/>
        </p:spPr>
        <p:txBody>
          <a:bodyPr wrap="square" lIns="0" tIns="0" rIns="0" bIns="0" anchor="t">
            <a:noAutofit/>
          </a:bodyPr>
          <a:lstStyle/>
          <a:p>
            <a:pPr algn="l">
              <a:spcAft>
                <a:spcPts val="600"/>
              </a:spcAft>
            </a:pPr>
            <a:r>
              <a:rPr sz="1400" b="0" i="0">
                <a:solidFill>
                  <a:srgbClr val="5B6B7F"/>
                </a:solidFill>
              </a:rPr>
              <a:t>Data entry with automatic triage result</a:t>
            </a:r>
          </a:p>
        </p:txBody>
      </p:sp>
      <p:pic>
        <p:nvPicPr>
          <p:cNvPr id="8" name="Screenshot 2" descr="Sorted queue, input validation and search"/>
          <p:cNvPicPr>
            <a:picLocks noChangeAspect="1"/>
          </p:cNvPicPr>
          <p:nvPr/>
        </p:nvPicPr>
        <p:blipFill>
          <a:blip r:embed="rId3"/>
          <a:stretch>
            <a:fillRect/>
          </a:stretch>
        </p:blipFill>
        <p:spPr>
          <a:xfrm>
            <a:off x="5856625" y="1737360"/>
            <a:ext cx="5328138" cy="3291840"/>
          </a:xfrm>
          <a:prstGeom prst="rect">
            <a:avLst/>
          </a:prstGeom>
          <a:ln w="12700">
            <a:solidFill>
              <a:srgbClr val="5B6B7F"/>
            </a:solidFill>
          </a:ln>
        </p:spPr>
      </p:pic>
      <p:sp>
        <p:nvSpPr>
          <p:cNvPr id="9" name="Screenshot caption 2"/>
          <p:cNvSpPr txBox="1"/>
          <p:nvPr/>
        </p:nvSpPr>
        <p:spPr>
          <a:xfrm>
            <a:off x="5856625" y="5120640"/>
            <a:ext cx="5328138" cy="320040"/>
          </a:xfrm>
          <a:prstGeom prst="rect">
            <a:avLst/>
          </a:prstGeom>
          <a:noFill/>
        </p:spPr>
        <p:txBody>
          <a:bodyPr wrap="square" lIns="0" tIns="0" rIns="0" bIns="0" anchor="t">
            <a:noAutofit/>
          </a:bodyPr>
          <a:lstStyle/>
          <a:p>
            <a:pPr algn="l">
              <a:spcAft>
                <a:spcPts val="600"/>
              </a:spcAft>
            </a:pPr>
            <a:r>
              <a:rPr sz="1400" b="0" i="0">
                <a:solidFill>
                  <a:srgbClr val="5B6B7F"/>
                </a:solidFill>
              </a:rPr>
              <a:t>Sorted queue, input validation and search</a:t>
            </a:r>
          </a:p>
        </p:txBody>
      </p:sp>
      <p:sp>
        <p:nvSpPr>
          <p:cNvPr id="10" name="Takeaway chip 1"/>
          <p:cNvSpPr/>
          <p:nvPr/>
        </p:nvSpPr>
        <p:spPr>
          <a:xfrm>
            <a:off x="841248" y="5577840"/>
            <a:ext cx="3383280" cy="457200"/>
          </a:xfrm>
          <a:prstGeom prst="roundRect">
            <a:avLst>
              <a:gd name="adj" fmla="val 8000"/>
            </a:avLst>
          </a:prstGeom>
          <a:solidFill>
            <a:srgbClr val="FFFFFF"/>
          </a:solidFill>
          <a:ln w="9525">
            <a:solidFill>
              <a:srgbClr val="E3E9EF"/>
            </a:solidFill>
          </a:ln>
          <a:effectLst>
            <a:outerShdw blurRad="76200" dist="25400" dir="5400000" algn="t" rotWithShape="0">
              <a:srgbClr val="0E2841">
                <a:alpha val="14000"/>
              </a:srgbClr>
            </a:outerShdw>
          </a:effectLst>
        </p:spPr>
        <p:txBody>
          <a:bodyPr rtlCol="0" anchor="ctr"/>
          <a:lstStyle/>
          <a:p>
            <a:pPr algn="ctr"/>
            <a:endParaRPr/>
          </a:p>
        </p:txBody>
      </p:sp>
      <p:sp>
        <p:nvSpPr>
          <p:cNvPr id="11" name="Takeaway dot 1"/>
          <p:cNvSpPr/>
          <p:nvPr/>
        </p:nvSpPr>
        <p:spPr>
          <a:xfrm>
            <a:off x="950976" y="5660136"/>
            <a:ext cx="292608" cy="292608"/>
          </a:xfrm>
          <a:prstGeom prst="ellipse">
            <a:avLst/>
          </a:prstGeom>
          <a:solidFill>
            <a:srgbClr val="156082"/>
          </a:solidFill>
          <a:ln>
            <a:noFill/>
          </a:ln>
        </p:spPr>
        <p:txBody>
          <a:bodyPr wrap="square" lIns="0" tIns="0" rIns="0" bIns="0" rtlCol="0" anchor="ctr">
            <a:noAutofit/>
          </a:bodyPr>
          <a:lstStyle/>
          <a:p>
            <a:pPr algn="ctr">
              <a:spcAft>
                <a:spcPts val="600"/>
              </a:spcAft>
            </a:pPr>
            <a:r>
              <a:rPr sz="1200" b="1" i="0">
                <a:solidFill>
                  <a:srgbClr val="FFFFFF"/>
                </a:solidFill>
              </a:rPr>
              <a:t>1</a:t>
            </a:r>
          </a:p>
        </p:txBody>
      </p:sp>
      <p:sp>
        <p:nvSpPr>
          <p:cNvPr id="12" name="Takeaway text 1"/>
          <p:cNvSpPr txBox="1"/>
          <p:nvPr/>
        </p:nvSpPr>
        <p:spPr>
          <a:xfrm>
            <a:off x="1371600" y="5577840"/>
            <a:ext cx="2788920" cy="457200"/>
          </a:xfrm>
          <a:prstGeom prst="rect">
            <a:avLst/>
          </a:prstGeom>
          <a:noFill/>
        </p:spPr>
        <p:txBody>
          <a:bodyPr wrap="square" lIns="0" tIns="0" rIns="0" bIns="0" anchor="ctr">
            <a:noAutofit/>
          </a:bodyPr>
          <a:lstStyle/>
          <a:p>
            <a:pPr algn="l">
              <a:spcAft>
                <a:spcPts val="0"/>
              </a:spcAft>
            </a:pPr>
            <a:r>
              <a:rPr sz="1300" b="0" i="0">
                <a:solidFill>
                  <a:srgbClr val="0E2841"/>
                </a:solidFill>
              </a:rPr>
              <a:t>Bad input is asked again, never a crash</a:t>
            </a:r>
          </a:p>
        </p:txBody>
      </p:sp>
      <p:sp>
        <p:nvSpPr>
          <p:cNvPr id="13" name="Takeaway chip 2"/>
          <p:cNvSpPr/>
          <p:nvPr/>
        </p:nvSpPr>
        <p:spPr>
          <a:xfrm>
            <a:off x="4407408" y="5577840"/>
            <a:ext cx="3383280" cy="457200"/>
          </a:xfrm>
          <a:prstGeom prst="roundRect">
            <a:avLst>
              <a:gd name="adj" fmla="val 8000"/>
            </a:avLst>
          </a:prstGeom>
          <a:solidFill>
            <a:srgbClr val="FFFFFF"/>
          </a:solidFill>
          <a:ln w="9525">
            <a:solidFill>
              <a:srgbClr val="E3E9EF"/>
            </a:solidFill>
          </a:ln>
          <a:effectLst>
            <a:outerShdw blurRad="76200" dist="25400" dir="5400000" algn="t" rotWithShape="0">
              <a:srgbClr val="0E2841">
                <a:alpha val="14000"/>
              </a:srgbClr>
            </a:outerShdw>
          </a:effectLst>
        </p:spPr>
        <p:txBody>
          <a:bodyPr rtlCol="0" anchor="ctr"/>
          <a:lstStyle/>
          <a:p>
            <a:pPr algn="ctr"/>
            <a:endParaRPr/>
          </a:p>
        </p:txBody>
      </p:sp>
      <p:sp>
        <p:nvSpPr>
          <p:cNvPr id="14" name="Takeaway dot 2"/>
          <p:cNvSpPr/>
          <p:nvPr/>
        </p:nvSpPr>
        <p:spPr>
          <a:xfrm>
            <a:off x="4517136" y="5660136"/>
            <a:ext cx="292608" cy="292608"/>
          </a:xfrm>
          <a:prstGeom prst="ellipse">
            <a:avLst/>
          </a:prstGeom>
          <a:solidFill>
            <a:srgbClr val="156082"/>
          </a:solidFill>
          <a:ln>
            <a:noFill/>
          </a:ln>
        </p:spPr>
        <p:txBody>
          <a:bodyPr wrap="square" lIns="0" tIns="0" rIns="0" bIns="0" rtlCol="0" anchor="ctr">
            <a:noAutofit/>
          </a:bodyPr>
          <a:lstStyle/>
          <a:p>
            <a:pPr algn="ctr">
              <a:spcAft>
                <a:spcPts val="600"/>
              </a:spcAft>
            </a:pPr>
            <a:r>
              <a:rPr sz="1200" b="1" i="0">
                <a:solidFill>
                  <a:srgbClr val="FFFFFF"/>
                </a:solidFill>
              </a:rPr>
              <a:t>2</a:t>
            </a:r>
          </a:p>
        </p:txBody>
      </p:sp>
      <p:sp>
        <p:nvSpPr>
          <p:cNvPr id="15" name="Takeaway text 2"/>
          <p:cNvSpPr txBox="1"/>
          <p:nvPr/>
        </p:nvSpPr>
        <p:spPr>
          <a:xfrm>
            <a:off x="4937760" y="5577840"/>
            <a:ext cx="2788920" cy="457200"/>
          </a:xfrm>
          <a:prstGeom prst="rect">
            <a:avLst/>
          </a:prstGeom>
          <a:noFill/>
        </p:spPr>
        <p:txBody>
          <a:bodyPr wrap="square" lIns="0" tIns="0" rIns="0" bIns="0" anchor="ctr">
            <a:noAutofit/>
          </a:bodyPr>
          <a:lstStyle/>
          <a:p>
            <a:pPr algn="l">
              <a:spcAft>
                <a:spcPts val="0"/>
              </a:spcAft>
            </a:pPr>
            <a:r>
              <a:rPr sz="1300" b="0" i="0">
                <a:solidFill>
                  <a:srgbClr val="0E2841"/>
                </a:solidFill>
              </a:rPr>
              <a:t>Queue order: RED, then YELLOW, then GREEN</a:t>
            </a:r>
          </a:p>
        </p:txBody>
      </p:sp>
      <p:sp>
        <p:nvSpPr>
          <p:cNvPr id="16" name="Takeaway chip 3"/>
          <p:cNvSpPr/>
          <p:nvPr/>
        </p:nvSpPr>
        <p:spPr>
          <a:xfrm>
            <a:off x="7973568" y="5577840"/>
            <a:ext cx="3383280" cy="457200"/>
          </a:xfrm>
          <a:prstGeom prst="roundRect">
            <a:avLst>
              <a:gd name="adj" fmla="val 8000"/>
            </a:avLst>
          </a:prstGeom>
          <a:solidFill>
            <a:srgbClr val="FFFFFF"/>
          </a:solidFill>
          <a:ln w="9525">
            <a:solidFill>
              <a:srgbClr val="E3E9EF"/>
            </a:solidFill>
          </a:ln>
          <a:effectLst>
            <a:outerShdw blurRad="76200" dist="25400" dir="5400000" algn="t" rotWithShape="0">
              <a:srgbClr val="0E2841">
                <a:alpha val="14000"/>
              </a:srgbClr>
            </a:outerShdw>
          </a:effectLst>
        </p:spPr>
        <p:txBody>
          <a:bodyPr rtlCol="0" anchor="ctr"/>
          <a:lstStyle/>
          <a:p>
            <a:pPr algn="ctr"/>
            <a:endParaRPr/>
          </a:p>
        </p:txBody>
      </p:sp>
      <p:sp>
        <p:nvSpPr>
          <p:cNvPr id="17" name="Takeaway dot 3"/>
          <p:cNvSpPr/>
          <p:nvPr/>
        </p:nvSpPr>
        <p:spPr>
          <a:xfrm>
            <a:off x="8083296" y="5660136"/>
            <a:ext cx="292608" cy="292608"/>
          </a:xfrm>
          <a:prstGeom prst="ellipse">
            <a:avLst/>
          </a:prstGeom>
          <a:solidFill>
            <a:srgbClr val="156082"/>
          </a:solidFill>
          <a:ln>
            <a:noFill/>
          </a:ln>
        </p:spPr>
        <p:txBody>
          <a:bodyPr wrap="square" lIns="0" tIns="0" rIns="0" bIns="0" rtlCol="0" anchor="ctr">
            <a:noAutofit/>
          </a:bodyPr>
          <a:lstStyle/>
          <a:p>
            <a:pPr algn="ctr">
              <a:spcAft>
                <a:spcPts val="600"/>
              </a:spcAft>
            </a:pPr>
            <a:r>
              <a:rPr sz="1200" b="1" i="0">
                <a:solidFill>
                  <a:srgbClr val="FFFFFF"/>
                </a:solidFill>
              </a:rPr>
              <a:t>3</a:t>
            </a:r>
          </a:p>
        </p:txBody>
      </p:sp>
      <p:sp>
        <p:nvSpPr>
          <p:cNvPr id="18" name="Takeaway text 3"/>
          <p:cNvSpPr txBox="1"/>
          <p:nvPr/>
        </p:nvSpPr>
        <p:spPr>
          <a:xfrm>
            <a:off x="8503920" y="5577840"/>
            <a:ext cx="2788920" cy="457200"/>
          </a:xfrm>
          <a:prstGeom prst="rect">
            <a:avLst/>
          </a:prstGeom>
          <a:noFill/>
        </p:spPr>
        <p:txBody>
          <a:bodyPr wrap="square" lIns="0" tIns="0" rIns="0" bIns="0" anchor="ctr">
            <a:noAutofit/>
          </a:bodyPr>
          <a:lstStyle/>
          <a:p>
            <a:pPr algn="l">
              <a:spcAft>
                <a:spcPts val="0"/>
              </a:spcAft>
            </a:pPr>
            <a:r>
              <a:rPr sz="1300" b="0" i="0">
                <a:solidFill>
                  <a:srgbClr val="0E2841"/>
                </a:solidFill>
              </a:rPr>
              <a:t>Name search ignores capital letters</a:t>
            </a:r>
          </a:p>
        </p:txBody>
      </p:sp>
    </p:spTree>
    <p:extLst>
      <p:ext uri="{BB962C8B-B14F-4D97-AF65-F5344CB8AC3E}">
        <p14:creationId xmlns:p14="http://schemas.microsoft.com/office/powerpoint/2010/main" val="20152989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4AC2B-1702-695F-E0B5-9F6550F04B7D}"/>
              </a:ext>
            </a:extLst>
          </p:cNvPr>
          <p:cNvSpPr>
            <a:spLocks noGrp="1"/>
          </p:cNvSpPr>
          <p:nvPr>
            <p:ph type="title"/>
          </p:nvPr>
        </p:nvSpPr>
        <p:spPr/>
        <p:txBody>
          <a:bodyPr/>
          <a:lstStyle/>
          <a:p>
            <a:r>
              <a:rPr lang="en-IN" sz="3400" b="1" dirty="0">
                <a:solidFill>
                  <a:srgbClr val="0E2841"/>
                </a:solidFill>
              </a:rPr>
              <a:t>Proposed System</a:t>
            </a:r>
          </a:p>
        </p:txBody>
      </p:sp>
      <p:sp>
        <p:nvSpPr>
          <p:cNvPr id="4" name="Date Placeholder 3">
            <a:extLst>
              <a:ext uri="{FF2B5EF4-FFF2-40B4-BE49-F238E27FC236}">
                <a16:creationId xmlns:a16="http://schemas.microsoft.com/office/drawing/2014/main" id="{81A350AE-3599-26AF-9C41-62ADA08AED5A}"/>
              </a:ext>
            </a:extLst>
          </p:cNvPr>
          <p:cNvSpPr>
            <a:spLocks noGrp="1"/>
          </p:cNvSpPr>
          <p:nvPr>
            <p:ph type="dt" sz="half" idx="10"/>
          </p:nvPr>
        </p:nvSpPr>
        <p:spPr/>
        <p:txBody>
          <a:bodyPr/>
          <a:lstStyle/>
          <a:p>
            <a:fld id="{204A9410-9F72-4C75-ADBD-63106BC7C7D6}" type="datetime1">
              <a:rPr lang="en-IN" smtClean="0"/>
              <a:t>16-10-2026</a:t>
            </a:fld>
            <a:endParaRPr lang="en-IN"/>
          </a:p>
        </p:txBody>
      </p:sp>
      <p:sp>
        <p:nvSpPr>
          <p:cNvPr id="5" name="Slide Number Placeholder 4">
            <a:extLst>
              <a:ext uri="{FF2B5EF4-FFF2-40B4-BE49-F238E27FC236}">
                <a16:creationId xmlns:a16="http://schemas.microsoft.com/office/drawing/2014/main" id="{4A261277-3D40-ACA2-AEC9-E9A0E9DC1318}"/>
              </a:ext>
            </a:extLst>
          </p:cNvPr>
          <p:cNvSpPr>
            <a:spLocks noGrp="1"/>
          </p:cNvSpPr>
          <p:nvPr>
            <p:ph type="sldNum" sz="quarter" idx="12"/>
          </p:nvPr>
        </p:nvSpPr>
        <p:spPr/>
        <p:txBody>
          <a:bodyPr/>
          <a:lstStyle/>
          <a:p>
            <a:fld id="{CB012AB6-14AF-4351-87AD-D420B05274E1}" type="slidenum">
              <a:rPr lang="en-IN" smtClean="0"/>
              <a:t>5</a:t>
            </a:fld>
            <a:endParaRPr lang="en-IN"/>
          </a:p>
        </p:txBody>
      </p:sp>
      <p:sp>
        <p:nvSpPr>
          <p:cNvPr id="24" name="Proposed subtitle"/>
          <p:cNvSpPr txBox="1"/>
          <p:nvPr/>
        </p:nvSpPr>
        <p:spPr>
          <a:xfrm>
            <a:off x="841248" y="1783080"/>
            <a:ext cx="10509504" cy="365760"/>
          </a:xfrm>
          <a:prstGeom prst="rect">
            <a:avLst/>
          </a:prstGeom>
          <a:noFill/>
        </p:spPr>
        <p:txBody>
          <a:bodyPr wrap="square" lIns="0" tIns="0" rIns="0" bIns="0" anchor="t">
            <a:noAutofit/>
          </a:bodyPr>
          <a:lstStyle/>
          <a:p>
            <a:pPr algn="l">
              <a:spcAft>
                <a:spcPts val="0"/>
              </a:spcAft>
            </a:pPr>
            <a:r>
              <a:rPr lang="en-IN" sz="2000" b="1" i="0" dirty="0">
                <a:solidFill>
                  <a:srgbClr val="156082"/>
                </a:solidFill>
              </a:rPr>
              <a:t>A rule-based Java program that closes each gap</a:t>
            </a:r>
          </a:p>
        </p:txBody>
      </p:sp>
      <p:sp>
        <p:nvSpPr>
          <p:cNvPr id="25" name="Proposed row 1"/>
          <p:cNvSpPr/>
          <p:nvPr/>
        </p:nvSpPr>
        <p:spPr>
          <a:xfrm>
            <a:off x="841248" y="2286000"/>
            <a:ext cx="6309360" cy="800100"/>
          </a:xfrm>
          <a:prstGeom prst="roundRect">
            <a:avLst>
              <a:gd name="adj" fmla="val 8000"/>
            </a:avLst>
          </a:prstGeom>
          <a:solidFill>
            <a:srgbClr val="FFFFFF"/>
          </a:solidFill>
          <a:ln w="9525">
            <a:solidFill>
              <a:srgbClr val="E3E9EF"/>
            </a:solidFill>
          </a:ln>
          <a:effectLst>
            <a:outerShdw blurRad="76200" dist="25400" dir="5400000" algn="t" rotWithShape="0">
              <a:srgbClr val="0E2841">
                <a:alpha val="14000"/>
              </a:srgbClr>
            </a:outerShdw>
          </a:effectLst>
        </p:spPr>
        <p:txBody>
          <a:bodyPr rtlCol="0" lIns="0" tIns="0" rIns="0" bIns="0" anchor="ctr"/>
          <a:lstStyle/>
          <a:p>
            <a:pPr algn="ctr"/>
          </a:p>
        </p:txBody>
      </p:sp>
      <p:sp>
        <p:nvSpPr>
          <p:cNvPr id="26" name="Proposed icon 1"/>
          <p:cNvSpPr/>
          <p:nvPr/>
        </p:nvSpPr>
        <p:spPr>
          <a:xfrm>
            <a:off x="1024128" y="2480310"/>
            <a:ext cx="411480" cy="411480"/>
          </a:xfrm>
          <a:prstGeom prst="ellipse">
            <a:avLst/>
          </a:prstGeom>
          <a:solidFill>
            <a:srgbClr val="2FA84F"/>
          </a:solidFill>
          <a:ln>
            <a:noFill/>
          </a:ln>
        </p:spPr>
        <p:txBody>
          <a:bodyPr rtlCol="0" lIns="0" tIns="0" rIns="0" bIns="0" anchor="ctr"/>
          <a:lstStyle/>
          <a:p>
            <a:pPr algn="ctr"/>
            <a:r>
              <a:rPr lang="en-IN" sz="1600" b="1" i="0" dirty="0">
                <a:solidFill>
                  <a:srgbClr val="FFFFFF"/>
                </a:solidFill>
              </a:rPr>
              <a:t>1</a:t>
            </a:r>
          </a:p>
        </p:txBody>
      </p:sp>
      <p:sp>
        <p:nvSpPr>
          <p:cNvPr id="27" name="Proposed text 1"/>
          <p:cNvSpPr txBox="1"/>
          <p:nvPr/>
        </p:nvSpPr>
        <p:spPr>
          <a:xfrm>
            <a:off x="1618488" y="2286000"/>
            <a:ext cx="5349240" cy="800100"/>
          </a:xfrm>
          <a:prstGeom prst="rect">
            <a:avLst/>
          </a:prstGeom>
          <a:noFill/>
        </p:spPr>
        <p:txBody>
          <a:bodyPr wrap="square" lIns="0" tIns="0" rIns="0" bIns="0" anchor="ctr">
            <a:noAutofit/>
          </a:bodyPr>
          <a:lstStyle/>
          <a:p>
            <a:pPr algn="l">
              <a:spcAft>
                <a:spcPts val="200"/>
              </a:spcAft>
            </a:pPr>
            <a:r>
              <a:rPr lang="en-IN" sz="1600" b="1" i="0" dirty="0">
                <a:solidFill>
                  <a:srgbClr val="0E2841"/>
                </a:solidFill>
              </a:rPr>
              <a:t>Fixed rules, same answer every time</a:t>
            </a:r>
          </a:p>
          <a:p>
            <a:pPr algn="l">
              <a:spcAft>
                <a:spcPts val="0"/>
              </a:spcAft>
            </a:pPr>
            <a:r>
              <a:rPr lang="en-IN" sz="1400" b="0" i="0" dirty="0">
                <a:solidFill>
                  <a:srgbClr val="5B6B7F"/>
                </a:solidFill>
              </a:rPr>
              <a:t>The same vitals always give the same category, whoever enters them.</a:t>
            </a:r>
          </a:p>
        </p:txBody>
      </p:sp>
      <p:sp>
        <p:nvSpPr>
          <p:cNvPr id="28" name="Proposed row 2"/>
          <p:cNvSpPr/>
          <p:nvPr/>
        </p:nvSpPr>
        <p:spPr>
          <a:xfrm>
            <a:off x="841248" y="3216100"/>
            <a:ext cx="6309360" cy="800100"/>
          </a:xfrm>
          <a:prstGeom prst="roundRect">
            <a:avLst>
              <a:gd name="adj" fmla="val 8000"/>
            </a:avLst>
          </a:prstGeom>
          <a:solidFill>
            <a:srgbClr val="FFFFFF"/>
          </a:solidFill>
          <a:ln w="9525">
            <a:solidFill>
              <a:srgbClr val="E3E9EF"/>
            </a:solidFill>
          </a:ln>
          <a:effectLst>
            <a:outerShdw blurRad="76200" dist="25400" dir="5400000" algn="t" rotWithShape="0">
              <a:srgbClr val="0E2841">
                <a:alpha val="14000"/>
              </a:srgbClr>
            </a:outerShdw>
          </a:effectLst>
        </p:spPr>
        <p:txBody>
          <a:bodyPr rtlCol="0" lIns="0" tIns="0" rIns="0" bIns="0" anchor="ctr"/>
          <a:lstStyle/>
          <a:p>
            <a:pPr algn="ctr"/>
          </a:p>
        </p:txBody>
      </p:sp>
      <p:sp>
        <p:nvSpPr>
          <p:cNvPr id="29" name="Proposed icon 2"/>
          <p:cNvSpPr/>
          <p:nvPr/>
        </p:nvSpPr>
        <p:spPr>
          <a:xfrm>
            <a:off x="1024128" y="3410410"/>
            <a:ext cx="411480" cy="411480"/>
          </a:xfrm>
          <a:prstGeom prst="ellipse">
            <a:avLst/>
          </a:prstGeom>
          <a:solidFill>
            <a:srgbClr val="2FA84F"/>
          </a:solidFill>
          <a:ln>
            <a:noFill/>
          </a:ln>
        </p:spPr>
        <p:txBody>
          <a:bodyPr rtlCol="0" lIns="0" tIns="0" rIns="0" bIns="0" anchor="ctr"/>
          <a:lstStyle/>
          <a:p>
            <a:pPr algn="ctr"/>
            <a:r>
              <a:rPr lang="en-IN" sz="1600" b="1" i="0" dirty="0">
                <a:solidFill>
                  <a:srgbClr val="FFFFFF"/>
                </a:solidFill>
              </a:rPr>
              <a:t>2</a:t>
            </a:r>
          </a:p>
        </p:txBody>
      </p:sp>
      <p:sp>
        <p:nvSpPr>
          <p:cNvPr id="30" name="Proposed text 2"/>
          <p:cNvSpPr txBox="1"/>
          <p:nvPr/>
        </p:nvSpPr>
        <p:spPr>
          <a:xfrm>
            <a:off x="1618488" y="3216100"/>
            <a:ext cx="5349240" cy="800100"/>
          </a:xfrm>
          <a:prstGeom prst="rect">
            <a:avLst/>
          </a:prstGeom>
          <a:noFill/>
        </p:spPr>
        <p:txBody>
          <a:bodyPr wrap="square" lIns="0" tIns="0" rIns="0" bIns="0" anchor="ctr">
            <a:noAutofit/>
          </a:bodyPr>
          <a:lstStyle/>
          <a:p>
            <a:pPr algn="l">
              <a:spcAft>
                <a:spcPts val="200"/>
              </a:spcAft>
            </a:pPr>
            <a:r>
              <a:rPr lang="en-IN" sz="1600" b="1" i="0" dirty="0">
                <a:solidFill>
                  <a:srgbClr val="0E2841"/>
                </a:solidFill>
              </a:rPr>
              <a:t>Patients stored and searchable</a:t>
            </a:r>
          </a:p>
          <a:p>
            <a:pPr algn="l">
              <a:spcAft>
                <a:spcPts val="0"/>
              </a:spcAft>
            </a:pPr>
            <a:r>
              <a:rPr lang="en-IN" sz="1400" b="0" i="0" dirty="0">
                <a:solidFill>
                  <a:srgbClr val="5B6B7F"/>
                </a:solidFill>
              </a:rPr>
              <a:t>All patients sit in a list; search finds one by name in a single step.</a:t>
            </a:r>
          </a:p>
        </p:txBody>
      </p:sp>
      <p:sp>
        <p:nvSpPr>
          <p:cNvPr id="31" name="Proposed row 3"/>
          <p:cNvSpPr/>
          <p:nvPr/>
        </p:nvSpPr>
        <p:spPr>
          <a:xfrm>
            <a:off x="841248" y="4146200"/>
            <a:ext cx="6309360" cy="800100"/>
          </a:xfrm>
          <a:prstGeom prst="roundRect">
            <a:avLst>
              <a:gd name="adj" fmla="val 8000"/>
            </a:avLst>
          </a:prstGeom>
          <a:solidFill>
            <a:srgbClr val="FFFFFF"/>
          </a:solidFill>
          <a:ln w="9525">
            <a:solidFill>
              <a:srgbClr val="E3E9EF"/>
            </a:solidFill>
          </a:ln>
          <a:effectLst>
            <a:outerShdw blurRad="76200" dist="25400" dir="5400000" algn="t" rotWithShape="0">
              <a:srgbClr val="0E2841">
                <a:alpha val="14000"/>
              </a:srgbClr>
            </a:outerShdw>
          </a:effectLst>
        </p:spPr>
        <p:txBody>
          <a:bodyPr rtlCol="0" lIns="0" tIns="0" rIns="0" bIns="0" anchor="ctr"/>
          <a:lstStyle/>
          <a:p>
            <a:pPr algn="ctr"/>
          </a:p>
        </p:txBody>
      </p:sp>
      <p:sp>
        <p:nvSpPr>
          <p:cNvPr id="32" name="Proposed icon 3"/>
          <p:cNvSpPr/>
          <p:nvPr/>
        </p:nvSpPr>
        <p:spPr>
          <a:xfrm>
            <a:off x="1024128" y="4340510"/>
            <a:ext cx="411480" cy="411480"/>
          </a:xfrm>
          <a:prstGeom prst="ellipse">
            <a:avLst/>
          </a:prstGeom>
          <a:solidFill>
            <a:srgbClr val="2FA84F"/>
          </a:solidFill>
          <a:ln>
            <a:noFill/>
          </a:ln>
        </p:spPr>
        <p:txBody>
          <a:bodyPr rtlCol="0" lIns="0" tIns="0" rIns="0" bIns="0" anchor="ctr"/>
          <a:lstStyle/>
          <a:p>
            <a:pPr algn="ctr"/>
            <a:r>
              <a:rPr lang="en-IN" sz="1600" b="1" i="0" dirty="0">
                <a:solidFill>
                  <a:srgbClr val="FFFFFF"/>
                </a:solidFill>
              </a:rPr>
              <a:t>3</a:t>
            </a:r>
          </a:p>
        </p:txBody>
      </p:sp>
      <p:sp>
        <p:nvSpPr>
          <p:cNvPr id="33" name="Proposed text 3"/>
          <p:cNvSpPr txBox="1"/>
          <p:nvPr/>
        </p:nvSpPr>
        <p:spPr>
          <a:xfrm>
            <a:off x="1618488" y="4146200"/>
            <a:ext cx="5349240" cy="800100"/>
          </a:xfrm>
          <a:prstGeom prst="rect">
            <a:avLst/>
          </a:prstGeom>
          <a:noFill/>
        </p:spPr>
        <p:txBody>
          <a:bodyPr wrap="square" lIns="0" tIns="0" rIns="0" bIns="0" anchor="ctr">
            <a:noAutofit/>
          </a:bodyPr>
          <a:lstStyle/>
          <a:p>
            <a:pPr algn="l">
              <a:spcAft>
                <a:spcPts val="200"/>
              </a:spcAft>
            </a:pPr>
            <a:r>
              <a:rPr lang="en-IN" sz="1600" b="1" i="0" dirty="0">
                <a:solidFill>
                  <a:srgbClr val="0E2841"/>
                </a:solidFill>
              </a:rPr>
              <a:t>Small console program</a:t>
            </a:r>
          </a:p>
          <a:p>
            <a:pPr algn="l">
              <a:spcAft>
                <a:spcPts val="0"/>
              </a:spcAft>
            </a:pPr>
            <a:r>
              <a:rPr lang="en-IN" sz="1400" b="0" i="0" dirty="0">
                <a:solidFill>
                  <a:srgbClr val="5B6B7F"/>
                </a:solidFill>
              </a:rPr>
              <a:t>Runs with plain Java. No setup, no training, no cost.</a:t>
            </a:r>
          </a:p>
        </p:txBody>
      </p:sp>
      <p:sp>
        <p:nvSpPr>
          <p:cNvPr id="34" name="Proposed row 4"/>
          <p:cNvSpPr/>
          <p:nvPr/>
        </p:nvSpPr>
        <p:spPr>
          <a:xfrm>
            <a:off x="841248" y="5076300"/>
            <a:ext cx="6309360" cy="800100"/>
          </a:xfrm>
          <a:prstGeom prst="roundRect">
            <a:avLst>
              <a:gd name="adj" fmla="val 8000"/>
            </a:avLst>
          </a:prstGeom>
          <a:solidFill>
            <a:srgbClr val="FFFFFF"/>
          </a:solidFill>
          <a:ln w="9525">
            <a:solidFill>
              <a:srgbClr val="E3E9EF"/>
            </a:solidFill>
          </a:ln>
          <a:effectLst>
            <a:outerShdw blurRad="76200" dist="25400" dir="5400000" algn="t" rotWithShape="0">
              <a:srgbClr val="0E2841">
                <a:alpha val="14000"/>
              </a:srgbClr>
            </a:outerShdw>
          </a:effectLst>
        </p:spPr>
        <p:txBody>
          <a:bodyPr rtlCol="0" lIns="0" tIns="0" rIns="0" bIns="0" anchor="ctr"/>
          <a:lstStyle/>
          <a:p>
            <a:pPr algn="ctr"/>
          </a:p>
        </p:txBody>
      </p:sp>
      <p:sp>
        <p:nvSpPr>
          <p:cNvPr id="35" name="Proposed icon 4"/>
          <p:cNvSpPr/>
          <p:nvPr/>
        </p:nvSpPr>
        <p:spPr>
          <a:xfrm>
            <a:off x="1024128" y="5270610"/>
            <a:ext cx="411480" cy="411480"/>
          </a:xfrm>
          <a:prstGeom prst="ellipse">
            <a:avLst/>
          </a:prstGeom>
          <a:solidFill>
            <a:srgbClr val="2FA84F"/>
          </a:solidFill>
          <a:ln>
            <a:noFill/>
          </a:ln>
        </p:spPr>
        <p:txBody>
          <a:bodyPr rtlCol="0" lIns="0" tIns="0" rIns="0" bIns="0" anchor="ctr"/>
          <a:lstStyle/>
          <a:p>
            <a:pPr algn="ctr"/>
            <a:r>
              <a:rPr lang="en-IN" sz="1600" b="1" i="0" dirty="0">
                <a:solidFill>
                  <a:srgbClr val="FFFFFF"/>
                </a:solidFill>
              </a:rPr>
              <a:t>4</a:t>
            </a:r>
          </a:p>
        </p:txBody>
      </p:sp>
      <p:sp>
        <p:nvSpPr>
          <p:cNvPr id="36" name="Proposed text 4"/>
          <p:cNvSpPr txBox="1"/>
          <p:nvPr/>
        </p:nvSpPr>
        <p:spPr>
          <a:xfrm>
            <a:off x="1618488" y="5076300"/>
            <a:ext cx="5349240" cy="800100"/>
          </a:xfrm>
          <a:prstGeom prst="rect">
            <a:avLst/>
          </a:prstGeom>
          <a:noFill/>
        </p:spPr>
        <p:txBody>
          <a:bodyPr wrap="square" lIns="0" tIns="0" rIns="0" bIns="0" anchor="ctr">
            <a:noAutofit/>
          </a:bodyPr>
          <a:lstStyle/>
          <a:p>
            <a:pPr algn="l">
              <a:spcAft>
                <a:spcPts val="200"/>
              </a:spcAft>
            </a:pPr>
            <a:r>
              <a:rPr lang="en-IN" sz="1600" b="1" i="0" dirty="0">
                <a:solidFill>
                  <a:srgbClr val="0E2841"/>
                </a:solidFill>
              </a:rPr>
              <a:t>Rules you can read</a:t>
            </a:r>
          </a:p>
          <a:p>
            <a:pPr algn="l">
              <a:spcAft>
                <a:spcPts val="0"/>
              </a:spcAft>
            </a:pPr>
            <a:r>
              <a:rPr lang="en-IN" sz="1400" b="0" i="0" dirty="0">
                <a:solidFill>
                  <a:srgbClr val="5B6B7F"/>
                </a:solidFill>
              </a:rPr>
              <a:t>The triage rules are written in plain code in getCategory().</a:t>
            </a:r>
          </a:p>
        </p:txBody>
      </p:sp>
      <p:sp>
        <p:nvSpPr>
          <p:cNvPr id="37" name="Proposed panel"/>
          <p:cNvSpPr/>
          <p:nvPr/>
        </p:nvSpPr>
        <p:spPr>
          <a:xfrm>
            <a:off x="7455408" y="2286000"/>
            <a:ext cx="3895344" cy="3590400"/>
          </a:xfrm>
          <a:prstGeom prst="roundRect">
            <a:avLst>
              <a:gd name="adj" fmla="val 4000"/>
            </a:avLst>
          </a:prstGeom>
          <a:solidFill>
            <a:srgbClr val="0E2841"/>
          </a:solidFill>
          <a:ln>
            <a:noFill/>
          </a:ln>
          <a:effectLst>
            <a:outerShdw blurRad="76200" dist="25400" dir="5400000" algn="t" rotWithShape="0">
              <a:srgbClr val="0E2841">
                <a:alpha val="14000"/>
              </a:srgbClr>
            </a:outerShdw>
          </a:effectLst>
        </p:spPr>
        <p:txBody>
          <a:bodyPr rtlCol="0" lIns="0" tIns="0" rIns="0" bIns="0" anchor="ctr"/>
          <a:lstStyle/>
          <a:p>
            <a:pPr algn="ctr"/>
          </a:p>
        </p:txBody>
      </p:sp>
      <p:sp>
        <p:nvSpPr>
          <p:cNvPr id="38" name="Proposed panel text"/>
          <p:cNvSpPr txBox="1"/>
          <p:nvPr/>
        </p:nvSpPr>
        <p:spPr>
          <a:xfrm>
            <a:off x="7684008" y="2514600"/>
            <a:ext cx="3438144" cy="3133200"/>
          </a:xfrm>
          <a:prstGeom prst="rect">
            <a:avLst/>
          </a:prstGeom>
          <a:noFill/>
        </p:spPr>
        <p:txBody>
          <a:bodyPr wrap="square" lIns="0" tIns="0" rIns="0" bIns="0" anchor="t">
            <a:noAutofit/>
          </a:bodyPr>
          <a:lstStyle/>
          <a:p>
            <a:pPr algn="l">
              <a:spcAft>
                <a:spcPts val="900"/>
              </a:spcAft>
            </a:pPr>
            <a:r>
              <a:rPr lang="en-IN" sz="1800" b="1" i="0" dirty="0">
                <a:solidFill>
                  <a:srgbClr val="FFFFFF"/>
                </a:solidFill>
              </a:rPr>
              <a:t>What the program adds</a:t>
            </a:r>
          </a:p>
          <a:p>
            <a:pPr marL="228600" indent="-228600" algn="l">
              <a:spcAft>
                <a:spcPts val="700"/>
              </a:spcAft>
              <a:buFont typeface="Arial"/>
              <a:buChar char="•"/>
            </a:pPr>
            <a:r>
              <a:rPr lang="en-IN" sz="1400" b="0" i="0" dirty="0">
                <a:solidFill>
                  <a:srgbClr val="E6EDF3"/>
                </a:solidFill>
              </a:rPr>
              <a:t>Input is checked and bad values are asked again</a:t>
            </a:r>
          </a:p>
          <a:p>
            <a:pPr marL="228600" indent="-228600" algn="l">
              <a:spcAft>
                <a:spcPts val="700"/>
              </a:spcAft>
              <a:buFont typeface="Arial"/>
              <a:buChar char="•"/>
            </a:pPr>
            <a:r>
              <a:rPr lang="en-IN" sz="1400" b="0" i="0" dirty="0">
                <a:solidFill>
                  <a:srgbClr val="E6EDF3"/>
                </a:solidFill>
              </a:rPr>
              <a:t>RED, YELLOW or GREEN from fixed rules</a:t>
            </a:r>
          </a:p>
          <a:p>
            <a:pPr marL="228600" indent="-228600" algn="l">
              <a:spcAft>
                <a:spcPts val="700"/>
              </a:spcAft>
              <a:buFont typeface="Arial"/>
              <a:buChar char="•"/>
            </a:pPr>
            <a:r>
              <a:rPr lang="en-IN" sz="1400" b="0" i="0" dirty="0">
                <a:solidFill>
                  <a:srgbClr val="E6EDF3"/>
                </a:solidFill>
              </a:rPr>
              <a:t>Injury and illness follow different rules (inheritance)</a:t>
            </a:r>
          </a:p>
          <a:p>
            <a:pPr marL="228600" indent="-228600" algn="l">
              <a:spcAft>
                <a:spcPts val="700"/>
              </a:spcAft>
              <a:buFont typeface="Arial"/>
              <a:buChar char="•"/>
            </a:pPr>
            <a:r>
              <a:rPr lang="en-IN" sz="1400" b="0" i="0" dirty="0">
                <a:solidFill>
                  <a:srgbClr val="E6EDF3"/>
                </a:solidFill>
              </a:rPr>
              <a:t>Queue sorted by category, then higher pain first</a:t>
            </a:r>
          </a:p>
          <a:p>
            <a:pPr marL="228600" indent="-228600" algn="l">
              <a:spcAft>
                <a:spcPts val="700"/>
              </a:spcAft>
              <a:buFont typeface="Arial"/>
              <a:buChar char="•"/>
            </a:pPr>
            <a:r>
              <a:rPr lang="en-IN" sz="1400" b="0" i="0" dirty="0">
                <a:solidFill>
                  <a:srgbClr val="E6EDF3"/>
                </a:solidFill>
              </a:rPr>
              <a:t>Search by name, ignoring capital letters</a:t>
            </a:r>
          </a:p>
        </p:txBody>
      </p:sp>
    </p:spTree>
    <p:extLst>
      <p:ext uri="{BB962C8B-B14F-4D97-AF65-F5344CB8AC3E}">
        <p14:creationId xmlns:p14="http://schemas.microsoft.com/office/powerpoint/2010/main" val="39800905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4AC2B-1702-695F-E0B5-9F6550F04B7D}"/>
              </a:ext>
            </a:extLst>
          </p:cNvPr>
          <p:cNvSpPr>
            <a:spLocks noGrp="1"/>
          </p:cNvSpPr>
          <p:nvPr>
            <p:ph type="title"/>
          </p:nvPr>
        </p:nvSpPr>
        <p:spPr/>
        <p:txBody>
          <a:bodyPr/>
          <a:lstStyle/>
          <a:p>
            <a:r>
              <a:rPr lang="en-IN" sz="3400" b="1" dirty="0">
                <a:solidFill>
                  <a:srgbClr val="0E2841"/>
                </a:solidFill>
              </a:rPr>
              <a:t>Existing System</a:t>
            </a:r>
          </a:p>
        </p:txBody>
      </p:sp>
      <p:sp>
        <p:nvSpPr>
          <p:cNvPr id="4" name="Date Placeholder 3">
            <a:extLst>
              <a:ext uri="{FF2B5EF4-FFF2-40B4-BE49-F238E27FC236}">
                <a16:creationId xmlns:a16="http://schemas.microsoft.com/office/drawing/2014/main" id="{81A350AE-3599-26AF-9C41-62ADA08AED5A}"/>
              </a:ext>
            </a:extLst>
          </p:cNvPr>
          <p:cNvSpPr>
            <a:spLocks noGrp="1"/>
          </p:cNvSpPr>
          <p:nvPr>
            <p:ph type="dt" sz="half" idx="10"/>
          </p:nvPr>
        </p:nvSpPr>
        <p:spPr/>
        <p:txBody>
          <a:bodyPr/>
          <a:lstStyle/>
          <a:p>
            <a:fld id="{204A9410-9F72-4C75-ADBD-63106BC7C7D6}" type="datetime1">
              <a:rPr lang="en-IN" smtClean="0"/>
              <a:t>16-10-2026</a:t>
            </a:fld>
            <a:endParaRPr lang="en-IN"/>
          </a:p>
        </p:txBody>
      </p:sp>
      <p:sp>
        <p:nvSpPr>
          <p:cNvPr id="5" name="Slide Number Placeholder 4">
            <a:extLst>
              <a:ext uri="{FF2B5EF4-FFF2-40B4-BE49-F238E27FC236}">
                <a16:creationId xmlns:a16="http://schemas.microsoft.com/office/drawing/2014/main" id="{4A261277-3D40-ACA2-AEC9-E9A0E9DC1318}"/>
              </a:ext>
            </a:extLst>
          </p:cNvPr>
          <p:cNvSpPr>
            <a:spLocks noGrp="1"/>
          </p:cNvSpPr>
          <p:nvPr>
            <p:ph type="sldNum" sz="quarter" idx="12"/>
          </p:nvPr>
        </p:nvSpPr>
        <p:spPr/>
        <p:txBody>
          <a:bodyPr/>
          <a:lstStyle/>
          <a:p>
            <a:fld id="{CB012AB6-14AF-4351-87AD-D420B05274E1}" type="slidenum">
              <a:rPr lang="en-IN" smtClean="0"/>
              <a:t>4</a:t>
            </a:fld>
            <a:endParaRPr lang="en-IN"/>
          </a:p>
        </p:txBody>
      </p:sp>
      <p:sp>
        <p:nvSpPr>
          <p:cNvPr id="11" name="Existing subtitle"/>
          <p:cNvSpPr txBox="1"/>
          <p:nvPr/>
        </p:nvSpPr>
        <p:spPr>
          <a:xfrm>
            <a:off x="841248" y="1783080"/>
            <a:ext cx="10509504" cy="365760"/>
          </a:xfrm>
          <a:prstGeom prst="rect">
            <a:avLst/>
          </a:prstGeom>
          <a:noFill/>
        </p:spPr>
        <p:txBody>
          <a:bodyPr wrap="square" lIns="0" tIns="0" rIns="0" bIns="0" anchor="t">
            <a:noAutofit/>
          </a:bodyPr>
          <a:lstStyle/>
          <a:p>
            <a:pPr algn="l">
              <a:spcAft>
                <a:spcPts val="0"/>
              </a:spcAft>
            </a:pPr>
            <a:r>
              <a:rPr lang="en-IN" sz="2000" b="1" i="0" dirty="0">
                <a:solidFill>
                  <a:srgbClr val="E5484D"/>
                </a:solidFill>
              </a:rPr>
              <a:t>Nurse-led triage protocols and full hospital software</a:t>
            </a:r>
          </a:p>
        </p:txBody>
      </p:sp>
      <p:sp>
        <p:nvSpPr>
          <p:cNvPr id="12" name="Existing card 1"/>
          <p:cNvSpPr/>
          <p:nvPr/>
        </p:nvSpPr>
        <p:spPr>
          <a:xfrm>
            <a:off x="841248" y="2286000"/>
            <a:ext cx="5102352" cy="1550000"/>
          </a:xfrm>
          <a:prstGeom prst="roundRect">
            <a:avLst>
              <a:gd name="adj" fmla="val 8000"/>
            </a:avLst>
          </a:prstGeom>
          <a:solidFill>
            <a:srgbClr val="FFFFFF"/>
          </a:solidFill>
          <a:ln w="9525">
            <a:solidFill>
              <a:srgbClr val="E3E9EF"/>
            </a:solidFill>
          </a:ln>
          <a:effectLst>
            <a:outerShdw blurRad="76200" dist="25400" dir="5400000" algn="t" rotWithShape="0">
              <a:srgbClr val="0E2841">
                <a:alpha val="14000"/>
              </a:srgbClr>
            </a:outerShdw>
          </a:effectLst>
        </p:spPr>
        <p:txBody>
          <a:bodyPr rtlCol="0" lIns="0" tIns="0" rIns="0" bIns="0" anchor="ctr"/>
          <a:lstStyle/>
          <a:p>
            <a:pPr algn="ctr"/>
          </a:p>
        </p:txBody>
      </p:sp>
      <p:sp>
        <p:nvSpPr>
          <p:cNvPr id="13" name="Existing icon 1"/>
          <p:cNvSpPr/>
          <p:nvPr/>
        </p:nvSpPr>
        <p:spPr>
          <a:xfrm>
            <a:off x="1069848" y="2514600"/>
            <a:ext cx="457200" cy="457200"/>
          </a:xfrm>
          <a:prstGeom prst="ellipse">
            <a:avLst/>
          </a:prstGeom>
          <a:solidFill>
            <a:srgbClr val="E5484D"/>
          </a:solidFill>
          <a:ln>
            <a:noFill/>
          </a:ln>
        </p:spPr>
        <p:txBody>
          <a:bodyPr rtlCol="0" lIns="0" tIns="0" rIns="0" bIns="0" anchor="ctr"/>
          <a:lstStyle/>
          <a:p>
            <a:pPr algn="ctr"/>
            <a:r>
              <a:rPr lang="en-IN" sz="1600" b="1" i="0" dirty="0">
                <a:solidFill>
                  <a:srgbClr val="FFFFFF"/>
                </a:solidFill>
              </a:rPr>
              <a:t>!</a:t>
            </a:r>
          </a:p>
        </p:txBody>
      </p:sp>
      <p:sp>
        <p:nvSpPr>
          <p:cNvPr id="14" name="Existing text 1"/>
          <p:cNvSpPr txBox="1"/>
          <p:nvPr/>
        </p:nvSpPr>
        <p:spPr>
          <a:xfrm>
            <a:off x="1755648" y="2491740"/>
            <a:ext cx="3959352" cy="1138520"/>
          </a:xfrm>
          <a:prstGeom prst="rect">
            <a:avLst/>
          </a:prstGeom>
          <a:noFill/>
        </p:spPr>
        <p:txBody>
          <a:bodyPr wrap="square" lIns="0" tIns="0" rIns="0" bIns="0" anchor="t">
            <a:noAutofit/>
          </a:bodyPr>
          <a:lstStyle/>
          <a:p>
            <a:pPr algn="l">
              <a:spcAft>
                <a:spcPts val="500"/>
              </a:spcAft>
            </a:pPr>
            <a:r>
              <a:rPr lang="en-IN" sz="1800" b="1" i="0" dirty="0">
                <a:solidFill>
                  <a:srgbClr val="0E2841"/>
                </a:solidFill>
              </a:rPr>
              <a:t>Judgment-based triage</a:t>
            </a:r>
          </a:p>
          <a:p>
            <a:pPr algn="l">
              <a:spcAft>
                <a:spcPts val="0"/>
              </a:spcAft>
            </a:pPr>
            <a:r>
              <a:rPr lang="en-IN" sz="1400" b="0" i="0" dirty="0">
                <a:solidFill>
                  <a:srgbClr val="5B6B7F"/>
                </a:solidFill>
              </a:rPr>
              <a:t>Protocols like ESI and Manchester rely on a nurse's assessment, so the same patient can be rated differently by different staff.</a:t>
            </a:r>
          </a:p>
        </p:txBody>
      </p:sp>
      <p:sp>
        <p:nvSpPr>
          <p:cNvPr id="15" name="Existing card 2"/>
          <p:cNvSpPr/>
          <p:nvPr/>
        </p:nvSpPr>
        <p:spPr>
          <a:xfrm>
            <a:off x="6248400" y="2286000"/>
            <a:ext cx="5102352" cy="1550000"/>
          </a:xfrm>
          <a:prstGeom prst="roundRect">
            <a:avLst>
              <a:gd name="adj" fmla="val 8000"/>
            </a:avLst>
          </a:prstGeom>
          <a:solidFill>
            <a:srgbClr val="FFFFFF"/>
          </a:solidFill>
          <a:ln w="9525">
            <a:solidFill>
              <a:srgbClr val="E3E9EF"/>
            </a:solidFill>
          </a:ln>
          <a:effectLst>
            <a:outerShdw blurRad="76200" dist="25400" dir="5400000" algn="t" rotWithShape="0">
              <a:srgbClr val="0E2841">
                <a:alpha val="14000"/>
              </a:srgbClr>
            </a:outerShdw>
          </a:effectLst>
        </p:spPr>
        <p:txBody>
          <a:bodyPr rtlCol="0" lIns="0" tIns="0" rIns="0" bIns="0" anchor="ctr"/>
          <a:lstStyle/>
          <a:p>
            <a:pPr algn="ctr"/>
          </a:p>
        </p:txBody>
      </p:sp>
      <p:sp>
        <p:nvSpPr>
          <p:cNvPr id="16" name="Existing icon 2"/>
          <p:cNvSpPr/>
          <p:nvPr/>
        </p:nvSpPr>
        <p:spPr>
          <a:xfrm>
            <a:off x="6477000" y="2514600"/>
            <a:ext cx="457200" cy="457200"/>
          </a:xfrm>
          <a:prstGeom prst="ellipse">
            <a:avLst/>
          </a:prstGeom>
          <a:solidFill>
            <a:srgbClr val="E5484D"/>
          </a:solidFill>
          <a:ln>
            <a:noFill/>
          </a:ln>
        </p:spPr>
        <p:txBody>
          <a:bodyPr rtlCol="0" lIns="0" tIns="0" rIns="0" bIns="0" anchor="ctr"/>
          <a:lstStyle/>
          <a:p>
            <a:pPr algn="ctr"/>
            <a:r>
              <a:rPr lang="en-IN" sz="1600" b="1" i="0" dirty="0">
                <a:solidFill>
                  <a:srgbClr val="FFFFFF"/>
                </a:solidFill>
              </a:rPr>
              <a:t>!</a:t>
            </a:r>
          </a:p>
        </p:txBody>
      </p:sp>
      <p:sp>
        <p:nvSpPr>
          <p:cNvPr id="17" name="Existing text 2"/>
          <p:cNvSpPr txBox="1"/>
          <p:nvPr/>
        </p:nvSpPr>
        <p:spPr>
          <a:xfrm>
            <a:off x="7162800" y="2491740"/>
            <a:ext cx="3959352" cy="1138520"/>
          </a:xfrm>
          <a:prstGeom prst="rect">
            <a:avLst/>
          </a:prstGeom>
          <a:noFill/>
        </p:spPr>
        <p:txBody>
          <a:bodyPr wrap="square" lIns="0" tIns="0" rIns="0" bIns="0" anchor="t">
            <a:noAutofit/>
          </a:bodyPr>
          <a:lstStyle/>
          <a:p>
            <a:pPr algn="l">
              <a:spcAft>
                <a:spcPts val="500"/>
              </a:spcAft>
            </a:pPr>
            <a:r>
              <a:rPr lang="en-IN" sz="1800" b="1" i="0" dirty="0">
                <a:solidFill>
                  <a:srgbClr val="0E2841"/>
                </a:solidFill>
              </a:rPr>
              <a:t>Paper records in small clinics</a:t>
            </a:r>
          </a:p>
          <a:p>
            <a:pPr algn="l">
              <a:spcAft>
                <a:spcPts val="0"/>
              </a:spcAft>
            </a:pPr>
            <a:r>
              <a:rPr lang="en-IN" sz="1400" b="0" i="0" dirty="0">
                <a:solidFill>
                  <a:srgbClr val="5B6B7F"/>
                </a:solidFill>
              </a:rPr>
              <a:t>Smaller clinics often still record patients by hand, which makes lookup and counting slow.</a:t>
            </a:r>
          </a:p>
        </p:txBody>
      </p:sp>
      <p:sp>
        <p:nvSpPr>
          <p:cNvPr id="18" name="Existing card 3"/>
          <p:cNvSpPr/>
          <p:nvPr/>
        </p:nvSpPr>
        <p:spPr>
          <a:xfrm>
            <a:off x="841248" y="4086000"/>
            <a:ext cx="5102352" cy="1550000"/>
          </a:xfrm>
          <a:prstGeom prst="roundRect">
            <a:avLst>
              <a:gd name="adj" fmla="val 8000"/>
            </a:avLst>
          </a:prstGeom>
          <a:solidFill>
            <a:srgbClr val="FFFFFF"/>
          </a:solidFill>
          <a:ln w="9525">
            <a:solidFill>
              <a:srgbClr val="E3E9EF"/>
            </a:solidFill>
          </a:ln>
          <a:effectLst>
            <a:outerShdw blurRad="76200" dist="25400" dir="5400000" algn="t" rotWithShape="0">
              <a:srgbClr val="0E2841">
                <a:alpha val="14000"/>
              </a:srgbClr>
            </a:outerShdw>
          </a:effectLst>
        </p:spPr>
        <p:txBody>
          <a:bodyPr rtlCol="0" lIns="0" tIns="0" rIns="0" bIns="0" anchor="ctr"/>
          <a:lstStyle/>
          <a:p>
            <a:pPr algn="ctr"/>
          </a:p>
        </p:txBody>
      </p:sp>
      <p:sp>
        <p:nvSpPr>
          <p:cNvPr id="19" name="Existing icon 3"/>
          <p:cNvSpPr/>
          <p:nvPr/>
        </p:nvSpPr>
        <p:spPr>
          <a:xfrm>
            <a:off x="1069848" y="4314600"/>
            <a:ext cx="457200" cy="457200"/>
          </a:xfrm>
          <a:prstGeom prst="ellipse">
            <a:avLst/>
          </a:prstGeom>
          <a:solidFill>
            <a:srgbClr val="E5484D"/>
          </a:solidFill>
          <a:ln>
            <a:noFill/>
          </a:ln>
        </p:spPr>
        <p:txBody>
          <a:bodyPr rtlCol="0" lIns="0" tIns="0" rIns="0" bIns="0" anchor="ctr"/>
          <a:lstStyle/>
          <a:p>
            <a:pPr algn="ctr"/>
            <a:r>
              <a:rPr lang="en-IN" sz="1600" b="1" i="0" dirty="0">
                <a:solidFill>
                  <a:srgbClr val="FFFFFF"/>
                </a:solidFill>
              </a:rPr>
              <a:t>!</a:t>
            </a:r>
          </a:p>
        </p:txBody>
      </p:sp>
      <p:sp>
        <p:nvSpPr>
          <p:cNvPr id="20" name="Existing text 3"/>
          <p:cNvSpPr txBox="1"/>
          <p:nvPr/>
        </p:nvSpPr>
        <p:spPr>
          <a:xfrm>
            <a:off x="1755648" y="4291740"/>
            <a:ext cx="3959352" cy="1138520"/>
          </a:xfrm>
          <a:prstGeom prst="rect">
            <a:avLst/>
          </a:prstGeom>
          <a:noFill/>
        </p:spPr>
        <p:txBody>
          <a:bodyPr wrap="square" lIns="0" tIns="0" rIns="0" bIns="0" anchor="t">
            <a:noAutofit/>
          </a:bodyPr>
          <a:lstStyle/>
          <a:p>
            <a:pPr algn="l">
              <a:spcAft>
                <a:spcPts val="500"/>
              </a:spcAft>
            </a:pPr>
            <a:r>
              <a:rPr lang="en-IN" sz="1800" b="1" i="0" dirty="0">
                <a:solidFill>
                  <a:srgbClr val="0E2841"/>
                </a:solidFill>
              </a:rPr>
              <a:t>Complex commercial software</a:t>
            </a:r>
          </a:p>
          <a:p>
            <a:pPr algn="l">
              <a:spcAft>
                <a:spcPts val="0"/>
              </a:spcAft>
            </a:pPr>
            <a:r>
              <a:rPr lang="en-IN" sz="1400" b="0" i="0" dirty="0">
                <a:solidFill>
                  <a:srgbClr val="5B6B7F"/>
                </a:solidFill>
              </a:rPr>
              <a:t>Hospital EHR systems are powerful but costly, need setup and training, and are too big for a learning project.</a:t>
            </a:r>
          </a:p>
        </p:txBody>
      </p:sp>
      <p:sp>
        <p:nvSpPr>
          <p:cNvPr id="21" name="Existing card 4"/>
          <p:cNvSpPr/>
          <p:nvPr/>
        </p:nvSpPr>
        <p:spPr>
          <a:xfrm>
            <a:off x="6248400" y="4086000"/>
            <a:ext cx="5102352" cy="1550000"/>
          </a:xfrm>
          <a:prstGeom prst="roundRect">
            <a:avLst>
              <a:gd name="adj" fmla="val 8000"/>
            </a:avLst>
          </a:prstGeom>
          <a:solidFill>
            <a:srgbClr val="FFFFFF"/>
          </a:solidFill>
          <a:ln w="9525">
            <a:solidFill>
              <a:srgbClr val="E3E9EF"/>
            </a:solidFill>
          </a:ln>
          <a:effectLst>
            <a:outerShdw blurRad="76200" dist="25400" dir="5400000" algn="t" rotWithShape="0">
              <a:srgbClr val="0E2841">
                <a:alpha val="14000"/>
              </a:srgbClr>
            </a:outerShdw>
          </a:effectLst>
        </p:spPr>
        <p:txBody>
          <a:bodyPr rtlCol="0" lIns="0" tIns="0" rIns="0" bIns="0" anchor="ctr"/>
          <a:lstStyle/>
          <a:p>
            <a:pPr algn="ctr"/>
          </a:p>
        </p:txBody>
      </p:sp>
      <p:sp>
        <p:nvSpPr>
          <p:cNvPr id="22" name="Existing icon 4"/>
          <p:cNvSpPr/>
          <p:nvPr/>
        </p:nvSpPr>
        <p:spPr>
          <a:xfrm>
            <a:off x="6477000" y="4314600"/>
            <a:ext cx="457200" cy="457200"/>
          </a:xfrm>
          <a:prstGeom prst="ellipse">
            <a:avLst/>
          </a:prstGeom>
          <a:solidFill>
            <a:srgbClr val="E5484D"/>
          </a:solidFill>
          <a:ln>
            <a:noFill/>
          </a:ln>
        </p:spPr>
        <p:txBody>
          <a:bodyPr rtlCol="0" lIns="0" tIns="0" rIns="0" bIns="0" anchor="ctr"/>
          <a:lstStyle/>
          <a:p>
            <a:pPr algn="ctr"/>
            <a:r>
              <a:rPr lang="en-IN" sz="1600" b="1" i="0" dirty="0">
                <a:solidFill>
                  <a:srgbClr val="FFFFFF"/>
                </a:solidFill>
              </a:rPr>
              <a:t>!</a:t>
            </a:r>
          </a:p>
        </p:txBody>
      </p:sp>
      <p:sp>
        <p:nvSpPr>
          <p:cNvPr id="23" name="Existing text 4"/>
          <p:cNvSpPr txBox="1"/>
          <p:nvPr/>
        </p:nvSpPr>
        <p:spPr>
          <a:xfrm>
            <a:off x="7162800" y="4291740"/>
            <a:ext cx="3959352" cy="1138520"/>
          </a:xfrm>
          <a:prstGeom prst="rect">
            <a:avLst/>
          </a:prstGeom>
          <a:noFill/>
        </p:spPr>
        <p:txBody>
          <a:bodyPr wrap="square" lIns="0" tIns="0" rIns="0" bIns="0" anchor="t">
            <a:noAutofit/>
          </a:bodyPr>
          <a:lstStyle/>
          <a:p>
            <a:pPr algn="l">
              <a:spcAft>
                <a:spcPts val="500"/>
              </a:spcAft>
            </a:pPr>
            <a:r>
              <a:rPr lang="en-IN" sz="1800" b="1" i="0" dirty="0">
                <a:solidFill>
                  <a:srgbClr val="0E2841"/>
                </a:solidFill>
              </a:rPr>
              <a:t>Hidden decision rules</a:t>
            </a:r>
          </a:p>
          <a:p>
            <a:pPr algn="l">
              <a:spcAft>
                <a:spcPts val="0"/>
              </a:spcAft>
            </a:pPr>
            <a:r>
              <a:rPr lang="en-IN" sz="1400" b="0" i="0" dirty="0">
                <a:solidFill>
                  <a:srgbClr val="5B6B7F"/>
                </a:solidFill>
              </a:rPr>
              <a:t>Inside large systems the triage logic is not visible, so a beginner cannot see or learn how a category is decided.</a:t>
            </a:r>
          </a:p>
        </p:txBody>
      </p:sp>
    </p:spTree>
    <p:extLst>
      <p:ext uri="{BB962C8B-B14F-4D97-AF65-F5344CB8AC3E}">
        <p14:creationId xmlns:p14="http://schemas.microsoft.com/office/powerpoint/2010/main" val="39800905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TotalTime>
  <Words>1366</Words>
  <Application>Microsoft Office PowerPoint</Application>
  <PresentationFormat>Widescreen</PresentationFormat>
  <Paragraphs>278</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vt:lpstr>
      <vt:lpstr>Aptos Display</vt:lpstr>
      <vt:lpstr>Arial</vt:lpstr>
      <vt:lpstr>Courier New</vt:lpstr>
      <vt:lpstr>Office Theme</vt:lpstr>
      <vt:lpstr>ER Triage Management System Team No: 25</vt:lpstr>
      <vt:lpstr>Abstract</vt:lpstr>
      <vt:lpstr>Understanding Problem Statement</vt:lpstr>
      <vt:lpstr>CO 1 Topics</vt:lpstr>
      <vt:lpstr>CO 2 Topics</vt:lpstr>
      <vt:lpstr>CO 3 Topics</vt:lpstr>
      <vt:lpstr>CO 4 Topics</vt:lpstr>
      <vt:lpstr>CO 5 Topics</vt:lpstr>
      <vt:lpstr>CO 6 Topics</vt:lpstr>
      <vt:lpstr>Conclusion</vt:lpstr>
      <vt:lpstr>Output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TSP MADHURI</dc:creator>
  <cp:lastModifiedBy>Harsha Ravikanti</cp:lastModifiedBy>
  <cp:revision>3</cp:revision>
  <dcterms:created xsi:type="dcterms:W3CDTF">2026-09-15T09:57:10Z</dcterms:created>
  <dcterms:modified xsi:type="dcterms:W3CDTF">2026-10-16T06:47:47Z</dcterms:modified>
</cp:coreProperties>
</file>