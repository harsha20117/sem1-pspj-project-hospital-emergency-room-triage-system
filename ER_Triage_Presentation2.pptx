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8.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3" r:id="rId14"/>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  <Relationship Id="rId14" Type="http://schemas.openxmlformats.org/officeDocument/2006/relationships/slide" Target="slides/slide8.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p:bgPr>
    </p:bg>
    <p:spTree>
      <p:nvGrpSpPr>
        <p:cNvPr id="1" name=""/>
        <p:cNvGrpSpPr/>
        <p:nvPr/>
      </p:nvGrpSpPr>
      <p:grpSpPr>
        <a:xfrm>
          <a:off x="0" y="0"/>
          <a:ext cx="0" cy="0"/>
          <a:chOff x="0" y="0"/>
          <a:chExt cx="0" cy="0"/>
        </a:xfrm>
      </p:grpSpPr>
      <p:sp>
        <p:nvSpPr>
          <p:cNvPr id="2" name="Shape 0"/>
          <p:cNvSpPr/>
          <p:nvPr/>
        </p:nvSpPr>
        <p:spPr>
          <a:xfrm>
            <a:off x="640080" y="731520"/>
            <a:ext cx="164592" cy="164592"/>
          </a:xfrm>
          <a:prstGeom prst="ellipse">
            <a:avLst/>
          </a:prstGeom>
          <a:solidFill>
            <a:srgbClr val="D64545"/>
          </a:solidFill>
          <a:ln w="12700">
            <a:solidFill>
              <a:srgbClr val="D64545"/>
            </a:solidFill>
            <a:prstDash val="solid"/>
          </a:ln>
        </p:spPr>
      </p:sp>
      <p:sp>
        <p:nvSpPr>
          <p:cNvPr id="3" name="Shape 1"/>
          <p:cNvSpPr/>
          <p:nvPr/>
        </p:nvSpPr>
        <p:spPr>
          <a:xfrm>
            <a:off x="896112" y="731520"/>
            <a:ext cx="164592" cy="164592"/>
          </a:xfrm>
          <a:prstGeom prst="ellipse">
            <a:avLst/>
          </a:prstGeom>
          <a:solidFill>
            <a:srgbClr val="E8A317"/>
          </a:solidFill>
          <a:ln w="12700">
            <a:solidFill>
              <a:srgbClr val="E8A317"/>
            </a:solidFill>
            <a:prstDash val="solid"/>
          </a:ln>
        </p:spPr>
      </p:sp>
      <p:sp>
        <p:nvSpPr>
          <p:cNvPr id="4" name="Shape 2"/>
          <p:cNvSpPr/>
          <p:nvPr/>
        </p:nvSpPr>
        <p:spPr>
          <a:xfrm>
            <a:off x="1152144" y="731520"/>
            <a:ext cx="164592" cy="164592"/>
          </a:xfrm>
          <a:prstGeom prst="ellipse">
            <a:avLst/>
          </a:prstGeom>
          <a:solidFill>
            <a:srgbClr val="2E9E6B"/>
          </a:solidFill>
          <a:ln w="12700">
            <a:solidFill>
              <a:srgbClr val="2E9E6B"/>
            </a:solidFill>
            <a:prstDash val="solid"/>
          </a:ln>
        </p:spPr>
      </p:sp>
      <p:sp>
        <p:nvSpPr>
          <p:cNvPr id="5" name="Text 3"/>
          <p:cNvSpPr txBox="1"/>
          <p:nvPr/>
        </p:nvSpPr>
        <p:spPr>
          <a:xfrm>
            <a:off x="640080" y="1371600"/>
            <a:ext cx="7863840" cy="13716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ER Triage &amp; Patient Management System</a:t>
            </a:r>
            <a:endParaRPr lang="en-US" sz="4200" dirty="0"/>
          </a:p>
        </p:txBody>
      </p:sp>
      <p:sp>
        <p:nvSpPr>
          <p:cNvPr id="6" name="Text 4"/>
          <p:cNvSpPr txBox="1"/>
          <p:nvPr/>
        </p:nvSpPr>
        <p:spPr>
          <a:xfrm>
            <a:off x="640080" y="2834640"/>
            <a:ext cx="7498080" cy="457200"/>
          </a:xfrm>
          <a:prstGeom prst="rect">
            <a:avLst/>
          </a:prstGeom>
          <a:noFill/>
          <a:ln/>
        </p:spPr>
        <p:txBody>
          <a:bodyPr wrap="square" lIns="0" tIns="0" rIns="0" bIns="0" rtlCol="0" anchor="ctr"/>
          <a:lstStyle/>
          <a:p>
            <a:pPr indent="0" marL="0">
              <a:buNone/>
            </a:pPr>
            <a:r>
              <a:rPr lang="en-US" sz="1800" dirty="0">
                <a:solidFill>
                  <a:srgbClr val="BCD3E6"/>
                </a:solidFill>
                <a:latin typeface="Calibri" pitchFamily="34" charset="0"/>
                <a:ea typeface="Calibri" pitchFamily="34" charset="-122"/>
                <a:cs typeface="Calibri" pitchFamily="34" charset="-120"/>
              </a:rPr>
              <a:t>A console-based Java application for prioritising emergency patients</a:t>
            </a:r>
            <a:endParaRPr lang="en-US" sz="1800" dirty="0"/>
          </a:p>
        </p:txBody>
      </p:sp>
      <p:sp>
        <p:nvSpPr>
          <p:cNvPr id="7" name="Text 5"/>
          <p:cNvSpPr txBox="1"/>
          <p:nvPr/>
        </p:nvSpPr>
        <p:spPr>
          <a:xfrm>
            <a:off x="640080" y="3931920"/>
            <a:ext cx="7863840" cy="640080"/>
          </a:xfrm>
          <a:prstGeom prst="rect">
            <a:avLst/>
          </a:prstGeom>
          <a:noFill/>
          <a:ln/>
        </p:spPr>
        <p:txBody>
          <a:bodyPr wrap="square" lIns="0" tIns="0" rIns="0" bIns="0" rtlCol="0" anchor="ctr"/>
          <a:lstStyle/>
          <a:p>
            <a:pPr indent="0" marL="0">
              <a:buNone/>
            </a:pPr>
            <a:r>
              <a:rPr lang="en-US" sz="1300" dirty="0">
                <a:solidFill>
                  <a:srgbClr val="8FA9BF"/>
                </a:solidFill>
                <a:latin typeface="Calibri" pitchFamily="34" charset="0"/>
                <a:ea typeface="Calibri" pitchFamily="34" charset="-122"/>
                <a:cs typeface="Calibri" pitchFamily="34" charset="-120"/>
              </a:rPr>
              <a:t>Problem Solving Using Programming (Java) · 26SC1101E</a:t>
            </a:r>
            <a:endParaRPr lang="en-US" sz="1300" dirty="0"/>
          </a:p>
          <a:p>
            <a:pPr indent="0" marL="0">
              <a:buNone/>
            </a:pPr>
            <a:r>
              <a:rPr lang="en-US" sz="1300" dirty="0">
                <a:solidFill>
                  <a:srgbClr val="8FA9BF"/>
                </a:solidFill>
                <a:latin typeface="Calibri" pitchFamily="34" charset="0"/>
                <a:ea typeface="Calibri" pitchFamily="34" charset="-122"/>
                <a:cs typeface="Calibri" pitchFamily="34" charset="-120"/>
              </a:rPr>
              <a:t>KL Deemed to be University · Presented by: Your Name (ID)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400" b="1" dirty="0">
                <a:solidFill>
                  <a:srgbClr val="16283A"/>
                </a:solidFill>
                <a:latin typeface="Cambria" pitchFamily="34" charset="0"/>
                <a:ea typeface="Cambria" pitchFamily="34" charset="-122"/>
                <a:cs typeface="Cambria" pitchFamily="34" charset="-120"/>
              </a:rPr>
              <a:t>Abstract</a:t>
            </a:r>
            <a:endParaRPr lang="en-US" sz="3400" dirty="0"/>
          </a:p>
        </p:txBody>
      </p:sp>
      <p:sp>
        <p:nvSpPr>
          <p:cNvPr id="3" name="Text 1"/>
          <p:cNvSpPr txBox="1"/>
          <p:nvPr/>
        </p:nvSpPr>
        <p:spPr>
          <a:xfrm>
            <a:off x="548640" y="1188720"/>
            <a:ext cx="4846320" cy="3291840"/>
          </a:xfrm>
          <a:prstGeom prst="rect">
            <a:avLst/>
          </a:prstGeom>
          <a:noFill/>
          <a:ln/>
        </p:spPr>
        <p:txBody>
          <a:bodyPr wrap="square" lIns="0" tIns="0" rIns="0" bIns="0" rtlCol="0" anchor="t"/>
          <a:lstStyle/>
          <a:p>
            <a:pPr indent="0" marL="0">
              <a:buNone/>
            </a:pPr>
            <a:r>
              <a:rPr lang="en-US" sz="1600" dirty="0">
                <a:solidFill>
                  <a:srgbClr val="16283A"/>
                </a:solidFill>
                <a:latin typeface="Calibri" pitchFamily="34" charset="0"/>
                <a:ea typeface="Calibri" pitchFamily="34" charset="-122"/>
                <a:cs typeface="Calibri" pitchFamily="34" charset="-120"/>
              </a:rPr>
              <a:t>In an emergency room, deciding who is treated first can save a life. This project is a Java program that reads each patient's age, consciousness, heart rate, pain level and complaint type, applies clear triage rules, and labels the patient RED, YELLOW or GREEN. Patients are stored in arrays, and a menu lets staff view the treatment queue, search by name and see statistics. The program is built from small reusable methods, with input validation and recursion.</a:t>
            </a:r>
            <a:endParaRPr lang="en-US" sz="1600" dirty="0"/>
          </a:p>
        </p:txBody>
      </p:sp>
      <p:sp>
        <p:nvSpPr>
          <p:cNvPr id="4" name="Shape 2"/>
          <p:cNvSpPr/>
          <p:nvPr/>
        </p:nvSpPr>
        <p:spPr>
          <a:xfrm>
            <a:off x="5943600" y="1188720"/>
            <a:ext cx="2651760" cy="914400"/>
          </a:xfrm>
          <a:prstGeom prst="roundRect">
            <a:avLst>
              <a:gd name="adj" fmla="val 10000"/>
            </a:avLst>
          </a:prstGeom>
          <a:solidFill>
            <a:srgbClr val="FFFFFF"/>
          </a:solidFill>
          <a:ln w="12700">
            <a:solidFill>
              <a:srgbClr val="DDE5EC"/>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080760" y="1188720"/>
            <a:ext cx="1005840" cy="914400"/>
          </a:xfrm>
          <a:prstGeom prst="rect">
            <a:avLst/>
          </a:prstGeom>
          <a:noFill/>
          <a:ln/>
        </p:spPr>
        <p:txBody>
          <a:bodyPr wrap="square" lIns="0" tIns="0" rIns="0" bIns="0" rtlCol="0" anchor="ctr"/>
          <a:lstStyle/>
          <a:p>
            <a:pPr algn="ctr" indent="0" marL="0">
              <a:buNone/>
            </a:pPr>
            <a:r>
              <a:rPr lang="en-US" sz="3400" b="1" dirty="0">
                <a:solidFill>
                  <a:srgbClr val="D64545"/>
                </a:solidFill>
                <a:latin typeface="Cambria" pitchFamily="34" charset="0"/>
                <a:ea typeface="Cambria" pitchFamily="34" charset="-122"/>
                <a:cs typeface="Cambria" pitchFamily="34" charset="-120"/>
              </a:rPr>
              <a:t>3</a:t>
            </a:r>
            <a:endParaRPr lang="en-US" sz="3400" dirty="0"/>
          </a:p>
        </p:txBody>
      </p:sp>
      <p:sp>
        <p:nvSpPr>
          <p:cNvPr id="6" name="Text 4"/>
          <p:cNvSpPr txBox="1"/>
          <p:nvPr/>
        </p:nvSpPr>
        <p:spPr>
          <a:xfrm>
            <a:off x="7132320" y="1188720"/>
            <a:ext cx="1371600" cy="914400"/>
          </a:xfrm>
          <a:prstGeom prst="rect">
            <a:avLst/>
          </a:prstGeom>
          <a:noFill/>
          <a:ln/>
        </p:spPr>
        <p:txBody>
          <a:bodyPr wrap="square" lIns="0" tIns="0" rIns="0" bIns="0" rtlCol="0" anchor="ctr"/>
          <a:lstStyle/>
          <a:p>
            <a:pPr indent="0" marL="0">
              <a:buNone/>
            </a:pPr>
            <a:r>
              <a:rPr lang="en-US" sz="1400" dirty="0">
                <a:solidFill>
                  <a:srgbClr val="16283A"/>
                </a:solidFill>
                <a:latin typeface="Calibri" pitchFamily="34" charset="0"/>
                <a:ea typeface="Calibri" pitchFamily="34" charset="-122"/>
                <a:cs typeface="Calibri" pitchFamily="34" charset="-120"/>
              </a:rPr>
              <a:t>triage categories</a:t>
            </a:r>
            <a:endParaRPr lang="en-US" sz="1400" dirty="0"/>
          </a:p>
        </p:txBody>
      </p:sp>
      <p:sp>
        <p:nvSpPr>
          <p:cNvPr id="7" name="Shape 5"/>
          <p:cNvSpPr/>
          <p:nvPr/>
        </p:nvSpPr>
        <p:spPr>
          <a:xfrm>
            <a:off x="5943600" y="2286000"/>
            <a:ext cx="2651760" cy="914400"/>
          </a:xfrm>
          <a:prstGeom prst="roundRect">
            <a:avLst>
              <a:gd name="adj" fmla="val 10000"/>
            </a:avLst>
          </a:prstGeom>
          <a:solidFill>
            <a:srgbClr val="FFFFFF"/>
          </a:solidFill>
          <a:ln w="12700">
            <a:solidFill>
              <a:srgbClr val="DDE5EC"/>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6080760" y="2286000"/>
            <a:ext cx="1005840" cy="914400"/>
          </a:xfrm>
          <a:prstGeom prst="rect">
            <a:avLst/>
          </a:prstGeom>
          <a:noFill/>
          <a:ln/>
        </p:spPr>
        <p:txBody>
          <a:bodyPr wrap="square" lIns="0" tIns="0" rIns="0" bIns="0" rtlCol="0" anchor="ctr"/>
          <a:lstStyle/>
          <a:p>
            <a:pPr algn="ctr" indent="0" marL="0">
              <a:buNone/>
            </a:pPr>
            <a:r>
              <a:rPr lang="en-US" sz="3400" b="1" dirty="0">
                <a:solidFill>
                  <a:srgbClr val="E8A317"/>
                </a:solidFill>
                <a:latin typeface="Cambria" pitchFamily="34" charset="0"/>
                <a:ea typeface="Cambria" pitchFamily="34" charset="-122"/>
                <a:cs typeface="Cambria" pitchFamily="34" charset="-120"/>
              </a:rPr>
              <a:t>4</a:t>
            </a:r>
            <a:endParaRPr lang="en-US" sz="3400" dirty="0"/>
          </a:p>
        </p:txBody>
      </p:sp>
      <p:sp>
        <p:nvSpPr>
          <p:cNvPr id="9" name="Text 7"/>
          <p:cNvSpPr txBox="1"/>
          <p:nvPr/>
        </p:nvSpPr>
        <p:spPr>
          <a:xfrm>
            <a:off x="7132320" y="2286000"/>
            <a:ext cx="1371600" cy="914400"/>
          </a:xfrm>
          <a:prstGeom prst="rect">
            <a:avLst/>
          </a:prstGeom>
          <a:noFill/>
          <a:ln/>
        </p:spPr>
        <p:txBody>
          <a:bodyPr wrap="square" lIns="0" tIns="0" rIns="0" bIns="0" rtlCol="0" anchor="ctr"/>
          <a:lstStyle/>
          <a:p>
            <a:pPr indent="0" marL="0">
              <a:buNone/>
            </a:pPr>
            <a:r>
              <a:rPr lang="en-US" sz="1400" dirty="0">
                <a:solidFill>
                  <a:srgbClr val="16283A"/>
                </a:solidFill>
                <a:latin typeface="Calibri" pitchFamily="34" charset="0"/>
                <a:ea typeface="Calibri" pitchFamily="34" charset="-122"/>
                <a:cs typeface="Calibri" pitchFamily="34" charset="-120"/>
              </a:rPr>
              <a:t>menu options</a:t>
            </a:r>
            <a:endParaRPr lang="en-US" sz="1400" dirty="0"/>
          </a:p>
        </p:txBody>
      </p:sp>
      <p:sp>
        <p:nvSpPr>
          <p:cNvPr id="10" name="Shape 8"/>
          <p:cNvSpPr/>
          <p:nvPr/>
        </p:nvSpPr>
        <p:spPr>
          <a:xfrm>
            <a:off x="5943600" y="3383280"/>
            <a:ext cx="2651760" cy="914400"/>
          </a:xfrm>
          <a:prstGeom prst="roundRect">
            <a:avLst>
              <a:gd name="adj" fmla="val 10000"/>
            </a:avLst>
          </a:prstGeom>
          <a:solidFill>
            <a:srgbClr val="FFFFFF"/>
          </a:solidFill>
          <a:ln w="12700">
            <a:solidFill>
              <a:srgbClr val="DDE5EC"/>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6080760" y="3383280"/>
            <a:ext cx="1005840" cy="914400"/>
          </a:xfrm>
          <a:prstGeom prst="rect">
            <a:avLst/>
          </a:prstGeom>
          <a:noFill/>
          <a:ln/>
        </p:spPr>
        <p:txBody>
          <a:bodyPr wrap="square" lIns="0" tIns="0" rIns="0" bIns="0" rtlCol="0" anchor="ctr"/>
          <a:lstStyle/>
          <a:p>
            <a:pPr algn="ctr" indent="0" marL="0">
              <a:buNone/>
            </a:pPr>
            <a:r>
              <a:rPr lang="en-US" sz="3400" b="1" dirty="0">
                <a:solidFill>
                  <a:srgbClr val="2E9E6B"/>
                </a:solidFill>
                <a:latin typeface="Cambria" pitchFamily="34" charset="0"/>
                <a:ea typeface="Cambria" pitchFamily="34" charset="-122"/>
                <a:cs typeface="Cambria" pitchFamily="34" charset="-120"/>
              </a:rPr>
              <a:t>10+</a:t>
            </a:r>
            <a:endParaRPr lang="en-US" sz="3400" dirty="0"/>
          </a:p>
        </p:txBody>
      </p:sp>
      <p:sp>
        <p:nvSpPr>
          <p:cNvPr id="12" name="Text 10"/>
          <p:cNvSpPr txBox="1"/>
          <p:nvPr/>
        </p:nvSpPr>
        <p:spPr>
          <a:xfrm>
            <a:off x="7132320" y="3383280"/>
            <a:ext cx="1371600" cy="914400"/>
          </a:xfrm>
          <a:prstGeom prst="rect">
            <a:avLst/>
          </a:prstGeom>
          <a:noFill/>
          <a:ln/>
        </p:spPr>
        <p:txBody>
          <a:bodyPr wrap="square" lIns="0" tIns="0" rIns="0" bIns="0" rtlCol="0" anchor="ctr"/>
          <a:lstStyle/>
          <a:p>
            <a:pPr indent="0" marL="0">
              <a:buNone/>
            </a:pPr>
            <a:r>
              <a:rPr lang="en-US" sz="1400" dirty="0">
                <a:solidFill>
                  <a:srgbClr val="16283A"/>
                </a:solidFill>
                <a:latin typeface="Calibri" pitchFamily="34" charset="0"/>
                <a:ea typeface="Calibri" pitchFamily="34" charset="-122"/>
                <a:cs typeface="Calibri" pitchFamily="34" charset="-120"/>
              </a:rPr>
              <a:t>modular methods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400" b="1" dirty="0">
                <a:solidFill>
                  <a:srgbClr val="16283A"/>
                </a:solidFill>
                <a:latin typeface="Cambria" pitchFamily="34" charset="0"/>
                <a:ea typeface="Cambria" pitchFamily="34" charset="-122"/>
                <a:cs typeface="Cambria" pitchFamily="34" charset="-120"/>
              </a:rPr>
              <a:t>Introduction</a:t>
            </a:r>
            <a:endParaRPr lang="en-US" sz="3400" dirty="0"/>
          </a:p>
        </p:txBody>
      </p:sp>
      <p:sp>
        <p:nvSpPr>
          <p:cNvPr id="3" name="Text 1"/>
          <p:cNvSpPr txBox="1"/>
          <p:nvPr/>
        </p:nvSpPr>
        <p:spPr>
          <a:xfrm>
            <a:off x="548640" y="1097280"/>
            <a:ext cx="8046720" cy="822960"/>
          </a:xfrm>
          <a:prstGeom prst="rect">
            <a:avLst/>
          </a:prstGeom>
          <a:noFill/>
          <a:ln/>
        </p:spPr>
        <p:txBody>
          <a:bodyPr wrap="square" lIns="0" tIns="0" rIns="0" bIns="0" rtlCol="0" anchor="t"/>
          <a:lstStyle/>
          <a:p>
            <a:pPr indent="0" marL="0">
              <a:buNone/>
            </a:pPr>
            <a:r>
              <a:rPr lang="en-US" sz="1600" dirty="0">
                <a:solidFill>
                  <a:srgbClr val="16283A"/>
                </a:solidFill>
                <a:latin typeface="Calibri" pitchFamily="34" charset="0"/>
                <a:ea typeface="Calibri" pitchFamily="34" charset="-122"/>
                <a:cs typeface="Calibri" pitchFamily="34" charset="-120"/>
              </a:rPr>
              <a:t>Triage means sorting patients by urgency, not by arrival time. Our program automates that decision so it is fast, consistent and repeatable. The flow below shows what happens for every patient.</a:t>
            </a:r>
            <a:endParaRPr lang="en-US" sz="1600" dirty="0"/>
          </a:p>
        </p:txBody>
      </p:sp>
      <p:sp>
        <p:nvSpPr>
          <p:cNvPr id="4" name="Shape 2"/>
          <p:cNvSpPr/>
          <p:nvPr/>
        </p:nvSpPr>
        <p:spPr>
          <a:xfrm>
            <a:off x="548640" y="2377440"/>
            <a:ext cx="1417320" cy="1737360"/>
          </a:xfrm>
          <a:prstGeom prst="roundRect">
            <a:avLst>
              <a:gd name="adj" fmla="val 6452"/>
            </a:avLst>
          </a:prstGeom>
          <a:solidFill>
            <a:srgbClr val="F4F7FA"/>
          </a:solidFill>
          <a:ln w="12700">
            <a:solidFill>
              <a:srgbClr val="DDE5EC"/>
            </a:solidFill>
            <a:prstDash val="solid"/>
          </a:ln>
        </p:spPr>
      </p:sp>
      <p:sp>
        <p:nvSpPr>
          <p:cNvPr id="5" name="Shape 3"/>
          <p:cNvSpPr/>
          <p:nvPr/>
        </p:nvSpPr>
        <p:spPr>
          <a:xfrm>
            <a:off x="1005840" y="2560320"/>
            <a:ext cx="502920" cy="502920"/>
          </a:xfrm>
          <a:prstGeom prst="ellipse">
            <a:avLst/>
          </a:prstGeom>
          <a:solidFill>
            <a:srgbClr val="1FA2B8"/>
          </a:solidFill>
          <a:ln w="12700">
            <a:solidFill>
              <a:srgbClr val="FFFFFF"/>
            </a:solidFill>
            <a:prstDash val="solid"/>
          </a:ln>
        </p:spPr>
      </p:sp>
      <p:sp>
        <p:nvSpPr>
          <p:cNvPr id="6" name="Text 4"/>
          <p:cNvSpPr txBox="1"/>
          <p:nvPr/>
        </p:nvSpPr>
        <p:spPr>
          <a:xfrm>
            <a:off x="1005840" y="25603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548640" y="3154680"/>
            <a:ext cx="1417320" cy="365760"/>
          </a:xfrm>
          <a:prstGeom prst="rect">
            <a:avLst/>
          </a:prstGeom>
          <a:noFill/>
          <a:ln/>
        </p:spPr>
        <p:txBody>
          <a:bodyPr wrap="square" lIns="0" tIns="0" rIns="0" bIns="0" rtlCol="0" anchor="ctr"/>
          <a:lstStyle/>
          <a:p>
            <a:pPr algn="ctr" indent="0" marL="0">
              <a:buNone/>
            </a:pPr>
            <a:r>
              <a:rPr lang="en-US" sz="1500" b="1" dirty="0">
                <a:solidFill>
                  <a:srgbClr val="16283A"/>
                </a:solidFill>
                <a:latin typeface="Calibri" pitchFamily="34" charset="0"/>
                <a:ea typeface="Calibri" pitchFamily="34" charset="-122"/>
                <a:cs typeface="Calibri" pitchFamily="34" charset="-120"/>
              </a:rPr>
              <a:t>Read input</a:t>
            </a:r>
            <a:endParaRPr lang="en-US" sz="1500" dirty="0"/>
          </a:p>
        </p:txBody>
      </p:sp>
      <p:sp>
        <p:nvSpPr>
          <p:cNvPr id="8" name="Text 6"/>
          <p:cNvSpPr txBox="1"/>
          <p:nvPr/>
        </p:nvSpPr>
        <p:spPr>
          <a:xfrm>
            <a:off x="548640" y="3520440"/>
            <a:ext cx="1417320" cy="457200"/>
          </a:xfrm>
          <a:prstGeom prst="rect">
            <a:avLst/>
          </a:prstGeom>
          <a:noFill/>
          <a:ln/>
        </p:spPr>
        <p:txBody>
          <a:bodyPr wrap="square" lIns="0" tIns="0" rIns="0" bIns="0" rtlCol="0" anchor="ctr"/>
          <a:lstStyle/>
          <a:p>
            <a:pPr algn="ctr" indent="0" marL="0">
              <a:buNone/>
            </a:pPr>
            <a:r>
              <a:rPr lang="en-US" sz="1200" dirty="0">
                <a:solidFill>
                  <a:srgbClr val="5B6B7B"/>
                </a:solidFill>
                <a:latin typeface="Calibri" pitchFamily="34" charset="0"/>
                <a:ea typeface="Calibri" pitchFamily="34" charset="-122"/>
                <a:cs typeface="Calibri" pitchFamily="34" charset="-120"/>
              </a:rPr>
              <a:t>Scanner</a:t>
            </a:r>
            <a:endParaRPr lang="en-US" sz="1200" dirty="0"/>
          </a:p>
        </p:txBody>
      </p:sp>
      <p:sp>
        <p:nvSpPr>
          <p:cNvPr id="9" name="Shape 7"/>
          <p:cNvSpPr/>
          <p:nvPr/>
        </p:nvSpPr>
        <p:spPr>
          <a:xfrm>
            <a:off x="2176272" y="2377440"/>
            <a:ext cx="1417320" cy="1737360"/>
          </a:xfrm>
          <a:prstGeom prst="roundRect">
            <a:avLst>
              <a:gd name="adj" fmla="val 6452"/>
            </a:avLst>
          </a:prstGeom>
          <a:solidFill>
            <a:srgbClr val="F4F7FA"/>
          </a:solidFill>
          <a:ln w="12700">
            <a:solidFill>
              <a:srgbClr val="DDE5EC"/>
            </a:solidFill>
            <a:prstDash val="solid"/>
          </a:ln>
        </p:spPr>
      </p:sp>
      <p:sp>
        <p:nvSpPr>
          <p:cNvPr id="10" name="Shape 8"/>
          <p:cNvSpPr/>
          <p:nvPr/>
        </p:nvSpPr>
        <p:spPr>
          <a:xfrm>
            <a:off x="2633472" y="2560320"/>
            <a:ext cx="502920" cy="502920"/>
          </a:xfrm>
          <a:prstGeom prst="ellipse">
            <a:avLst/>
          </a:prstGeom>
          <a:solidFill>
            <a:srgbClr val="1FA2B8"/>
          </a:solidFill>
          <a:ln w="12700">
            <a:solidFill>
              <a:srgbClr val="FFFFFF"/>
            </a:solidFill>
            <a:prstDash val="solid"/>
          </a:ln>
        </p:spPr>
      </p:sp>
      <p:sp>
        <p:nvSpPr>
          <p:cNvPr id="11" name="Text 9"/>
          <p:cNvSpPr txBox="1"/>
          <p:nvPr/>
        </p:nvSpPr>
        <p:spPr>
          <a:xfrm>
            <a:off x="2633472" y="25603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2176272" y="3154680"/>
            <a:ext cx="1417320" cy="365760"/>
          </a:xfrm>
          <a:prstGeom prst="rect">
            <a:avLst/>
          </a:prstGeom>
          <a:noFill/>
          <a:ln/>
        </p:spPr>
        <p:txBody>
          <a:bodyPr wrap="square" lIns="0" tIns="0" rIns="0" bIns="0" rtlCol="0" anchor="ctr"/>
          <a:lstStyle/>
          <a:p>
            <a:pPr algn="ctr" indent="0" marL="0">
              <a:buNone/>
            </a:pPr>
            <a:r>
              <a:rPr lang="en-US" sz="1500" b="1" dirty="0">
                <a:solidFill>
                  <a:srgbClr val="16283A"/>
                </a:solidFill>
                <a:latin typeface="Calibri" pitchFamily="34" charset="0"/>
                <a:ea typeface="Calibri" pitchFamily="34" charset="-122"/>
                <a:cs typeface="Calibri" pitchFamily="34" charset="-120"/>
              </a:rPr>
              <a:t>Validate</a:t>
            </a:r>
            <a:endParaRPr lang="en-US" sz="1500" dirty="0"/>
          </a:p>
        </p:txBody>
      </p:sp>
      <p:sp>
        <p:nvSpPr>
          <p:cNvPr id="13" name="Text 11"/>
          <p:cNvSpPr txBox="1"/>
          <p:nvPr/>
        </p:nvSpPr>
        <p:spPr>
          <a:xfrm>
            <a:off x="2176272" y="3520440"/>
            <a:ext cx="1417320" cy="457200"/>
          </a:xfrm>
          <a:prstGeom prst="rect">
            <a:avLst/>
          </a:prstGeom>
          <a:noFill/>
          <a:ln/>
        </p:spPr>
        <p:txBody>
          <a:bodyPr wrap="square" lIns="0" tIns="0" rIns="0" bIns="0" rtlCol="0" anchor="ctr"/>
          <a:lstStyle/>
          <a:p>
            <a:pPr algn="ctr" indent="0" marL="0">
              <a:buNone/>
            </a:pPr>
            <a:r>
              <a:rPr lang="en-US" sz="1200" dirty="0">
                <a:solidFill>
                  <a:srgbClr val="5B6B7B"/>
                </a:solidFill>
                <a:latin typeface="Calibri" pitchFamily="34" charset="0"/>
                <a:ea typeface="Calibri" pitchFamily="34" charset="-122"/>
                <a:cs typeface="Calibri" pitchFamily="34" charset="-120"/>
              </a:rPr>
              <a:t>do-while loops</a:t>
            </a:r>
            <a:endParaRPr lang="en-US" sz="1200" dirty="0"/>
          </a:p>
        </p:txBody>
      </p:sp>
      <p:sp>
        <p:nvSpPr>
          <p:cNvPr id="14" name="Shape 12"/>
          <p:cNvSpPr/>
          <p:nvPr/>
        </p:nvSpPr>
        <p:spPr>
          <a:xfrm>
            <a:off x="3803904" y="2377440"/>
            <a:ext cx="1417320" cy="1737360"/>
          </a:xfrm>
          <a:prstGeom prst="roundRect">
            <a:avLst>
              <a:gd name="adj" fmla="val 6452"/>
            </a:avLst>
          </a:prstGeom>
          <a:solidFill>
            <a:srgbClr val="F4F7FA"/>
          </a:solidFill>
          <a:ln w="12700">
            <a:solidFill>
              <a:srgbClr val="DDE5EC"/>
            </a:solidFill>
            <a:prstDash val="solid"/>
          </a:ln>
        </p:spPr>
      </p:sp>
      <p:sp>
        <p:nvSpPr>
          <p:cNvPr id="15" name="Shape 13"/>
          <p:cNvSpPr/>
          <p:nvPr/>
        </p:nvSpPr>
        <p:spPr>
          <a:xfrm>
            <a:off x="4261104" y="2560320"/>
            <a:ext cx="502920" cy="502920"/>
          </a:xfrm>
          <a:prstGeom prst="ellipse">
            <a:avLst/>
          </a:prstGeom>
          <a:solidFill>
            <a:srgbClr val="D64545"/>
          </a:solidFill>
          <a:ln w="12700">
            <a:solidFill>
              <a:srgbClr val="FFFFFF"/>
            </a:solidFill>
            <a:prstDash val="solid"/>
          </a:ln>
        </p:spPr>
      </p:sp>
      <p:sp>
        <p:nvSpPr>
          <p:cNvPr id="16" name="Text 14"/>
          <p:cNvSpPr txBox="1"/>
          <p:nvPr/>
        </p:nvSpPr>
        <p:spPr>
          <a:xfrm>
            <a:off x="4261104" y="25603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txBox="1"/>
          <p:nvPr/>
        </p:nvSpPr>
        <p:spPr>
          <a:xfrm>
            <a:off x="3803904" y="3154680"/>
            <a:ext cx="1417320" cy="365760"/>
          </a:xfrm>
          <a:prstGeom prst="rect">
            <a:avLst/>
          </a:prstGeom>
          <a:noFill/>
          <a:ln/>
        </p:spPr>
        <p:txBody>
          <a:bodyPr wrap="square" lIns="0" tIns="0" rIns="0" bIns="0" rtlCol="0" anchor="ctr"/>
          <a:lstStyle/>
          <a:p>
            <a:pPr algn="ctr" indent="0" marL="0">
              <a:buNone/>
            </a:pPr>
            <a:r>
              <a:rPr lang="en-US" sz="1500" b="1" dirty="0">
                <a:solidFill>
                  <a:srgbClr val="16283A"/>
                </a:solidFill>
                <a:latin typeface="Calibri" pitchFamily="34" charset="0"/>
                <a:ea typeface="Calibri" pitchFamily="34" charset="-122"/>
                <a:cs typeface="Calibri" pitchFamily="34" charset="-120"/>
              </a:rPr>
              <a:t>Triage</a:t>
            </a:r>
            <a:endParaRPr lang="en-US" sz="1500" dirty="0"/>
          </a:p>
        </p:txBody>
      </p:sp>
      <p:sp>
        <p:nvSpPr>
          <p:cNvPr id="18" name="Text 16"/>
          <p:cNvSpPr txBox="1"/>
          <p:nvPr/>
        </p:nvSpPr>
        <p:spPr>
          <a:xfrm>
            <a:off x="3803904" y="3520440"/>
            <a:ext cx="1417320" cy="457200"/>
          </a:xfrm>
          <a:prstGeom prst="rect">
            <a:avLst/>
          </a:prstGeom>
          <a:noFill/>
          <a:ln/>
        </p:spPr>
        <p:txBody>
          <a:bodyPr wrap="square" lIns="0" tIns="0" rIns="0" bIns="0" rtlCol="0" anchor="ctr"/>
          <a:lstStyle/>
          <a:p>
            <a:pPr algn="ctr" indent="0" marL="0">
              <a:buNone/>
            </a:pPr>
            <a:r>
              <a:rPr lang="en-US" sz="1200" dirty="0">
                <a:solidFill>
                  <a:srgbClr val="5B6B7B"/>
                </a:solidFill>
                <a:latin typeface="Calibri" pitchFamily="34" charset="0"/>
                <a:ea typeface="Calibri" pitchFamily="34" charset="-122"/>
                <a:cs typeface="Calibri" pitchFamily="34" charset="-120"/>
              </a:rPr>
              <a:t>if / else-if</a:t>
            </a:r>
            <a:endParaRPr lang="en-US" sz="1200" dirty="0"/>
          </a:p>
        </p:txBody>
      </p:sp>
      <p:sp>
        <p:nvSpPr>
          <p:cNvPr id="19" name="Shape 17"/>
          <p:cNvSpPr/>
          <p:nvPr/>
        </p:nvSpPr>
        <p:spPr>
          <a:xfrm>
            <a:off x="5431536" y="2377440"/>
            <a:ext cx="1417320" cy="1737360"/>
          </a:xfrm>
          <a:prstGeom prst="roundRect">
            <a:avLst>
              <a:gd name="adj" fmla="val 6452"/>
            </a:avLst>
          </a:prstGeom>
          <a:solidFill>
            <a:srgbClr val="F4F7FA"/>
          </a:solidFill>
          <a:ln w="12700">
            <a:solidFill>
              <a:srgbClr val="DDE5EC"/>
            </a:solidFill>
            <a:prstDash val="solid"/>
          </a:ln>
        </p:spPr>
      </p:sp>
      <p:sp>
        <p:nvSpPr>
          <p:cNvPr id="20" name="Shape 18"/>
          <p:cNvSpPr/>
          <p:nvPr/>
        </p:nvSpPr>
        <p:spPr>
          <a:xfrm>
            <a:off x="5888736" y="2560320"/>
            <a:ext cx="502920" cy="502920"/>
          </a:xfrm>
          <a:prstGeom prst="ellipse">
            <a:avLst/>
          </a:prstGeom>
          <a:solidFill>
            <a:srgbClr val="E8A317"/>
          </a:solidFill>
          <a:ln w="12700">
            <a:solidFill>
              <a:srgbClr val="FFFFFF"/>
            </a:solidFill>
            <a:prstDash val="solid"/>
          </a:ln>
        </p:spPr>
      </p:sp>
      <p:sp>
        <p:nvSpPr>
          <p:cNvPr id="21" name="Text 19"/>
          <p:cNvSpPr txBox="1"/>
          <p:nvPr/>
        </p:nvSpPr>
        <p:spPr>
          <a:xfrm>
            <a:off x="5888736" y="25603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20"/>
          <p:cNvSpPr txBox="1"/>
          <p:nvPr/>
        </p:nvSpPr>
        <p:spPr>
          <a:xfrm>
            <a:off x="5431536" y="3154680"/>
            <a:ext cx="1417320" cy="365760"/>
          </a:xfrm>
          <a:prstGeom prst="rect">
            <a:avLst/>
          </a:prstGeom>
          <a:noFill/>
          <a:ln/>
        </p:spPr>
        <p:txBody>
          <a:bodyPr wrap="square" lIns="0" tIns="0" rIns="0" bIns="0" rtlCol="0" anchor="ctr"/>
          <a:lstStyle/>
          <a:p>
            <a:pPr algn="ctr" indent="0" marL="0">
              <a:buNone/>
            </a:pPr>
            <a:r>
              <a:rPr lang="en-US" sz="1500" b="1" dirty="0">
                <a:solidFill>
                  <a:srgbClr val="16283A"/>
                </a:solidFill>
                <a:latin typeface="Calibri" pitchFamily="34" charset="0"/>
                <a:ea typeface="Calibri" pitchFamily="34" charset="-122"/>
                <a:cs typeface="Calibri" pitchFamily="34" charset="-120"/>
              </a:rPr>
              <a:t>Store</a:t>
            </a:r>
            <a:endParaRPr lang="en-US" sz="1500" dirty="0"/>
          </a:p>
        </p:txBody>
      </p:sp>
      <p:sp>
        <p:nvSpPr>
          <p:cNvPr id="23" name="Text 21"/>
          <p:cNvSpPr txBox="1"/>
          <p:nvPr/>
        </p:nvSpPr>
        <p:spPr>
          <a:xfrm>
            <a:off x="5431536" y="3520440"/>
            <a:ext cx="1417320" cy="457200"/>
          </a:xfrm>
          <a:prstGeom prst="rect">
            <a:avLst/>
          </a:prstGeom>
          <a:noFill/>
          <a:ln/>
        </p:spPr>
        <p:txBody>
          <a:bodyPr wrap="square" lIns="0" tIns="0" rIns="0" bIns="0" rtlCol="0" anchor="ctr"/>
          <a:lstStyle/>
          <a:p>
            <a:pPr algn="ctr" indent="0" marL="0">
              <a:buNone/>
            </a:pPr>
            <a:r>
              <a:rPr lang="en-US" sz="1200" dirty="0">
                <a:solidFill>
                  <a:srgbClr val="5B6B7B"/>
                </a:solidFill>
                <a:latin typeface="Calibri" pitchFamily="34" charset="0"/>
                <a:ea typeface="Calibri" pitchFamily="34" charset="-122"/>
                <a:cs typeface="Calibri" pitchFamily="34" charset="-120"/>
              </a:rPr>
              <a:t>1D arrays</a:t>
            </a:r>
            <a:endParaRPr lang="en-US" sz="1200" dirty="0"/>
          </a:p>
        </p:txBody>
      </p:sp>
      <p:sp>
        <p:nvSpPr>
          <p:cNvPr id="24" name="Shape 22"/>
          <p:cNvSpPr/>
          <p:nvPr/>
        </p:nvSpPr>
        <p:spPr>
          <a:xfrm>
            <a:off x="7059168" y="2377440"/>
            <a:ext cx="1417320" cy="1737360"/>
          </a:xfrm>
          <a:prstGeom prst="roundRect">
            <a:avLst>
              <a:gd name="adj" fmla="val 6452"/>
            </a:avLst>
          </a:prstGeom>
          <a:solidFill>
            <a:srgbClr val="F4F7FA"/>
          </a:solidFill>
          <a:ln w="12700">
            <a:solidFill>
              <a:srgbClr val="DDE5EC"/>
            </a:solidFill>
            <a:prstDash val="solid"/>
          </a:ln>
        </p:spPr>
      </p:sp>
      <p:sp>
        <p:nvSpPr>
          <p:cNvPr id="25" name="Shape 23"/>
          <p:cNvSpPr/>
          <p:nvPr/>
        </p:nvSpPr>
        <p:spPr>
          <a:xfrm>
            <a:off x="7516368" y="2560320"/>
            <a:ext cx="502920" cy="502920"/>
          </a:xfrm>
          <a:prstGeom prst="ellipse">
            <a:avLst/>
          </a:prstGeom>
          <a:solidFill>
            <a:srgbClr val="2E9E6B"/>
          </a:solidFill>
          <a:ln w="12700">
            <a:solidFill>
              <a:srgbClr val="FFFFFF"/>
            </a:solidFill>
            <a:prstDash val="solid"/>
          </a:ln>
        </p:spPr>
      </p:sp>
      <p:sp>
        <p:nvSpPr>
          <p:cNvPr id="26" name="Text 24"/>
          <p:cNvSpPr txBox="1"/>
          <p:nvPr/>
        </p:nvSpPr>
        <p:spPr>
          <a:xfrm>
            <a:off x="7516368" y="25603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7" name="Text 25"/>
          <p:cNvSpPr txBox="1"/>
          <p:nvPr/>
        </p:nvSpPr>
        <p:spPr>
          <a:xfrm>
            <a:off x="7059168" y="3154680"/>
            <a:ext cx="1417320" cy="365760"/>
          </a:xfrm>
          <a:prstGeom prst="rect">
            <a:avLst/>
          </a:prstGeom>
          <a:noFill/>
          <a:ln/>
        </p:spPr>
        <p:txBody>
          <a:bodyPr wrap="square" lIns="0" tIns="0" rIns="0" bIns="0" rtlCol="0" anchor="ctr"/>
          <a:lstStyle/>
          <a:p>
            <a:pPr algn="ctr" indent="0" marL="0">
              <a:buNone/>
            </a:pPr>
            <a:r>
              <a:rPr lang="en-US" sz="1500" b="1" dirty="0">
                <a:solidFill>
                  <a:srgbClr val="16283A"/>
                </a:solidFill>
                <a:latin typeface="Calibri" pitchFamily="34" charset="0"/>
                <a:ea typeface="Calibri" pitchFamily="34" charset="-122"/>
                <a:cs typeface="Calibri" pitchFamily="34" charset="-120"/>
              </a:rPr>
              <a:t>Menu</a:t>
            </a:r>
            <a:endParaRPr lang="en-US" sz="1500" dirty="0"/>
          </a:p>
        </p:txBody>
      </p:sp>
      <p:sp>
        <p:nvSpPr>
          <p:cNvPr id="28" name="Text 26"/>
          <p:cNvSpPr txBox="1"/>
          <p:nvPr/>
        </p:nvSpPr>
        <p:spPr>
          <a:xfrm>
            <a:off x="7059168" y="3520440"/>
            <a:ext cx="1417320" cy="457200"/>
          </a:xfrm>
          <a:prstGeom prst="rect">
            <a:avLst/>
          </a:prstGeom>
          <a:noFill/>
          <a:ln/>
        </p:spPr>
        <p:txBody>
          <a:bodyPr wrap="square" lIns="0" tIns="0" rIns="0" bIns="0" rtlCol="0" anchor="ctr"/>
          <a:lstStyle/>
          <a:p>
            <a:pPr algn="ctr" indent="0" marL="0">
              <a:buNone/>
            </a:pPr>
            <a:r>
              <a:rPr lang="en-US" sz="1200" dirty="0">
                <a:solidFill>
                  <a:srgbClr val="5B6B7B"/>
                </a:solidFill>
                <a:latin typeface="Calibri" pitchFamily="34" charset="0"/>
                <a:ea typeface="Calibri" pitchFamily="34" charset="-122"/>
                <a:cs typeface="Calibri" pitchFamily="34" charset="-120"/>
              </a:rPr>
              <a:t>switch</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400" b="1" dirty="0">
                <a:solidFill>
                  <a:srgbClr val="16283A"/>
                </a:solidFill>
                <a:latin typeface="Cambria" pitchFamily="34" charset="0"/>
                <a:ea typeface="Cambria" pitchFamily="34" charset="-122"/>
                <a:cs typeface="Cambria" pitchFamily="34" charset="-120"/>
              </a:rPr>
              <a:t>Existing System</a:t>
            </a:r>
            <a:endParaRPr lang="en-US" sz="3400" dirty="0"/>
          </a:p>
        </p:txBody>
      </p:sp>
      <p:sp>
        <p:nvSpPr>
          <p:cNvPr id="3" name="Text 1"/>
          <p:cNvSpPr txBox="1"/>
          <p:nvPr/>
        </p:nvSpPr>
        <p:spPr>
          <a:xfrm>
            <a:off x="548640" y="1097280"/>
            <a:ext cx="8046720" cy="365760"/>
          </a:xfrm>
          <a:prstGeom prst="rect">
            <a:avLst/>
          </a:prstGeom>
          <a:noFill/>
          <a:ln/>
        </p:spPr>
        <p:txBody>
          <a:bodyPr wrap="square" lIns="0" tIns="0" rIns="0" bIns="0" rtlCol="0" anchor="ctr"/>
          <a:lstStyle/>
          <a:p>
            <a:pPr indent="0" marL="0">
              <a:buNone/>
            </a:pPr>
            <a:r>
              <a:rPr lang="en-US" sz="1800" b="1" dirty="0">
                <a:solidFill>
                  <a:srgbClr val="D64545"/>
                </a:solidFill>
                <a:latin typeface="Calibri" pitchFamily="34" charset="0"/>
                <a:ea typeface="Calibri" pitchFamily="34" charset="-122"/>
                <a:cs typeface="Calibri" pitchFamily="34" charset="-120"/>
              </a:rPr>
              <a:t>Nurse-led triage protocols and full hospital software</a:t>
            </a:r>
            <a:endParaRPr lang="en-US" sz="1800" dirty="0"/>
          </a:p>
        </p:txBody>
      </p:sp>
      <p:sp>
        <p:nvSpPr>
          <p:cNvPr id="4" name="Shape 2"/>
          <p:cNvSpPr/>
          <p:nvPr/>
        </p:nvSpPr>
        <p:spPr>
          <a:xfrm>
            <a:off x="548640" y="1691640"/>
            <a:ext cx="3931920" cy="1371600"/>
          </a:xfrm>
          <a:prstGeom prst="roundRect">
            <a:avLst>
              <a:gd name="adj" fmla="val 6667"/>
            </a:avLst>
          </a:prstGeom>
          <a:solidFill>
            <a:srgbClr val="FFFFFF"/>
          </a:solidFill>
          <a:ln w="12700">
            <a:solidFill>
              <a:srgbClr val="DDE5EC"/>
            </a:solidFill>
            <a:prstDash val="solid"/>
          </a:ln>
        </p:spPr>
      </p:sp>
      <p:sp>
        <p:nvSpPr>
          <p:cNvPr id="5" name="Shape 3"/>
          <p:cNvSpPr/>
          <p:nvPr/>
        </p:nvSpPr>
        <p:spPr>
          <a:xfrm>
            <a:off x="731520" y="1874520"/>
            <a:ext cx="365760" cy="365760"/>
          </a:xfrm>
          <a:prstGeom prst="ellipse">
            <a:avLst/>
          </a:prstGeom>
          <a:solidFill>
            <a:srgbClr val="D64545"/>
          </a:solidFill>
          <a:ln w="12700">
            <a:solidFill>
              <a:srgbClr val="D64545"/>
            </a:solidFill>
            <a:prstDash val="solid"/>
          </a:ln>
        </p:spPr>
      </p:sp>
      <p:sp>
        <p:nvSpPr>
          <p:cNvPr id="6" name="Text 4"/>
          <p:cNvSpPr txBox="1"/>
          <p:nvPr/>
        </p:nvSpPr>
        <p:spPr>
          <a:xfrm>
            <a:off x="731520" y="18745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5"/>
          <p:cNvSpPr txBox="1"/>
          <p:nvPr/>
        </p:nvSpPr>
        <p:spPr>
          <a:xfrm>
            <a:off x="1234440" y="1828800"/>
            <a:ext cx="3108960" cy="411480"/>
          </a:xfrm>
          <a:prstGeom prst="rect">
            <a:avLst/>
          </a:prstGeom>
          <a:noFill/>
          <a:ln/>
        </p:spPr>
        <p:txBody>
          <a:bodyPr wrap="square" lIns="0" tIns="0" rIns="0" bIns="0" rtlCol="0" anchor="ctr"/>
          <a:lstStyle/>
          <a:p>
            <a:pPr indent="0" marL="0">
              <a:buNone/>
            </a:pPr>
            <a:r>
              <a:rPr lang="en-US" sz="1600" b="1" dirty="0">
                <a:solidFill>
                  <a:srgbClr val="16283A"/>
                </a:solidFill>
                <a:latin typeface="Calibri" pitchFamily="34" charset="0"/>
                <a:ea typeface="Calibri" pitchFamily="34" charset="-122"/>
                <a:cs typeface="Calibri" pitchFamily="34" charset="-120"/>
              </a:rPr>
              <a:t>Judgment-based triage</a:t>
            </a:r>
            <a:endParaRPr lang="en-US" sz="1600" dirty="0"/>
          </a:p>
        </p:txBody>
      </p:sp>
      <p:sp>
        <p:nvSpPr>
          <p:cNvPr id="8" name="Text 6"/>
          <p:cNvSpPr txBox="1"/>
          <p:nvPr/>
        </p:nvSpPr>
        <p:spPr>
          <a:xfrm>
            <a:off x="731520" y="2331720"/>
            <a:ext cx="3566160" cy="68580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Protocols like ESI and Manchester rely on a nurse's assessment, so the same patient can be rated differently by different staff.</a:t>
            </a:r>
            <a:endParaRPr lang="en-US" sz="1200" dirty="0"/>
          </a:p>
        </p:txBody>
      </p:sp>
      <p:sp>
        <p:nvSpPr>
          <p:cNvPr id="9" name="Shape 7"/>
          <p:cNvSpPr/>
          <p:nvPr/>
        </p:nvSpPr>
        <p:spPr>
          <a:xfrm>
            <a:off x="4663440" y="1691640"/>
            <a:ext cx="3931920" cy="1371600"/>
          </a:xfrm>
          <a:prstGeom prst="roundRect">
            <a:avLst>
              <a:gd name="adj" fmla="val 6667"/>
            </a:avLst>
          </a:prstGeom>
          <a:solidFill>
            <a:srgbClr val="FFFFFF"/>
          </a:solidFill>
          <a:ln w="12700">
            <a:solidFill>
              <a:srgbClr val="DDE5EC"/>
            </a:solidFill>
            <a:prstDash val="solid"/>
          </a:ln>
        </p:spPr>
      </p:sp>
      <p:sp>
        <p:nvSpPr>
          <p:cNvPr id="10" name="Shape 8"/>
          <p:cNvSpPr/>
          <p:nvPr/>
        </p:nvSpPr>
        <p:spPr>
          <a:xfrm>
            <a:off x="4846320" y="1874520"/>
            <a:ext cx="365760" cy="365760"/>
          </a:xfrm>
          <a:prstGeom prst="ellipse">
            <a:avLst/>
          </a:prstGeom>
          <a:solidFill>
            <a:srgbClr val="D64545"/>
          </a:solidFill>
          <a:ln w="12700">
            <a:solidFill>
              <a:srgbClr val="D64545"/>
            </a:solidFill>
            <a:prstDash val="solid"/>
          </a:ln>
        </p:spPr>
      </p:sp>
      <p:sp>
        <p:nvSpPr>
          <p:cNvPr id="11" name="Text 9"/>
          <p:cNvSpPr txBox="1"/>
          <p:nvPr/>
        </p:nvSpPr>
        <p:spPr>
          <a:xfrm>
            <a:off x="4846320" y="18745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txBox="1"/>
          <p:nvPr/>
        </p:nvSpPr>
        <p:spPr>
          <a:xfrm>
            <a:off x="5349240" y="1828800"/>
            <a:ext cx="3108960" cy="411480"/>
          </a:xfrm>
          <a:prstGeom prst="rect">
            <a:avLst/>
          </a:prstGeom>
          <a:noFill/>
          <a:ln/>
        </p:spPr>
        <p:txBody>
          <a:bodyPr wrap="square" lIns="0" tIns="0" rIns="0" bIns="0" rtlCol="0" anchor="ctr"/>
          <a:lstStyle/>
          <a:p>
            <a:pPr indent="0" marL="0">
              <a:buNone/>
            </a:pPr>
            <a:r>
              <a:rPr lang="en-US" sz="1600" b="1" dirty="0">
                <a:solidFill>
                  <a:srgbClr val="16283A"/>
                </a:solidFill>
                <a:latin typeface="Calibri" pitchFamily="34" charset="0"/>
                <a:ea typeface="Calibri" pitchFamily="34" charset="-122"/>
                <a:cs typeface="Calibri" pitchFamily="34" charset="-120"/>
              </a:rPr>
              <a:t>Paper records in small clinics</a:t>
            </a:r>
            <a:endParaRPr lang="en-US" sz="1600" dirty="0"/>
          </a:p>
        </p:txBody>
      </p:sp>
      <p:sp>
        <p:nvSpPr>
          <p:cNvPr id="13" name="Text 11"/>
          <p:cNvSpPr txBox="1"/>
          <p:nvPr/>
        </p:nvSpPr>
        <p:spPr>
          <a:xfrm>
            <a:off x="4846320" y="2331720"/>
            <a:ext cx="3566160" cy="68580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Smaller clinics often still record patients by hand, which makes lookup and counting slow.</a:t>
            </a:r>
            <a:endParaRPr lang="en-US" sz="1200" dirty="0"/>
          </a:p>
        </p:txBody>
      </p:sp>
      <p:sp>
        <p:nvSpPr>
          <p:cNvPr id="14" name="Shape 12"/>
          <p:cNvSpPr/>
          <p:nvPr/>
        </p:nvSpPr>
        <p:spPr>
          <a:xfrm>
            <a:off x="548640" y="3246120"/>
            <a:ext cx="3931920" cy="1371600"/>
          </a:xfrm>
          <a:prstGeom prst="roundRect">
            <a:avLst>
              <a:gd name="adj" fmla="val 6667"/>
            </a:avLst>
          </a:prstGeom>
          <a:solidFill>
            <a:srgbClr val="FFFFFF"/>
          </a:solidFill>
          <a:ln w="12700">
            <a:solidFill>
              <a:srgbClr val="DDE5EC"/>
            </a:solidFill>
            <a:prstDash val="solid"/>
          </a:ln>
        </p:spPr>
      </p:sp>
      <p:sp>
        <p:nvSpPr>
          <p:cNvPr id="15" name="Shape 13"/>
          <p:cNvSpPr/>
          <p:nvPr/>
        </p:nvSpPr>
        <p:spPr>
          <a:xfrm>
            <a:off x="731520" y="3429000"/>
            <a:ext cx="365760" cy="365760"/>
          </a:xfrm>
          <a:prstGeom prst="ellipse">
            <a:avLst/>
          </a:prstGeom>
          <a:solidFill>
            <a:srgbClr val="D64545"/>
          </a:solidFill>
          <a:ln w="12700">
            <a:solidFill>
              <a:srgbClr val="D64545"/>
            </a:solidFill>
            <a:prstDash val="solid"/>
          </a:ln>
        </p:spPr>
      </p:sp>
      <p:sp>
        <p:nvSpPr>
          <p:cNvPr id="16" name="Text 14"/>
          <p:cNvSpPr txBox="1"/>
          <p:nvPr/>
        </p:nvSpPr>
        <p:spPr>
          <a:xfrm>
            <a:off x="731520" y="34290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1234440" y="3383280"/>
            <a:ext cx="3108960" cy="411480"/>
          </a:xfrm>
          <a:prstGeom prst="rect">
            <a:avLst/>
          </a:prstGeom>
          <a:noFill/>
          <a:ln/>
        </p:spPr>
        <p:txBody>
          <a:bodyPr wrap="square" lIns="0" tIns="0" rIns="0" bIns="0" rtlCol="0" anchor="ctr"/>
          <a:lstStyle/>
          <a:p>
            <a:pPr indent="0" marL="0">
              <a:buNone/>
            </a:pPr>
            <a:r>
              <a:rPr lang="en-US" sz="1600" b="1" dirty="0">
                <a:solidFill>
                  <a:srgbClr val="16283A"/>
                </a:solidFill>
                <a:latin typeface="Calibri" pitchFamily="34" charset="0"/>
                <a:ea typeface="Calibri" pitchFamily="34" charset="-122"/>
                <a:cs typeface="Calibri" pitchFamily="34" charset="-120"/>
              </a:rPr>
              <a:t>Complex commercial software</a:t>
            </a:r>
            <a:endParaRPr lang="en-US" sz="1600" dirty="0"/>
          </a:p>
        </p:txBody>
      </p:sp>
      <p:sp>
        <p:nvSpPr>
          <p:cNvPr id="18" name="Text 16"/>
          <p:cNvSpPr txBox="1"/>
          <p:nvPr/>
        </p:nvSpPr>
        <p:spPr>
          <a:xfrm>
            <a:off x="731520" y="3886200"/>
            <a:ext cx="3566160" cy="68580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Hospital EHR systems are powerful but costly, need setup and training, and are too big for a learning project.</a:t>
            </a:r>
            <a:endParaRPr lang="en-US" sz="1200" dirty="0"/>
          </a:p>
        </p:txBody>
      </p:sp>
      <p:sp>
        <p:nvSpPr>
          <p:cNvPr id="19" name="Shape 17"/>
          <p:cNvSpPr/>
          <p:nvPr/>
        </p:nvSpPr>
        <p:spPr>
          <a:xfrm>
            <a:off x="4663440" y="3246120"/>
            <a:ext cx="3931920" cy="1371600"/>
          </a:xfrm>
          <a:prstGeom prst="roundRect">
            <a:avLst>
              <a:gd name="adj" fmla="val 6667"/>
            </a:avLst>
          </a:prstGeom>
          <a:solidFill>
            <a:srgbClr val="FFFFFF"/>
          </a:solidFill>
          <a:ln w="12700">
            <a:solidFill>
              <a:srgbClr val="DDE5EC"/>
            </a:solidFill>
            <a:prstDash val="solid"/>
          </a:ln>
        </p:spPr>
      </p:sp>
      <p:sp>
        <p:nvSpPr>
          <p:cNvPr id="20" name="Shape 18"/>
          <p:cNvSpPr/>
          <p:nvPr/>
        </p:nvSpPr>
        <p:spPr>
          <a:xfrm>
            <a:off x="4846320" y="3429000"/>
            <a:ext cx="365760" cy="365760"/>
          </a:xfrm>
          <a:prstGeom prst="ellipse">
            <a:avLst/>
          </a:prstGeom>
          <a:solidFill>
            <a:srgbClr val="D64545"/>
          </a:solidFill>
          <a:ln w="12700">
            <a:solidFill>
              <a:srgbClr val="D64545"/>
            </a:solidFill>
            <a:prstDash val="solid"/>
          </a:ln>
        </p:spPr>
      </p:sp>
      <p:sp>
        <p:nvSpPr>
          <p:cNvPr id="21" name="Text 19"/>
          <p:cNvSpPr txBox="1"/>
          <p:nvPr/>
        </p:nvSpPr>
        <p:spPr>
          <a:xfrm>
            <a:off x="4846320" y="34290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20"/>
          <p:cNvSpPr txBox="1"/>
          <p:nvPr/>
        </p:nvSpPr>
        <p:spPr>
          <a:xfrm>
            <a:off x="5349240" y="3383280"/>
            <a:ext cx="3108960" cy="411480"/>
          </a:xfrm>
          <a:prstGeom prst="rect">
            <a:avLst/>
          </a:prstGeom>
          <a:noFill/>
          <a:ln/>
        </p:spPr>
        <p:txBody>
          <a:bodyPr wrap="square" lIns="0" tIns="0" rIns="0" bIns="0" rtlCol="0" anchor="ctr"/>
          <a:lstStyle/>
          <a:p>
            <a:pPr indent="0" marL="0">
              <a:buNone/>
            </a:pPr>
            <a:r>
              <a:rPr lang="en-US" sz="1600" b="1" dirty="0">
                <a:solidFill>
                  <a:srgbClr val="16283A"/>
                </a:solidFill>
                <a:latin typeface="Calibri" pitchFamily="34" charset="0"/>
                <a:ea typeface="Calibri" pitchFamily="34" charset="-122"/>
                <a:cs typeface="Calibri" pitchFamily="34" charset="-120"/>
              </a:rPr>
              <a:t>Hidden decision rules</a:t>
            </a:r>
            <a:endParaRPr lang="en-US" sz="1600" dirty="0"/>
          </a:p>
        </p:txBody>
      </p:sp>
      <p:sp>
        <p:nvSpPr>
          <p:cNvPr id="23" name="Text 21"/>
          <p:cNvSpPr txBox="1"/>
          <p:nvPr/>
        </p:nvSpPr>
        <p:spPr>
          <a:xfrm>
            <a:off x="4846320" y="3886200"/>
            <a:ext cx="3566160" cy="68580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Inside large systems the triage logic is not visible, so a beginner cannot see or learn how a category is decided.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400" b="1" dirty="0">
                <a:solidFill>
                  <a:srgbClr val="16283A"/>
                </a:solidFill>
                <a:latin typeface="Cambria" pitchFamily="34" charset="0"/>
                <a:ea typeface="Cambria" pitchFamily="34" charset="-122"/>
                <a:cs typeface="Cambria" pitchFamily="34" charset="-120"/>
              </a:rPr>
              <a:t>Proposed System</a:t>
            </a:r>
            <a:endParaRPr lang="en-US" sz="3400" dirty="0"/>
          </a:p>
        </p:txBody>
      </p:sp>
      <p:sp>
        <p:nvSpPr>
          <p:cNvPr id="3" name="Text 1"/>
          <p:cNvSpPr txBox="1"/>
          <p:nvPr/>
        </p:nvSpPr>
        <p:spPr>
          <a:xfrm>
            <a:off x="548640" y="1097280"/>
            <a:ext cx="4572000" cy="320040"/>
          </a:xfrm>
          <a:prstGeom prst="rect">
            <a:avLst/>
          </a:prstGeom>
          <a:noFill/>
          <a:ln/>
        </p:spPr>
        <p:txBody>
          <a:bodyPr wrap="square" lIns="0" tIns="0" rIns="0" bIns="0" rtlCol="0" anchor="ctr"/>
          <a:lstStyle/>
          <a:p>
            <a:pPr indent="0" marL="0">
              <a:buNone/>
            </a:pPr>
            <a:r>
              <a:rPr lang="en-US" sz="1600" b="1" dirty="0">
                <a:solidFill>
                  <a:srgbClr val="16283A"/>
                </a:solidFill>
                <a:latin typeface="Calibri" pitchFamily="34" charset="0"/>
                <a:ea typeface="Calibri" pitchFamily="34" charset="-122"/>
                <a:cs typeface="Calibri" pitchFamily="34" charset="-120"/>
              </a:rPr>
              <a:t>Triage rules built into triage()</a:t>
            </a:r>
            <a:endParaRPr lang="en-US" sz="1600" dirty="0"/>
          </a:p>
        </p:txBody>
      </p:sp>
      <p:sp>
        <p:nvSpPr>
          <p:cNvPr id="4" name="Shape 2"/>
          <p:cNvSpPr/>
          <p:nvPr/>
        </p:nvSpPr>
        <p:spPr>
          <a:xfrm>
            <a:off x="548640" y="1645920"/>
            <a:ext cx="502920" cy="502920"/>
          </a:xfrm>
          <a:prstGeom prst="ellipse">
            <a:avLst/>
          </a:prstGeom>
          <a:solidFill>
            <a:srgbClr val="D64545"/>
          </a:solidFill>
          <a:ln w="12700">
            <a:solidFill>
              <a:srgbClr val="D64545"/>
            </a:solidFill>
            <a:prstDash val="solid"/>
          </a:ln>
        </p:spPr>
      </p:sp>
      <p:sp>
        <p:nvSpPr>
          <p:cNvPr id="5" name="Text 3"/>
          <p:cNvSpPr txBox="1"/>
          <p:nvPr/>
        </p:nvSpPr>
        <p:spPr>
          <a:xfrm>
            <a:off x="1234440" y="1554480"/>
            <a:ext cx="4023360" cy="320040"/>
          </a:xfrm>
          <a:prstGeom prst="rect">
            <a:avLst/>
          </a:prstGeom>
          <a:noFill/>
          <a:ln/>
        </p:spPr>
        <p:txBody>
          <a:bodyPr wrap="square" lIns="0" tIns="0" rIns="0" bIns="0" rtlCol="0" anchor="ctr"/>
          <a:lstStyle/>
          <a:p>
            <a:pPr indent="0" marL="0">
              <a:buNone/>
            </a:pPr>
            <a:r>
              <a:rPr lang="en-US" sz="1500" b="1" dirty="0">
                <a:solidFill>
                  <a:srgbClr val="16283A"/>
                </a:solidFill>
                <a:latin typeface="Calibri" pitchFamily="34" charset="0"/>
                <a:ea typeface="Calibri" pitchFamily="34" charset="-122"/>
                <a:cs typeface="Calibri" pitchFamily="34" charset="-120"/>
              </a:rPr>
              <a:t>RED – immediate</a:t>
            </a:r>
            <a:endParaRPr lang="en-US" sz="1500" dirty="0"/>
          </a:p>
        </p:txBody>
      </p:sp>
      <p:sp>
        <p:nvSpPr>
          <p:cNvPr id="6" name="Text 4"/>
          <p:cNvSpPr txBox="1"/>
          <p:nvPr/>
        </p:nvSpPr>
        <p:spPr>
          <a:xfrm>
            <a:off x="1234440" y="1883664"/>
            <a:ext cx="4023360" cy="59436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Unconscious, heart rate below 40 or above 150, or pain 9+</a:t>
            </a:r>
            <a:endParaRPr lang="en-US" sz="1200" dirty="0"/>
          </a:p>
        </p:txBody>
      </p:sp>
      <p:sp>
        <p:nvSpPr>
          <p:cNvPr id="7" name="Shape 5"/>
          <p:cNvSpPr/>
          <p:nvPr/>
        </p:nvSpPr>
        <p:spPr>
          <a:xfrm>
            <a:off x="548640" y="2697480"/>
            <a:ext cx="502920" cy="502920"/>
          </a:xfrm>
          <a:prstGeom prst="ellipse">
            <a:avLst/>
          </a:prstGeom>
          <a:solidFill>
            <a:srgbClr val="E8A317"/>
          </a:solidFill>
          <a:ln w="12700">
            <a:solidFill>
              <a:srgbClr val="E8A317"/>
            </a:solidFill>
            <a:prstDash val="solid"/>
          </a:ln>
        </p:spPr>
      </p:sp>
      <p:sp>
        <p:nvSpPr>
          <p:cNvPr id="8" name="Text 6"/>
          <p:cNvSpPr txBox="1"/>
          <p:nvPr/>
        </p:nvSpPr>
        <p:spPr>
          <a:xfrm>
            <a:off x="1234440" y="2606040"/>
            <a:ext cx="4023360" cy="320040"/>
          </a:xfrm>
          <a:prstGeom prst="rect">
            <a:avLst/>
          </a:prstGeom>
          <a:noFill/>
          <a:ln/>
        </p:spPr>
        <p:txBody>
          <a:bodyPr wrap="square" lIns="0" tIns="0" rIns="0" bIns="0" rtlCol="0" anchor="ctr"/>
          <a:lstStyle/>
          <a:p>
            <a:pPr indent="0" marL="0">
              <a:buNone/>
            </a:pPr>
            <a:r>
              <a:rPr lang="en-US" sz="1500" b="1" dirty="0">
                <a:solidFill>
                  <a:srgbClr val="16283A"/>
                </a:solidFill>
                <a:latin typeface="Calibri" pitchFamily="34" charset="0"/>
                <a:ea typeface="Calibri" pitchFamily="34" charset="-122"/>
                <a:cs typeface="Calibri" pitchFamily="34" charset="-120"/>
              </a:rPr>
              <a:t>YELLOW – urgent</a:t>
            </a:r>
            <a:endParaRPr lang="en-US" sz="1500" dirty="0"/>
          </a:p>
        </p:txBody>
      </p:sp>
      <p:sp>
        <p:nvSpPr>
          <p:cNvPr id="9" name="Text 7"/>
          <p:cNvSpPr txBox="1"/>
          <p:nvPr/>
        </p:nvSpPr>
        <p:spPr>
          <a:xfrm>
            <a:off x="1234440" y="2935224"/>
            <a:ext cx="4023360" cy="59436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Heart rate 40–49 or 111–150, pain 6+, injury with pain 5+, or age ≤5 / ≥65 with pain 4+</a:t>
            </a:r>
            <a:endParaRPr lang="en-US" sz="1200" dirty="0"/>
          </a:p>
        </p:txBody>
      </p:sp>
      <p:sp>
        <p:nvSpPr>
          <p:cNvPr id="10" name="Shape 8"/>
          <p:cNvSpPr/>
          <p:nvPr/>
        </p:nvSpPr>
        <p:spPr>
          <a:xfrm>
            <a:off x="548640" y="3749040"/>
            <a:ext cx="502920" cy="502920"/>
          </a:xfrm>
          <a:prstGeom prst="ellipse">
            <a:avLst/>
          </a:prstGeom>
          <a:solidFill>
            <a:srgbClr val="2E9E6B"/>
          </a:solidFill>
          <a:ln w="12700">
            <a:solidFill>
              <a:srgbClr val="2E9E6B"/>
            </a:solidFill>
            <a:prstDash val="solid"/>
          </a:ln>
        </p:spPr>
      </p:sp>
      <p:sp>
        <p:nvSpPr>
          <p:cNvPr id="11" name="Text 9"/>
          <p:cNvSpPr txBox="1"/>
          <p:nvPr/>
        </p:nvSpPr>
        <p:spPr>
          <a:xfrm>
            <a:off x="1234440" y="3657600"/>
            <a:ext cx="4023360" cy="320040"/>
          </a:xfrm>
          <a:prstGeom prst="rect">
            <a:avLst/>
          </a:prstGeom>
          <a:noFill/>
          <a:ln/>
        </p:spPr>
        <p:txBody>
          <a:bodyPr wrap="square" lIns="0" tIns="0" rIns="0" bIns="0" rtlCol="0" anchor="ctr"/>
          <a:lstStyle/>
          <a:p>
            <a:pPr indent="0" marL="0">
              <a:buNone/>
            </a:pPr>
            <a:r>
              <a:rPr lang="en-US" sz="1500" b="1" dirty="0">
                <a:solidFill>
                  <a:srgbClr val="16283A"/>
                </a:solidFill>
                <a:latin typeface="Calibri" pitchFamily="34" charset="0"/>
                <a:ea typeface="Calibri" pitchFamily="34" charset="-122"/>
                <a:cs typeface="Calibri" pitchFamily="34" charset="-120"/>
              </a:rPr>
              <a:t>GREEN – can wait</a:t>
            </a:r>
            <a:endParaRPr lang="en-US" sz="1500" dirty="0"/>
          </a:p>
        </p:txBody>
      </p:sp>
      <p:sp>
        <p:nvSpPr>
          <p:cNvPr id="12" name="Text 10"/>
          <p:cNvSpPr txBox="1"/>
          <p:nvPr/>
        </p:nvSpPr>
        <p:spPr>
          <a:xfrm>
            <a:off x="1234440" y="3986784"/>
            <a:ext cx="4023360" cy="594360"/>
          </a:xfrm>
          <a:prstGeom prst="rect">
            <a:avLst/>
          </a:prstGeom>
          <a:noFill/>
          <a:ln/>
        </p:spPr>
        <p:txBody>
          <a:bodyPr wrap="square" lIns="0" tIns="0" rIns="0" bIns="0" rtlCol="0" anchor="t"/>
          <a:lstStyle/>
          <a:p>
            <a:pPr indent="0" marL="0">
              <a:buNone/>
            </a:pPr>
            <a:r>
              <a:rPr lang="en-US" sz="1200" dirty="0">
                <a:solidFill>
                  <a:srgbClr val="5B6B7B"/>
                </a:solidFill>
                <a:latin typeface="Calibri" pitchFamily="34" charset="0"/>
                <a:ea typeface="Calibri" pitchFamily="34" charset="-122"/>
                <a:cs typeface="Calibri" pitchFamily="34" charset="-120"/>
              </a:rPr>
              <a:t>Everything else</a:t>
            </a:r>
            <a:endParaRPr lang="en-US" sz="1200" dirty="0"/>
          </a:p>
        </p:txBody>
      </p:sp>
      <p:sp>
        <p:nvSpPr>
          <p:cNvPr id="13" name="Shape 11"/>
          <p:cNvSpPr/>
          <p:nvPr/>
        </p:nvSpPr>
        <p:spPr>
          <a:xfrm>
            <a:off x="5669280" y="1188720"/>
            <a:ext cx="2926080" cy="3383280"/>
          </a:xfrm>
          <a:prstGeom prst="roundRect">
            <a:avLst>
              <a:gd name="adj" fmla="val 3125"/>
            </a:avLst>
          </a:prstGeom>
          <a:solidFill>
            <a:srgbClr val="F4F7FA"/>
          </a:solidFill>
          <a:ln w="12700">
            <a:solidFill>
              <a:srgbClr val="DDE5EC"/>
            </a:solidFill>
            <a:prstDash val="solid"/>
          </a:ln>
        </p:spPr>
      </p:sp>
      <p:sp>
        <p:nvSpPr>
          <p:cNvPr id="14" name="Text 12"/>
          <p:cNvSpPr txBox="1"/>
          <p:nvPr/>
        </p:nvSpPr>
        <p:spPr>
          <a:xfrm>
            <a:off x="5852160" y="1325880"/>
            <a:ext cx="2560320" cy="365760"/>
          </a:xfrm>
          <a:prstGeom prst="rect">
            <a:avLst/>
          </a:prstGeom>
          <a:noFill/>
          <a:ln/>
        </p:spPr>
        <p:txBody>
          <a:bodyPr wrap="square" lIns="0" tIns="0" rIns="0" bIns="0" rtlCol="0" anchor="ctr"/>
          <a:lstStyle/>
          <a:p>
            <a:pPr indent="0" marL="0">
              <a:buNone/>
            </a:pPr>
            <a:r>
              <a:rPr lang="en-US" sz="1500" b="1" dirty="0">
                <a:solidFill>
                  <a:srgbClr val="16283A"/>
                </a:solidFill>
                <a:latin typeface="Calibri" pitchFamily="34" charset="0"/>
                <a:ea typeface="Calibri" pitchFamily="34" charset="-122"/>
                <a:cs typeface="Calibri" pitchFamily="34" charset="-120"/>
              </a:rPr>
              <a:t>What the program adds</a:t>
            </a:r>
            <a:endParaRPr lang="en-US" sz="1500" dirty="0"/>
          </a:p>
        </p:txBody>
      </p:sp>
      <p:sp>
        <p:nvSpPr>
          <p:cNvPr id="15" name="Text 13"/>
          <p:cNvSpPr txBox="1"/>
          <p:nvPr/>
        </p:nvSpPr>
        <p:spPr>
          <a:xfrm>
            <a:off x="5852160" y="1783080"/>
            <a:ext cx="260604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6283A"/>
                </a:solidFill>
                <a:latin typeface="Calibri" pitchFamily="34" charset="0"/>
                <a:ea typeface="Calibri" pitchFamily="34" charset="-122"/>
                <a:cs typeface="Calibri" pitchFamily="34" charset="-120"/>
              </a:rPr>
              <a:t>Validated input (bad values are re-asked)</a:t>
            </a:r>
            <a:endParaRPr lang="en-US" sz="1300" dirty="0"/>
          </a:p>
          <a:p>
            <a:pPr marL="342900" indent="-342900">
              <a:spcAft>
                <a:spcPts val="600"/>
              </a:spcAft>
              <a:buSzPct val="100000"/>
              <a:buChar char="•"/>
            </a:pPr>
            <a:r>
              <a:rPr lang="en-US" sz="1300" dirty="0">
                <a:solidFill>
                  <a:srgbClr val="16283A"/>
                </a:solidFill>
                <a:latin typeface="Calibri" pitchFamily="34" charset="0"/>
                <a:ea typeface="Calibri" pitchFamily="34" charset="-122"/>
                <a:cs typeface="Calibri" pitchFamily="34" charset="-120"/>
              </a:rPr>
              <a:t>No pulse: recorded, no category</a:t>
            </a:r>
            <a:endParaRPr lang="en-US" sz="1300" dirty="0"/>
          </a:p>
          <a:p>
            <a:pPr marL="342900" indent="-342900">
              <a:spcAft>
                <a:spcPts val="600"/>
              </a:spcAft>
              <a:buSzPct val="100000"/>
              <a:buChar char="•"/>
            </a:pPr>
            <a:r>
              <a:rPr lang="en-US" sz="1300" dirty="0">
                <a:solidFill>
                  <a:srgbClr val="16283A"/>
                </a:solidFill>
                <a:latin typeface="Calibri" pitchFamily="34" charset="0"/>
                <a:ea typeface="Calibri" pitchFamily="34" charset="-122"/>
                <a:cs typeface="Calibri" pitchFamily="34" charset="-120"/>
              </a:rPr>
              <a:t>Treatment queue: RED, then YELLOW, then GREEN</a:t>
            </a:r>
            <a:endParaRPr lang="en-US" sz="1300" dirty="0"/>
          </a:p>
          <a:p>
            <a:pPr marL="342900" indent="-342900">
              <a:spcAft>
                <a:spcPts val="600"/>
              </a:spcAft>
              <a:buSzPct val="100000"/>
              <a:buChar char="•"/>
            </a:pPr>
            <a:r>
              <a:rPr lang="en-US" sz="1300" dirty="0">
                <a:solidFill>
                  <a:srgbClr val="16283A"/>
                </a:solidFill>
                <a:latin typeface="Calibri" pitchFamily="34" charset="0"/>
                <a:ea typeface="Calibri" pitchFamily="34" charset="-122"/>
                <a:cs typeface="Calibri" pitchFamily="34" charset="-120"/>
              </a:rPr>
              <a:t>Search a patient by name</a:t>
            </a:r>
            <a:endParaRPr lang="en-US" sz="1300" dirty="0"/>
          </a:p>
          <a:p>
            <a:pPr marL="342900" indent="-342900">
              <a:spcAft>
                <a:spcPts val="600"/>
              </a:spcAft>
              <a:buSzPct val="100000"/>
              <a:buChar char="•"/>
            </a:pPr>
            <a:r>
              <a:rPr lang="en-US" sz="1300" dirty="0">
                <a:solidFill>
                  <a:srgbClr val="16283A"/>
                </a:solidFill>
                <a:latin typeface="Calibri" pitchFamily="34" charset="0"/>
                <a:ea typeface="Calibri" pitchFamily="34" charset="-122"/>
                <a:cs typeface="Calibri" pitchFamily="34" charset="-120"/>
              </a:rPr>
              <a:t>Statistics: counts, averages, total pain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400" b="1" dirty="0">
                <a:solidFill>
                  <a:srgbClr val="16283A"/>
                </a:solidFill>
                <a:latin typeface="Cambria" pitchFamily="34" charset="0"/>
                <a:ea typeface="Cambria" pitchFamily="34" charset="-122"/>
                <a:cs typeface="Cambria" pitchFamily="34" charset="-120"/>
              </a:rPr>
              <a:t>Course Outcome Attainments</a:t>
            </a:r>
            <a:endParaRPr lang="en-US" sz="3400" dirty="0"/>
          </a:p>
        </p:txBody>
      </p:sp>
      <p:sp>
        <p:nvSpPr>
          <p:cNvPr id="3" name="Shape 1"/>
          <p:cNvSpPr/>
          <p:nvPr/>
        </p:nvSpPr>
        <p:spPr>
          <a:xfrm>
            <a:off x="548640" y="1143000"/>
            <a:ext cx="2606040" cy="3520440"/>
          </a:xfrm>
          <a:prstGeom prst="roundRect">
            <a:avLst>
              <a:gd name="adj" fmla="val 3509"/>
            </a:avLst>
          </a:prstGeom>
          <a:solidFill>
            <a:srgbClr val="FFFFFF"/>
          </a:solidFill>
          <a:ln w="12700">
            <a:solidFill>
              <a:srgbClr val="DDE5EC"/>
            </a:solidFill>
            <a:prstDash val="solid"/>
          </a:ln>
          <a:effectLst>
            <a:outerShdw sx="100000" sy="100000" kx="0" ky="0" algn="bl" rotWithShape="0" blurRad="76200" dist="25400" dir="5400000">
              <a:srgbClr val="000000">
                <a:alpha val="10000"/>
              </a:srgbClr>
            </a:outerShdw>
          </a:effectLst>
        </p:spPr>
      </p:sp>
      <p:sp>
        <p:nvSpPr>
          <p:cNvPr id="4" name="Shape 2"/>
          <p:cNvSpPr/>
          <p:nvPr/>
        </p:nvSpPr>
        <p:spPr>
          <a:xfrm>
            <a:off x="731520" y="1325880"/>
            <a:ext cx="685800" cy="685800"/>
          </a:xfrm>
          <a:prstGeom prst="ellipse">
            <a:avLst/>
          </a:prstGeom>
          <a:solidFill>
            <a:srgbClr val="1FA2B8"/>
          </a:solidFill>
          <a:ln w="12700">
            <a:solidFill>
              <a:srgbClr val="1FA2B8"/>
            </a:solidFill>
            <a:prstDash val="solid"/>
          </a:ln>
        </p:spPr>
      </p:sp>
      <p:sp>
        <p:nvSpPr>
          <p:cNvPr id="5" name="Text 3"/>
          <p:cNvSpPr txBox="1"/>
          <p:nvPr/>
        </p:nvSpPr>
        <p:spPr>
          <a:xfrm>
            <a:off x="731520" y="132588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CO1</a:t>
            </a:r>
            <a:endParaRPr lang="en-US" sz="1600" dirty="0"/>
          </a:p>
        </p:txBody>
      </p:sp>
      <p:sp>
        <p:nvSpPr>
          <p:cNvPr id="6" name="Text 4"/>
          <p:cNvSpPr txBox="1"/>
          <p:nvPr/>
        </p:nvSpPr>
        <p:spPr>
          <a:xfrm>
            <a:off x="1508760" y="1371600"/>
            <a:ext cx="1554480" cy="594360"/>
          </a:xfrm>
          <a:prstGeom prst="rect">
            <a:avLst/>
          </a:prstGeom>
          <a:noFill/>
          <a:ln/>
        </p:spPr>
        <p:txBody>
          <a:bodyPr wrap="square" lIns="0" tIns="0" rIns="0" bIns="0" rtlCol="0" anchor="ctr"/>
          <a:lstStyle/>
          <a:p>
            <a:pPr indent="0" marL="0">
              <a:buNone/>
            </a:pPr>
            <a:r>
              <a:rPr lang="en-US" sz="1100" dirty="0">
                <a:solidFill>
                  <a:srgbClr val="5B6B7B"/>
                </a:solidFill>
                <a:latin typeface="Calibri" pitchFamily="34" charset="0"/>
                <a:ea typeface="Calibri" pitchFamily="34" charset="-122"/>
                <a:cs typeface="Calibri" pitchFamily="34" charset="-120"/>
              </a:rPr>
              <a:t>Module 1 · BTL 3</a:t>
            </a:r>
            <a:endParaRPr lang="en-US" sz="1100" dirty="0"/>
          </a:p>
        </p:txBody>
      </p:sp>
      <p:sp>
        <p:nvSpPr>
          <p:cNvPr id="7" name="Text 5"/>
          <p:cNvSpPr txBox="1"/>
          <p:nvPr/>
        </p:nvSpPr>
        <p:spPr>
          <a:xfrm>
            <a:off x="731520" y="2148840"/>
            <a:ext cx="2286000" cy="320040"/>
          </a:xfrm>
          <a:prstGeom prst="rect">
            <a:avLst/>
          </a:prstGeom>
          <a:noFill/>
          <a:ln/>
        </p:spPr>
        <p:txBody>
          <a:bodyPr wrap="square" lIns="0" tIns="0" rIns="0" bIns="0" rtlCol="0" anchor="ctr"/>
          <a:lstStyle/>
          <a:p>
            <a:pPr indent="0" marL="0">
              <a:buNone/>
            </a:pPr>
            <a:r>
              <a:rPr lang="en-US" sz="1400" b="1" dirty="0">
                <a:solidFill>
                  <a:srgbClr val="16283A"/>
                </a:solidFill>
                <a:latin typeface="Calibri" pitchFamily="34" charset="0"/>
                <a:ea typeface="Calibri" pitchFamily="34" charset="-122"/>
                <a:cs typeface="Calibri" pitchFamily="34" charset="-120"/>
              </a:rPr>
              <a:t>Problem to program</a:t>
            </a:r>
            <a:endParaRPr lang="en-US" sz="1400" dirty="0"/>
          </a:p>
        </p:txBody>
      </p:sp>
      <p:sp>
        <p:nvSpPr>
          <p:cNvPr id="8" name="Text 6"/>
          <p:cNvSpPr txBox="1"/>
          <p:nvPr/>
        </p:nvSpPr>
        <p:spPr>
          <a:xfrm>
            <a:off x="731520" y="2560320"/>
            <a:ext cx="2286000" cy="20116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6283A"/>
                </a:solidFill>
                <a:latin typeface="Calibri" pitchFamily="34" charset="0"/>
                <a:ea typeface="Calibri" pitchFamily="34" charset="-122"/>
                <a:cs typeface="Calibri" pitchFamily="34" charset="-120"/>
              </a:rPr>
              <a:t>Primitive types, variables, operators</a:t>
            </a:r>
            <a:endParaRPr lang="en-US" sz="1200" dirty="0"/>
          </a:p>
          <a:p>
            <a:pPr marL="342900" indent="-342900">
              <a:spcAft>
                <a:spcPts val="500"/>
              </a:spcAft>
              <a:buSzPct val="100000"/>
              <a:buChar char="•"/>
            </a:pPr>
            <a:r>
              <a:rPr lang="en-US" sz="1200" dirty="0">
                <a:solidFill>
                  <a:srgbClr val="16283A"/>
                </a:solidFill>
                <a:latin typeface="Calibri" pitchFamily="34" charset="0"/>
                <a:ea typeface="Calibri" pitchFamily="34" charset="-122"/>
                <a:cs typeface="Calibri" pitchFamily="34" charset="-120"/>
              </a:rPr>
              <a:t>Scanner for console input</a:t>
            </a:r>
            <a:endParaRPr lang="en-US" sz="1200" dirty="0"/>
          </a:p>
          <a:p>
            <a:pPr marL="342900" indent="-342900">
              <a:spcAft>
                <a:spcPts val="500"/>
              </a:spcAft>
              <a:buSzPct val="100000"/>
              <a:buChar char="•"/>
            </a:pPr>
            <a:r>
              <a:rPr lang="en-US" sz="1200" dirty="0">
                <a:solidFill>
                  <a:srgbClr val="16283A"/>
                </a:solidFill>
                <a:latin typeface="Calibri" pitchFamily="34" charset="0"/>
                <a:ea typeface="Calibri" pitchFamily="34" charset="-122"/>
                <a:cs typeface="Calibri" pitchFamily="34" charset="-120"/>
              </a:rPr>
              <a:t>printf formatted output</a:t>
            </a:r>
            <a:endParaRPr lang="en-US" sz="1200" dirty="0"/>
          </a:p>
          <a:p>
            <a:pPr marL="342900" indent="-342900">
              <a:spcAft>
                <a:spcPts val="500"/>
              </a:spcAft>
              <a:buSzPct val="100000"/>
              <a:buChar char="•"/>
            </a:pPr>
            <a:r>
              <a:rPr lang="en-US" sz="1200" dirty="0">
                <a:solidFill>
                  <a:srgbClr val="16283A"/>
                </a:solidFill>
                <a:latin typeface="Calibri" pitchFamily="34" charset="0"/>
                <a:ea typeface="Calibri" pitchFamily="34" charset="-122"/>
                <a:cs typeface="Calibri" pitchFamily="34" charset="-120"/>
              </a:rPr>
              <a:t>Type casting: (double) sum / count</a:t>
            </a:r>
            <a:endParaRPr lang="en-US" sz="1200" dirty="0"/>
          </a:p>
        </p:txBody>
      </p:sp>
      <p:sp>
        <p:nvSpPr>
          <p:cNvPr id="9" name="Shape 7"/>
          <p:cNvSpPr/>
          <p:nvPr/>
        </p:nvSpPr>
        <p:spPr>
          <a:xfrm>
            <a:off x="3337560" y="1143000"/>
            <a:ext cx="2606040" cy="3520440"/>
          </a:xfrm>
          <a:prstGeom prst="roundRect">
            <a:avLst>
              <a:gd name="adj" fmla="val 3509"/>
            </a:avLst>
          </a:prstGeom>
          <a:solidFill>
            <a:srgbClr val="FFFFFF"/>
          </a:solidFill>
          <a:ln w="12700">
            <a:solidFill>
              <a:srgbClr val="DDE5EC"/>
            </a:solidFill>
            <a:prstDash val="solid"/>
          </a:ln>
          <a:effectLst>
            <a:outerShdw sx="100000" sy="100000" kx="0" ky="0" algn="bl" rotWithShape="0" blurRad="76200" dist="25400" dir="5400000">
              <a:srgbClr val="000000">
                <a:alpha val="10000"/>
              </a:srgbClr>
            </a:outerShdw>
          </a:effectLst>
        </p:spPr>
      </p:sp>
      <p:sp>
        <p:nvSpPr>
          <p:cNvPr id="10" name="Shape 8"/>
          <p:cNvSpPr/>
          <p:nvPr/>
        </p:nvSpPr>
        <p:spPr>
          <a:xfrm>
            <a:off x="3520440" y="1325880"/>
            <a:ext cx="685800" cy="685800"/>
          </a:xfrm>
          <a:prstGeom prst="ellipse">
            <a:avLst/>
          </a:prstGeom>
          <a:solidFill>
            <a:srgbClr val="E8A317"/>
          </a:solidFill>
          <a:ln w="12700">
            <a:solidFill>
              <a:srgbClr val="E8A317"/>
            </a:solidFill>
            <a:prstDash val="solid"/>
          </a:ln>
        </p:spPr>
      </p:sp>
      <p:sp>
        <p:nvSpPr>
          <p:cNvPr id="11" name="Text 9"/>
          <p:cNvSpPr txBox="1"/>
          <p:nvPr/>
        </p:nvSpPr>
        <p:spPr>
          <a:xfrm>
            <a:off x="3520440" y="132588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CO2</a:t>
            </a:r>
            <a:endParaRPr lang="en-US" sz="1600" dirty="0"/>
          </a:p>
        </p:txBody>
      </p:sp>
      <p:sp>
        <p:nvSpPr>
          <p:cNvPr id="12" name="Text 10"/>
          <p:cNvSpPr txBox="1"/>
          <p:nvPr/>
        </p:nvSpPr>
        <p:spPr>
          <a:xfrm>
            <a:off x="4297680" y="1371600"/>
            <a:ext cx="1554480" cy="594360"/>
          </a:xfrm>
          <a:prstGeom prst="rect">
            <a:avLst/>
          </a:prstGeom>
          <a:noFill/>
          <a:ln/>
        </p:spPr>
        <p:txBody>
          <a:bodyPr wrap="square" lIns="0" tIns="0" rIns="0" bIns="0" rtlCol="0" anchor="ctr"/>
          <a:lstStyle/>
          <a:p>
            <a:pPr indent="0" marL="0">
              <a:buNone/>
            </a:pPr>
            <a:r>
              <a:rPr lang="en-US" sz="1100" dirty="0">
                <a:solidFill>
                  <a:srgbClr val="5B6B7B"/>
                </a:solidFill>
                <a:latin typeface="Calibri" pitchFamily="34" charset="0"/>
                <a:ea typeface="Calibri" pitchFamily="34" charset="-122"/>
                <a:cs typeface="Calibri" pitchFamily="34" charset="-120"/>
              </a:rPr>
              <a:t>Module 2 · BTL 4</a:t>
            </a:r>
            <a:endParaRPr lang="en-US" sz="1100" dirty="0"/>
          </a:p>
        </p:txBody>
      </p:sp>
      <p:sp>
        <p:nvSpPr>
          <p:cNvPr id="13" name="Text 11"/>
          <p:cNvSpPr txBox="1"/>
          <p:nvPr/>
        </p:nvSpPr>
        <p:spPr>
          <a:xfrm>
            <a:off x="3520440" y="2148840"/>
            <a:ext cx="2286000" cy="320040"/>
          </a:xfrm>
          <a:prstGeom prst="rect">
            <a:avLst/>
          </a:prstGeom>
          <a:noFill/>
          <a:ln/>
        </p:spPr>
        <p:txBody>
          <a:bodyPr wrap="square" lIns="0" tIns="0" rIns="0" bIns="0" rtlCol="0" anchor="ctr"/>
          <a:lstStyle/>
          <a:p>
            <a:pPr indent="0" marL="0">
              <a:buNone/>
            </a:pPr>
            <a:r>
              <a:rPr lang="en-US" sz="1400" b="1" dirty="0">
                <a:solidFill>
                  <a:srgbClr val="16283A"/>
                </a:solidFill>
                <a:latin typeface="Calibri" pitchFamily="34" charset="0"/>
                <a:ea typeface="Calibri" pitchFamily="34" charset="-122"/>
                <a:cs typeface="Calibri" pitchFamily="34" charset="-120"/>
              </a:rPr>
              <a:t>Selection and iteration</a:t>
            </a:r>
            <a:endParaRPr lang="en-US" sz="1400" dirty="0"/>
          </a:p>
        </p:txBody>
      </p:sp>
      <p:sp>
        <p:nvSpPr>
          <p:cNvPr id="14" name="Text 12"/>
          <p:cNvSpPr txBox="1"/>
          <p:nvPr/>
        </p:nvSpPr>
        <p:spPr>
          <a:xfrm>
            <a:off x="3520440" y="2560320"/>
            <a:ext cx="2286000" cy="20116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6283A"/>
                </a:solidFill>
                <a:latin typeface="Calibri" pitchFamily="34" charset="0"/>
                <a:ea typeface="Calibri" pitchFamily="34" charset="-122"/>
                <a:cs typeface="Calibri" pitchFamily="34" charset="-120"/>
              </a:rPr>
              <a:t>if / else-if ladder in triage()</a:t>
            </a:r>
            <a:endParaRPr lang="en-US" sz="1200" dirty="0"/>
          </a:p>
          <a:p>
            <a:pPr marL="342900" indent="-342900">
              <a:spcAft>
                <a:spcPts val="500"/>
              </a:spcAft>
              <a:buSzPct val="100000"/>
              <a:buChar char="•"/>
            </a:pPr>
            <a:r>
              <a:rPr lang="en-US" sz="1200" dirty="0">
                <a:solidFill>
                  <a:srgbClr val="16283A"/>
                </a:solidFill>
                <a:latin typeface="Calibri" pitchFamily="34" charset="0"/>
                <a:ea typeface="Calibri" pitchFamily="34" charset="-122"/>
                <a:cs typeface="Calibri" pitchFamily="34" charset="-120"/>
              </a:rPr>
              <a:t>switch menu with default and break</a:t>
            </a:r>
            <a:endParaRPr lang="en-US" sz="1200" dirty="0"/>
          </a:p>
          <a:p>
            <a:pPr marL="342900" indent="-342900">
              <a:spcAft>
                <a:spcPts val="500"/>
              </a:spcAft>
              <a:buSzPct val="100000"/>
              <a:buChar char="•"/>
            </a:pPr>
            <a:r>
              <a:rPr lang="en-US" sz="1200" dirty="0">
                <a:solidFill>
                  <a:srgbClr val="16283A"/>
                </a:solidFill>
                <a:latin typeface="Calibri" pitchFamily="34" charset="0"/>
                <a:ea typeface="Calibri" pitchFamily="34" charset="-122"/>
                <a:cs typeface="Calibri" pitchFamily="34" charset="-120"/>
              </a:rPr>
              <a:t>do-while validation, for loops</a:t>
            </a:r>
            <a:endParaRPr lang="en-US" sz="1200" dirty="0"/>
          </a:p>
          <a:p>
            <a:pPr marL="342900" indent="-342900">
              <a:spcAft>
                <a:spcPts val="500"/>
              </a:spcAft>
              <a:buSzPct val="100000"/>
              <a:buChar char="•"/>
            </a:pPr>
            <a:r>
              <a:rPr lang="en-US" sz="1200" dirty="0">
                <a:solidFill>
                  <a:srgbClr val="16283A"/>
                </a:solidFill>
                <a:latin typeface="Calibri" pitchFamily="34" charset="0"/>
                <a:ea typeface="Calibri" pitchFamily="34" charset="-122"/>
                <a:cs typeface="Calibri" pitchFamily="34" charset="-120"/>
              </a:rPr>
              <a:t>continue skips no-pulse patients</a:t>
            </a:r>
            <a:endParaRPr lang="en-US" sz="1200" dirty="0"/>
          </a:p>
        </p:txBody>
      </p:sp>
      <p:sp>
        <p:nvSpPr>
          <p:cNvPr id="15" name="Shape 13"/>
          <p:cNvSpPr/>
          <p:nvPr/>
        </p:nvSpPr>
        <p:spPr>
          <a:xfrm>
            <a:off x="6126480" y="1143000"/>
            <a:ext cx="2606040" cy="3520440"/>
          </a:xfrm>
          <a:prstGeom prst="roundRect">
            <a:avLst>
              <a:gd name="adj" fmla="val 3509"/>
            </a:avLst>
          </a:prstGeom>
          <a:solidFill>
            <a:srgbClr val="FFFFFF"/>
          </a:solidFill>
          <a:ln w="12700">
            <a:solidFill>
              <a:srgbClr val="DDE5EC"/>
            </a:solidFill>
            <a:prstDash val="solid"/>
          </a:ln>
          <a:effectLst>
            <a:outerShdw sx="100000" sy="100000" kx="0" ky="0" algn="bl" rotWithShape="0" blurRad="76200" dist="25400" dir="5400000">
              <a:srgbClr val="000000">
                <a:alpha val="10000"/>
              </a:srgbClr>
            </a:outerShdw>
          </a:effectLst>
        </p:spPr>
      </p:sp>
      <p:sp>
        <p:nvSpPr>
          <p:cNvPr id="16" name="Shape 14"/>
          <p:cNvSpPr/>
          <p:nvPr/>
        </p:nvSpPr>
        <p:spPr>
          <a:xfrm>
            <a:off x="6309360" y="1325880"/>
            <a:ext cx="685800" cy="685800"/>
          </a:xfrm>
          <a:prstGeom prst="ellipse">
            <a:avLst/>
          </a:prstGeom>
          <a:solidFill>
            <a:srgbClr val="2E9E6B"/>
          </a:solidFill>
          <a:ln w="12700">
            <a:solidFill>
              <a:srgbClr val="2E9E6B"/>
            </a:solidFill>
            <a:prstDash val="solid"/>
          </a:ln>
        </p:spPr>
      </p:sp>
      <p:sp>
        <p:nvSpPr>
          <p:cNvPr id="17" name="Text 15"/>
          <p:cNvSpPr txBox="1"/>
          <p:nvPr/>
        </p:nvSpPr>
        <p:spPr>
          <a:xfrm>
            <a:off x="6309360" y="132588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CO3</a:t>
            </a:r>
            <a:endParaRPr lang="en-US" sz="1600" dirty="0"/>
          </a:p>
        </p:txBody>
      </p:sp>
      <p:sp>
        <p:nvSpPr>
          <p:cNvPr id="18" name="Text 16"/>
          <p:cNvSpPr txBox="1"/>
          <p:nvPr/>
        </p:nvSpPr>
        <p:spPr>
          <a:xfrm>
            <a:off x="7086600" y="1371600"/>
            <a:ext cx="1554480" cy="594360"/>
          </a:xfrm>
          <a:prstGeom prst="rect">
            <a:avLst/>
          </a:prstGeom>
          <a:noFill/>
          <a:ln/>
        </p:spPr>
        <p:txBody>
          <a:bodyPr wrap="square" lIns="0" tIns="0" rIns="0" bIns="0" rtlCol="0" anchor="ctr"/>
          <a:lstStyle/>
          <a:p>
            <a:pPr indent="0" marL="0">
              <a:buNone/>
            </a:pPr>
            <a:r>
              <a:rPr lang="en-US" sz="1100" dirty="0">
                <a:solidFill>
                  <a:srgbClr val="5B6B7B"/>
                </a:solidFill>
                <a:latin typeface="Calibri" pitchFamily="34" charset="0"/>
                <a:ea typeface="Calibri" pitchFamily="34" charset="-122"/>
                <a:cs typeface="Calibri" pitchFamily="34" charset="-120"/>
              </a:rPr>
              <a:t>Module 3 · BTL 4</a:t>
            </a:r>
            <a:endParaRPr lang="en-US" sz="1100" dirty="0"/>
          </a:p>
        </p:txBody>
      </p:sp>
      <p:sp>
        <p:nvSpPr>
          <p:cNvPr id="19" name="Text 17"/>
          <p:cNvSpPr txBox="1"/>
          <p:nvPr/>
        </p:nvSpPr>
        <p:spPr>
          <a:xfrm>
            <a:off x="6309360" y="2148840"/>
            <a:ext cx="2286000" cy="320040"/>
          </a:xfrm>
          <a:prstGeom prst="rect">
            <a:avLst/>
          </a:prstGeom>
          <a:noFill/>
          <a:ln/>
        </p:spPr>
        <p:txBody>
          <a:bodyPr wrap="square" lIns="0" tIns="0" rIns="0" bIns="0" rtlCol="0" anchor="ctr"/>
          <a:lstStyle/>
          <a:p>
            <a:pPr indent="0" marL="0">
              <a:buNone/>
            </a:pPr>
            <a:r>
              <a:rPr lang="en-US" sz="1400" b="1" dirty="0">
                <a:solidFill>
                  <a:srgbClr val="16283A"/>
                </a:solidFill>
                <a:latin typeface="Calibri" pitchFamily="34" charset="0"/>
                <a:ea typeface="Calibri" pitchFamily="34" charset="-122"/>
                <a:cs typeface="Calibri" pitchFamily="34" charset="-120"/>
              </a:rPr>
              <a:t>Methods, recursion, arrays</a:t>
            </a:r>
            <a:endParaRPr lang="en-US" sz="1400" dirty="0"/>
          </a:p>
        </p:txBody>
      </p:sp>
      <p:sp>
        <p:nvSpPr>
          <p:cNvPr id="20" name="Text 18"/>
          <p:cNvSpPr txBox="1"/>
          <p:nvPr/>
        </p:nvSpPr>
        <p:spPr>
          <a:xfrm>
            <a:off x="6309360" y="2560320"/>
            <a:ext cx="2286000" cy="20116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6283A"/>
                </a:solidFill>
                <a:latin typeface="Calibri" pitchFamily="34" charset="0"/>
                <a:ea typeface="Calibri" pitchFamily="34" charset="-122"/>
                <a:cs typeface="Calibri" pitchFamily="34" charset="-120"/>
              </a:rPr>
              <a:t>Methods with parameters and returns</a:t>
            </a:r>
            <a:endParaRPr lang="en-US" sz="1200" dirty="0"/>
          </a:p>
          <a:p>
            <a:pPr marL="342900" indent="-342900">
              <a:spcAft>
                <a:spcPts val="500"/>
              </a:spcAft>
              <a:buSzPct val="100000"/>
              <a:buChar char="•"/>
            </a:pPr>
            <a:r>
              <a:rPr lang="en-US" sz="1200" dirty="0">
                <a:solidFill>
                  <a:srgbClr val="16283A"/>
                </a:solidFill>
                <a:latin typeface="Calibri" pitchFamily="34" charset="0"/>
                <a:ea typeface="Calibri" pitchFamily="34" charset="-122"/>
                <a:cs typeface="Calibri" pitchFamily="34" charset="-120"/>
              </a:rPr>
              <a:t>Overloading: printLine() and printLine(title)</a:t>
            </a:r>
            <a:endParaRPr lang="en-US" sz="1200" dirty="0"/>
          </a:p>
          <a:p>
            <a:pPr marL="342900" indent="-342900">
              <a:spcAft>
                <a:spcPts val="500"/>
              </a:spcAft>
              <a:buSzPct val="100000"/>
              <a:buChar char="•"/>
            </a:pPr>
            <a:r>
              <a:rPr lang="en-US" sz="1200" dirty="0">
                <a:solidFill>
                  <a:srgbClr val="16283A"/>
                </a:solidFill>
                <a:latin typeface="Calibri" pitchFamily="34" charset="0"/>
                <a:ea typeface="Calibri" pitchFamily="34" charset="-122"/>
                <a:cs typeface="Calibri" pitchFamily="34" charset="-120"/>
              </a:rPr>
              <a:t>Recursion: totalPain() with base case</a:t>
            </a:r>
            <a:endParaRPr lang="en-US" sz="1200" dirty="0"/>
          </a:p>
          <a:p>
            <a:pPr marL="342900" indent="-342900">
              <a:spcAft>
                <a:spcPts val="500"/>
              </a:spcAft>
              <a:buSzPct val="100000"/>
              <a:buChar char="•"/>
            </a:pPr>
            <a:r>
              <a:rPr lang="en-US" sz="1200" dirty="0">
                <a:solidFill>
                  <a:srgbClr val="16283A"/>
                </a:solidFill>
                <a:latin typeface="Calibri" pitchFamily="34" charset="0"/>
                <a:ea typeface="Calibri" pitchFamily="34" charset="-122"/>
                <a:cs typeface="Calibri" pitchFamily="34" charset="-120"/>
              </a:rPr>
              <a:t>1D arrays: search, sum, average, count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3"/>
        </a:solidFill>
      </p:bgPr>
    </p:bg>
    <p:spTree>
      <p:nvGrpSpPr>
        <p:cNvPr id="1" name=""/>
        <p:cNvGrpSpPr/>
        <p:nvPr/>
      </p:nvGrpSpPr>
      <p:grpSpPr>
        <a:xfrm>
          <a:off x="0" y="0"/>
          <a:ext cx="0" cy="0"/>
          <a:chOff x="0" y="0"/>
          <a:chExt cx="0" cy="0"/>
        </a:xfrm>
      </p:grpSpPr>
      <p:sp>
        <p:nvSpPr>
          <p:cNvPr id="2" name="Text 0"/>
          <p:cNvSpPr txBox="1"/>
          <p:nvPr/>
        </p:nvSpPr>
        <p:spPr>
          <a:xfrm>
            <a:off x="548640" y="274320"/>
            <a:ext cx="804672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Result Screenshot</a:t>
            </a:r>
            <a:endParaRPr lang="en-US" sz="3000" dirty="0"/>
          </a:p>
        </p:txBody>
      </p:sp>
      <p:sp>
        <p:nvSpPr>
          <p:cNvPr id="3" name="Shape 1"/>
          <p:cNvSpPr/>
          <p:nvPr/>
        </p:nvSpPr>
        <p:spPr>
          <a:xfrm>
            <a:off x="548640" y="960120"/>
            <a:ext cx="3931920" cy="3520440"/>
          </a:xfrm>
          <a:prstGeom prst="roundRect">
            <a:avLst>
              <a:gd name="adj" fmla="val 2078"/>
            </a:avLst>
          </a:prstGeom>
          <a:solidFill>
            <a:srgbClr val="0A0F16"/>
          </a:solidFill>
          <a:ln w="12700">
            <a:solidFill>
              <a:srgbClr val="2B3A4A"/>
            </a:solidFill>
            <a:prstDash val="solid"/>
          </a:ln>
        </p:spPr>
      </p:sp>
      <p:sp>
        <p:nvSpPr>
          <p:cNvPr id="4" name="Shape 2"/>
          <p:cNvSpPr/>
          <p:nvPr/>
        </p:nvSpPr>
        <p:spPr>
          <a:xfrm>
            <a:off x="685800" y="1051560"/>
            <a:ext cx="164592" cy="164592"/>
          </a:xfrm>
          <a:prstGeom prst="ellipse">
            <a:avLst/>
          </a:prstGeom>
          <a:solidFill>
            <a:srgbClr val="D64545"/>
          </a:solidFill>
          <a:ln w="12700">
            <a:solidFill>
              <a:srgbClr val="D64545"/>
            </a:solidFill>
            <a:prstDash val="solid"/>
          </a:ln>
        </p:spPr>
      </p:sp>
      <p:sp>
        <p:nvSpPr>
          <p:cNvPr id="5" name="Shape 3"/>
          <p:cNvSpPr/>
          <p:nvPr/>
        </p:nvSpPr>
        <p:spPr>
          <a:xfrm>
            <a:off x="941832" y="1051560"/>
            <a:ext cx="164592" cy="164592"/>
          </a:xfrm>
          <a:prstGeom prst="ellipse">
            <a:avLst/>
          </a:prstGeom>
          <a:solidFill>
            <a:srgbClr val="E8A317"/>
          </a:solidFill>
          <a:ln w="12700">
            <a:solidFill>
              <a:srgbClr val="E8A317"/>
            </a:solidFill>
            <a:prstDash val="solid"/>
          </a:ln>
        </p:spPr>
      </p:sp>
      <p:sp>
        <p:nvSpPr>
          <p:cNvPr id="6" name="Shape 4"/>
          <p:cNvSpPr/>
          <p:nvPr/>
        </p:nvSpPr>
        <p:spPr>
          <a:xfrm>
            <a:off x="1197864" y="1051560"/>
            <a:ext cx="164592" cy="164592"/>
          </a:xfrm>
          <a:prstGeom prst="ellipse">
            <a:avLst/>
          </a:prstGeom>
          <a:solidFill>
            <a:srgbClr val="2E9E6B"/>
          </a:solidFill>
          <a:ln w="12700">
            <a:solidFill>
              <a:srgbClr val="2E9E6B"/>
            </a:solidFill>
            <a:prstDash val="solid"/>
          </a:ln>
        </p:spPr>
      </p:sp>
      <p:sp>
        <p:nvSpPr>
          <p:cNvPr id="7" name="Text 5"/>
          <p:cNvSpPr txBox="1"/>
          <p:nvPr/>
        </p:nvSpPr>
        <p:spPr>
          <a:xfrm>
            <a:off x="1554480" y="1005840"/>
            <a:ext cx="2834640" cy="256032"/>
          </a:xfrm>
          <a:prstGeom prst="rect">
            <a:avLst/>
          </a:prstGeom>
          <a:noFill/>
          <a:ln/>
        </p:spPr>
        <p:txBody>
          <a:bodyPr wrap="square" lIns="0" tIns="0" rIns="0" bIns="0" rtlCol="0" anchor="ctr"/>
          <a:lstStyle/>
          <a:p>
            <a:pPr indent="0" marL="0">
              <a:buNone/>
            </a:pPr>
            <a:r>
              <a:rPr lang="en-US" sz="1000" dirty="0">
                <a:solidFill>
                  <a:srgbClr val="8FA9BF"/>
                </a:solidFill>
                <a:latin typeface="Calibri" pitchFamily="34" charset="0"/>
                <a:ea typeface="Calibri" pitchFamily="34" charset="-122"/>
                <a:cs typeface="Calibri" pitchFamily="34" charset="-120"/>
              </a:rPr>
              <a:t>Patient entry and triage</a:t>
            </a:r>
            <a:endParaRPr lang="en-US" sz="1000" dirty="0"/>
          </a:p>
        </p:txBody>
      </p:sp>
      <p:sp>
        <p:nvSpPr>
          <p:cNvPr id="8" name="Text 6"/>
          <p:cNvSpPr txBox="1"/>
          <p:nvPr/>
        </p:nvSpPr>
        <p:spPr>
          <a:xfrm>
            <a:off x="731520" y="1371600"/>
            <a:ext cx="3566160" cy="3017520"/>
          </a:xfrm>
          <a:prstGeom prst="rect">
            <a:avLst/>
          </a:prstGeom>
          <a:noFill/>
          <a:ln/>
        </p:spPr>
        <p:txBody>
          <a:bodyPr wrap="square" lIns="0" tIns="0" rIns="0" bIns="0" rtlCol="0" anchor="t"/>
          <a:lstStyle/>
          <a:p>
            <a:pPr indent="0" marL="0">
              <a:buNone/>
            </a:pPr>
            <a:r>
              <a:rPr lang="en-US" sz="1050" dirty="0">
                <a:solidFill>
                  <a:srgbClr val="C9F2D6"/>
                </a:solidFill>
                <a:latin typeface="Courier New" pitchFamily="34" charset="0"/>
                <a:ea typeface="Courier New" pitchFamily="34" charset="-122"/>
                <a:cs typeface="Courier New" pitchFamily="34" charset="-120"/>
              </a:rPr>
              <a:t>--- Patient 2 ---</a:t>
            </a:r>
            <a:endParaRPr lang="en-US" sz="1050" dirty="0"/>
          </a:p>
          <a:p>
            <a:pPr indent="0" marL="0">
              <a:buNone/>
            </a:pPr>
            <a:r>
              <a:rPr lang="en-US" sz="1050" dirty="0">
                <a:solidFill>
                  <a:srgbClr val="C9F2D6"/>
                </a:solidFill>
                <a:latin typeface="Courier New" pitchFamily="34" charset="0"/>
                <a:ea typeface="Courier New" pitchFamily="34" charset="-122"/>
                <a:cs typeface="Courier New" pitchFamily="34" charset="-120"/>
              </a:rPr>
              <a:t>Patient name: Ravi</a:t>
            </a:r>
            <a:endParaRPr lang="en-US" sz="1050" dirty="0"/>
          </a:p>
          <a:p>
            <a:pPr indent="0" marL="0">
              <a:buNone/>
            </a:pPr>
            <a:r>
              <a:rPr lang="en-US" sz="1050" dirty="0">
                <a:solidFill>
                  <a:srgbClr val="C9F2D6"/>
                </a:solidFill>
                <a:latin typeface="Courier New" pitchFamily="34" charset="0"/>
                <a:ea typeface="Courier New" pitchFamily="34" charset="-122"/>
                <a:cs typeface="Courier New" pitchFamily="34" charset="-120"/>
              </a:rPr>
              <a:t>Age: 70</a:t>
            </a:r>
            <a:endParaRPr lang="en-US" sz="1050" dirty="0"/>
          </a:p>
          <a:p>
            <a:pPr indent="0" marL="0">
              <a:buNone/>
            </a:pPr>
            <a:r>
              <a:rPr lang="en-US" sz="1050" dirty="0">
                <a:solidFill>
                  <a:srgbClr val="C9F2D6"/>
                </a:solidFill>
                <a:latin typeface="Courier New" pitchFamily="34" charset="0"/>
                <a:ea typeface="Courier New" pitchFamily="34" charset="-122"/>
                <a:cs typeface="Courier New" pitchFamily="34" charset="-120"/>
              </a:rPr>
              <a:t>Is the patient conscious? (1=yes, 0=no): 1</a:t>
            </a:r>
            <a:endParaRPr lang="en-US" sz="1050" dirty="0"/>
          </a:p>
          <a:p>
            <a:pPr indent="0" marL="0">
              <a:buNone/>
            </a:pPr>
            <a:r>
              <a:rPr lang="en-US" sz="1050" dirty="0">
                <a:solidFill>
                  <a:srgbClr val="C9F2D6"/>
                </a:solidFill>
                <a:latin typeface="Courier New" pitchFamily="34" charset="0"/>
                <a:ea typeface="Courier New" pitchFamily="34" charset="-122"/>
                <a:cs typeface="Courier New" pitchFamily="34" charset="-120"/>
              </a:rPr>
              <a:t>Heart rate (30-250, or 0 if no pulse): 95</a:t>
            </a:r>
            <a:endParaRPr lang="en-US" sz="1050" dirty="0"/>
          </a:p>
          <a:p>
            <a:pPr indent="0" marL="0">
              <a:buNone/>
            </a:pPr>
            <a:r>
              <a:rPr lang="en-US" sz="1050" dirty="0">
                <a:solidFill>
                  <a:srgbClr val="C9F2D6"/>
                </a:solidFill>
                <a:latin typeface="Courier New" pitchFamily="34" charset="0"/>
                <a:ea typeface="Courier New" pitchFamily="34" charset="-122"/>
                <a:cs typeface="Courier New" pitchFamily="34" charset="-120"/>
              </a:rPr>
              <a:t>Pain level (1-10): 5</a:t>
            </a:r>
            <a:endParaRPr lang="en-US" sz="1050" dirty="0"/>
          </a:p>
          <a:p>
            <a:pPr indent="0" marL="0">
              <a:buNone/>
            </a:pPr>
            <a:r>
              <a:rPr lang="en-US" sz="1050" dirty="0">
                <a:solidFill>
                  <a:srgbClr val="C9F2D6"/>
                </a:solidFill>
                <a:latin typeface="Courier New" pitchFamily="34" charset="0"/>
                <a:ea typeface="Courier New" pitchFamily="34" charset="-122"/>
                <a:cs typeface="Courier New" pitchFamily="34" charset="-120"/>
              </a:rPr>
              <a:t>Complaint type (1=Injury, 2=Illness): 2</a:t>
            </a:r>
            <a:endParaRPr lang="en-US" sz="1050" dirty="0"/>
          </a:p>
          <a:p>
            <a:pPr indent="0" marL="0">
              <a:buNone/>
            </a:pPr>
            <a:r>
              <a:rPr lang="en-US" sz="1050" dirty="0">
                <a:solidFill>
                  <a:srgbClr val="C9F2D6"/>
                </a:solidFill>
                <a:latin typeface="Courier New" pitchFamily="34" charset="0"/>
                <a:ea typeface="Courier New" pitchFamily="34" charset="-122"/>
                <a:cs typeface="Courier New" pitchFamily="34" charset="-120"/>
              </a:rPr>
              <a:t>Triage result: YELLOW</a:t>
            </a:r>
            <a:endParaRPr lang="en-US" sz="1050" dirty="0"/>
          </a:p>
          <a:p>
            <a:pPr indent="0" marL="0">
              <a:buNone/>
            </a:pPr>
            <a:endParaRPr lang="en-US" sz="1050" dirty="0"/>
          </a:p>
          <a:p>
            <a:pPr indent="0" marL="0">
              <a:buNone/>
            </a:pPr>
            <a:r>
              <a:rPr lang="en-US" sz="1050" dirty="0">
                <a:solidFill>
                  <a:srgbClr val="C9F2D6"/>
                </a:solidFill>
                <a:latin typeface="Courier New" pitchFamily="34" charset="0"/>
                <a:ea typeface="Courier New" pitchFamily="34" charset="-122"/>
                <a:cs typeface="Courier New" pitchFamily="34" charset="-120"/>
              </a:rPr>
              <a:t>--- Patient 4 ---</a:t>
            </a:r>
            <a:endParaRPr lang="en-US" sz="1050" dirty="0"/>
          </a:p>
          <a:p>
            <a:pPr indent="0" marL="0">
              <a:buNone/>
            </a:pPr>
            <a:r>
              <a:rPr lang="en-US" sz="1050" dirty="0">
                <a:solidFill>
                  <a:srgbClr val="C9F2D6"/>
                </a:solidFill>
                <a:latin typeface="Courier New" pitchFamily="34" charset="0"/>
                <a:ea typeface="Courier New" pitchFamily="34" charset="-122"/>
                <a:cs typeface="Courier New" pitchFamily="34" charset="-120"/>
              </a:rPr>
              <a:t>Patient name: Meena</a:t>
            </a:r>
            <a:endParaRPr lang="en-US" sz="1050" dirty="0"/>
          </a:p>
          <a:p>
            <a:pPr indent="0" marL="0">
              <a:buNone/>
            </a:pPr>
            <a:r>
              <a:rPr lang="en-US" sz="1050" dirty="0">
                <a:solidFill>
                  <a:srgbClr val="C9F2D6"/>
                </a:solidFill>
                <a:latin typeface="Courier New" pitchFamily="34" charset="0"/>
                <a:ea typeface="Courier New" pitchFamily="34" charset="-122"/>
                <a:cs typeface="Courier New" pitchFamily="34" charset="-120"/>
              </a:rPr>
              <a:t>Age: 28</a:t>
            </a:r>
            <a:endParaRPr lang="en-US" sz="1050" dirty="0"/>
          </a:p>
          <a:p>
            <a:pPr indent="0" marL="0">
              <a:buNone/>
            </a:pPr>
            <a:r>
              <a:rPr lang="en-US" sz="1050" dirty="0">
                <a:solidFill>
                  <a:srgbClr val="C9F2D6"/>
                </a:solidFill>
                <a:latin typeface="Courier New" pitchFamily="34" charset="0"/>
                <a:ea typeface="Courier New" pitchFamily="34" charset="-122"/>
                <a:cs typeface="Courier New" pitchFamily="34" charset="-120"/>
              </a:rPr>
              <a:t>Is the patient conscious? (1=yes, 0=no): 1</a:t>
            </a:r>
            <a:endParaRPr lang="en-US" sz="1050" dirty="0"/>
          </a:p>
          <a:p>
            <a:pPr indent="0" marL="0">
              <a:buNone/>
            </a:pPr>
            <a:r>
              <a:rPr lang="en-US" sz="1050" dirty="0">
                <a:solidFill>
                  <a:srgbClr val="C9F2D6"/>
                </a:solidFill>
                <a:latin typeface="Courier New" pitchFamily="34" charset="0"/>
                <a:ea typeface="Courier New" pitchFamily="34" charset="-122"/>
                <a:cs typeface="Courier New" pitchFamily="34" charset="-120"/>
              </a:rPr>
              <a:t>Heart rate (30-250, or 0 if no pulse): 0</a:t>
            </a:r>
            <a:endParaRPr lang="en-US" sz="1050" dirty="0"/>
          </a:p>
          <a:p>
            <a:pPr indent="0" marL="0">
              <a:buNone/>
            </a:pPr>
            <a:r>
              <a:rPr lang="en-US" sz="1050" dirty="0">
                <a:solidFill>
                  <a:srgbClr val="C9F2D6"/>
                </a:solidFill>
                <a:latin typeface="Courier New" pitchFamily="34" charset="0"/>
                <a:ea typeface="Courier New" pitchFamily="34" charset="-122"/>
                <a:cs typeface="Courier New" pitchFamily="34" charset="-120"/>
              </a:rPr>
              <a:t>Meena has no pulse - declared dead,</a:t>
            </a:r>
            <a:endParaRPr lang="en-US" sz="1050" dirty="0"/>
          </a:p>
          <a:p>
            <a:pPr indent="0" marL="0">
              <a:buNone/>
            </a:pPr>
            <a:r>
              <a:rPr lang="en-US" sz="1050" dirty="0">
                <a:solidFill>
                  <a:srgbClr val="C9F2D6"/>
                </a:solidFill>
                <a:latin typeface="Courier New" pitchFamily="34" charset="0"/>
                <a:ea typeface="Courier New" pitchFamily="34" charset="-122"/>
                <a:cs typeface="Courier New" pitchFamily="34" charset="-120"/>
              </a:rPr>
              <a:t>no triage category.</a:t>
            </a:r>
            <a:endParaRPr lang="en-US" sz="1050" dirty="0"/>
          </a:p>
        </p:txBody>
      </p:sp>
      <p:sp>
        <p:nvSpPr>
          <p:cNvPr id="9" name="Shape 7"/>
          <p:cNvSpPr/>
          <p:nvPr/>
        </p:nvSpPr>
        <p:spPr>
          <a:xfrm>
            <a:off x="4663440" y="960120"/>
            <a:ext cx="3931920" cy="3520440"/>
          </a:xfrm>
          <a:prstGeom prst="roundRect">
            <a:avLst>
              <a:gd name="adj" fmla="val 2078"/>
            </a:avLst>
          </a:prstGeom>
          <a:solidFill>
            <a:srgbClr val="0A0F16"/>
          </a:solidFill>
          <a:ln w="12700">
            <a:solidFill>
              <a:srgbClr val="2B3A4A"/>
            </a:solidFill>
            <a:prstDash val="solid"/>
          </a:ln>
        </p:spPr>
      </p:sp>
      <p:sp>
        <p:nvSpPr>
          <p:cNvPr id="10" name="Shape 8"/>
          <p:cNvSpPr/>
          <p:nvPr/>
        </p:nvSpPr>
        <p:spPr>
          <a:xfrm>
            <a:off x="4800600" y="1051560"/>
            <a:ext cx="164592" cy="164592"/>
          </a:xfrm>
          <a:prstGeom prst="ellipse">
            <a:avLst/>
          </a:prstGeom>
          <a:solidFill>
            <a:srgbClr val="D64545"/>
          </a:solidFill>
          <a:ln w="12700">
            <a:solidFill>
              <a:srgbClr val="D64545"/>
            </a:solidFill>
            <a:prstDash val="solid"/>
          </a:ln>
        </p:spPr>
      </p:sp>
      <p:sp>
        <p:nvSpPr>
          <p:cNvPr id="11" name="Shape 9"/>
          <p:cNvSpPr/>
          <p:nvPr/>
        </p:nvSpPr>
        <p:spPr>
          <a:xfrm>
            <a:off x="5056632" y="1051560"/>
            <a:ext cx="164592" cy="164592"/>
          </a:xfrm>
          <a:prstGeom prst="ellipse">
            <a:avLst/>
          </a:prstGeom>
          <a:solidFill>
            <a:srgbClr val="E8A317"/>
          </a:solidFill>
          <a:ln w="12700">
            <a:solidFill>
              <a:srgbClr val="E8A317"/>
            </a:solidFill>
            <a:prstDash val="solid"/>
          </a:ln>
        </p:spPr>
      </p:sp>
      <p:sp>
        <p:nvSpPr>
          <p:cNvPr id="12" name="Shape 10"/>
          <p:cNvSpPr/>
          <p:nvPr/>
        </p:nvSpPr>
        <p:spPr>
          <a:xfrm>
            <a:off x="5312664" y="1051560"/>
            <a:ext cx="164592" cy="164592"/>
          </a:xfrm>
          <a:prstGeom prst="ellipse">
            <a:avLst/>
          </a:prstGeom>
          <a:solidFill>
            <a:srgbClr val="2E9E6B"/>
          </a:solidFill>
          <a:ln w="12700">
            <a:solidFill>
              <a:srgbClr val="2E9E6B"/>
            </a:solidFill>
            <a:prstDash val="solid"/>
          </a:ln>
        </p:spPr>
      </p:sp>
      <p:sp>
        <p:nvSpPr>
          <p:cNvPr id="13" name="Text 11"/>
          <p:cNvSpPr txBox="1"/>
          <p:nvPr/>
        </p:nvSpPr>
        <p:spPr>
          <a:xfrm>
            <a:off x="5669280" y="1005840"/>
            <a:ext cx="2834640" cy="256032"/>
          </a:xfrm>
          <a:prstGeom prst="rect">
            <a:avLst/>
          </a:prstGeom>
          <a:noFill/>
          <a:ln/>
        </p:spPr>
        <p:txBody>
          <a:bodyPr wrap="square" lIns="0" tIns="0" rIns="0" bIns="0" rtlCol="0" anchor="ctr"/>
          <a:lstStyle/>
          <a:p>
            <a:pPr indent="0" marL="0">
              <a:buNone/>
            </a:pPr>
            <a:r>
              <a:rPr lang="en-US" sz="1000" dirty="0">
                <a:solidFill>
                  <a:srgbClr val="8FA9BF"/>
                </a:solidFill>
                <a:latin typeface="Calibri" pitchFamily="34" charset="0"/>
                <a:ea typeface="Calibri" pitchFamily="34" charset="-122"/>
                <a:cs typeface="Calibri" pitchFamily="34" charset="-120"/>
              </a:rPr>
              <a:t>Queue, search and statistics</a:t>
            </a:r>
            <a:endParaRPr lang="en-US" sz="1000" dirty="0"/>
          </a:p>
        </p:txBody>
      </p:sp>
      <p:sp>
        <p:nvSpPr>
          <p:cNvPr id="14" name="Text 12"/>
          <p:cNvSpPr txBox="1"/>
          <p:nvPr/>
        </p:nvSpPr>
        <p:spPr>
          <a:xfrm>
            <a:off x="4846320" y="1371600"/>
            <a:ext cx="3566160" cy="3017520"/>
          </a:xfrm>
          <a:prstGeom prst="rect">
            <a:avLst/>
          </a:prstGeom>
          <a:noFill/>
          <a:ln/>
        </p:spPr>
        <p:txBody>
          <a:bodyPr wrap="square" lIns="0" tIns="0" rIns="0" bIns="0" rtlCol="0" anchor="t"/>
          <a:lstStyle/>
          <a:p>
            <a:pPr indent="0" marL="0">
              <a:buNone/>
            </a:pPr>
            <a:r>
              <a:rPr lang="en-US" sz="1050" dirty="0">
                <a:solidFill>
                  <a:srgbClr val="C9F2D6"/>
                </a:solidFill>
                <a:latin typeface="Courier New" pitchFamily="34" charset="0"/>
                <a:ea typeface="Courier New" pitchFamily="34" charset="-122"/>
                <a:cs typeface="Courier New" pitchFamily="34" charset="-120"/>
              </a:rPr>
              <a:t>TREATMENT QUEUE</a:t>
            </a:r>
            <a:endParaRPr lang="en-US" sz="1050" dirty="0"/>
          </a:p>
          <a:p>
            <a:pPr indent="0" marL="0">
              <a:buNone/>
            </a:pPr>
            <a:r>
              <a:rPr lang="en-US" sz="1050" dirty="0">
                <a:solidFill>
                  <a:srgbClr val="C9F2D6"/>
                </a:solidFill>
                <a:latin typeface="Courier New" pitchFamily="34" charset="0"/>
                <a:ea typeface="Courier New" pitchFamily="34" charset="-122"/>
                <a:cs typeface="Courier New" pitchFamily="34" charset="-120"/>
              </a:rPr>
              <a:t>1. Kiran - RED (pain 4/10)</a:t>
            </a:r>
            <a:endParaRPr lang="en-US" sz="1050" dirty="0"/>
          </a:p>
          <a:p>
            <a:pPr indent="0" marL="0">
              <a:buNone/>
            </a:pPr>
            <a:r>
              <a:rPr lang="en-US" sz="1050" dirty="0">
                <a:solidFill>
                  <a:srgbClr val="C9F2D6"/>
                </a:solidFill>
                <a:latin typeface="Courier New" pitchFamily="34" charset="0"/>
                <a:ea typeface="Courier New" pitchFamily="34" charset="-122"/>
                <a:cs typeface="Courier New" pitchFamily="34" charset="-120"/>
              </a:rPr>
              <a:t>2. Ravi - YELLOW (pain 5/10)</a:t>
            </a:r>
            <a:endParaRPr lang="en-US" sz="1050" dirty="0"/>
          </a:p>
          <a:p>
            <a:pPr indent="0" marL="0">
              <a:buNone/>
            </a:pPr>
            <a:r>
              <a:rPr lang="en-US" sz="1050" dirty="0">
                <a:solidFill>
                  <a:srgbClr val="C9F2D6"/>
                </a:solidFill>
                <a:latin typeface="Courier New" pitchFamily="34" charset="0"/>
                <a:ea typeface="Courier New" pitchFamily="34" charset="-122"/>
                <a:cs typeface="Courier New" pitchFamily="34" charset="-120"/>
              </a:rPr>
              <a:t>3. Sneha - YELLOW (pain 3/10)</a:t>
            </a:r>
            <a:endParaRPr lang="en-US" sz="1050" dirty="0"/>
          </a:p>
          <a:p>
            <a:pPr indent="0" marL="0">
              <a:buNone/>
            </a:pPr>
            <a:r>
              <a:rPr lang="en-US" sz="1050" dirty="0">
                <a:solidFill>
                  <a:srgbClr val="C9F2D6"/>
                </a:solidFill>
                <a:latin typeface="Courier New" pitchFamily="34" charset="0"/>
                <a:ea typeface="Courier New" pitchFamily="34" charset="-122"/>
                <a:cs typeface="Courier New" pitchFamily="34" charset="-120"/>
              </a:rPr>
              <a:t>4. Asha - GREEN (pain 5/10)</a:t>
            </a:r>
            <a:endParaRPr lang="en-US" sz="1050" dirty="0"/>
          </a:p>
          <a:p>
            <a:pPr indent="0" marL="0">
              <a:buNone/>
            </a:pPr>
            <a:endParaRPr lang="en-US" sz="1050" dirty="0"/>
          </a:p>
          <a:p>
            <a:pPr indent="0" marL="0">
              <a:buNone/>
            </a:pPr>
            <a:r>
              <a:rPr lang="en-US" sz="1050" dirty="0">
                <a:solidFill>
                  <a:srgbClr val="C9F2D6"/>
                </a:solidFill>
                <a:latin typeface="Courier New" pitchFamily="34" charset="0"/>
                <a:ea typeface="Courier New" pitchFamily="34" charset="-122"/>
                <a:cs typeface="Courier New" pitchFamily="34" charset="-120"/>
              </a:rPr>
              <a:t>Name to search: Ravi</a:t>
            </a:r>
            <a:endParaRPr lang="en-US" sz="1050" dirty="0"/>
          </a:p>
          <a:p>
            <a:pPr indent="0" marL="0">
              <a:buNone/>
            </a:pPr>
            <a:r>
              <a:rPr lang="en-US" sz="1050" dirty="0">
                <a:solidFill>
                  <a:srgbClr val="C9F2D6"/>
                </a:solidFill>
                <a:latin typeface="Courier New" pitchFamily="34" charset="0"/>
                <a:ea typeface="Courier New" pitchFamily="34" charset="-122"/>
                <a:cs typeface="Courier New" pitchFamily="34" charset="-120"/>
              </a:rPr>
              <a:t>Ravi - age 70, pain 5/10, YELLOW</a:t>
            </a:r>
            <a:endParaRPr lang="en-US" sz="1050" dirty="0"/>
          </a:p>
          <a:p>
            <a:pPr indent="0" marL="0">
              <a:buNone/>
            </a:pPr>
            <a:endParaRPr lang="en-US" sz="1050" dirty="0"/>
          </a:p>
          <a:p>
            <a:pPr indent="0" marL="0">
              <a:buNone/>
            </a:pPr>
            <a:r>
              <a:rPr lang="en-US" sz="1050" dirty="0">
                <a:solidFill>
                  <a:srgbClr val="C9F2D6"/>
                </a:solidFill>
                <a:latin typeface="Courier New" pitchFamily="34" charset="0"/>
                <a:ea typeface="Courier New" pitchFamily="34" charset="-122"/>
                <a:cs typeface="Courier New" pitchFamily="34" charset="-120"/>
              </a:rPr>
              <a:t>STATISTICS</a:t>
            </a:r>
            <a:endParaRPr lang="en-US" sz="1050" dirty="0"/>
          </a:p>
          <a:p>
            <a:pPr indent="0" marL="0">
              <a:buNone/>
            </a:pPr>
            <a:r>
              <a:rPr lang="en-US" sz="1050" dirty="0">
                <a:solidFill>
                  <a:srgbClr val="C9F2D6"/>
                </a:solidFill>
                <a:latin typeface="Courier New" pitchFamily="34" charset="0"/>
                <a:ea typeface="Courier New" pitchFamily="34" charset="-122"/>
                <a:cs typeface="Courier New" pitchFamily="34" charset="-120"/>
              </a:rPr>
              <a:t>Triaged patients : 4</a:t>
            </a:r>
            <a:endParaRPr lang="en-US" sz="1050" dirty="0"/>
          </a:p>
          <a:p>
            <a:pPr indent="0" marL="0">
              <a:buNone/>
            </a:pPr>
            <a:r>
              <a:rPr lang="en-US" sz="1050" dirty="0">
                <a:solidFill>
                  <a:srgbClr val="C9F2D6"/>
                </a:solidFill>
                <a:latin typeface="Courier New" pitchFamily="34" charset="0"/>
                <a:ea typeface="Courier New" pitchFamily="34" charset="-122"/>
                <a:cs typeface="Courier New" pitchFamily="34" charset="-120"/>
              </a:rPr>
              <a:t>No pulse         : 1</a:t>
            </a:r>
            <a:endParaRPr lang="en-US" sz="1050" dirty="0"/>
          </a:p>
          <a:p>
            <a:pPr indent="0" marL="0">
              <a:buNone/>
            </a:pPr>
            <a:r>
              <a:rPr lang="en-US" sz="1050" dirty="0">
                <a:solidFill>
                  <a:srgbClr val="C9F2D6"/>
                </a:solidFill>
                <a:latin typeface="Courier New" pitchFamily="34" charset="0"/>
                <a:ea typeface="Courier New" pitchFamily="34" charset="-122"/>
                <a:cs typeface="Courier New" pitchFamily="34" charset="-120"/>
              </a:rPr>
              <a:t>RED : 1   YELLOW : 2   GREEN : 1</a:t>
            </a:r>
            <a:endParaRPr lang="en-US" sz="1050" dirty="0"/>
          </a:p>
          <a:p>
            <a:pPr indent="0" marL="0">
              <a:buNone/>
            </a:pPr>
            <a:r>
              <a:rPr lang="en-US" sz="1050" dirty="0">
                <a:solidFill>
                  <a:srgbClr val="C9F2D6"/>
                </a:solidFill>
                <a:latin typeface="Courier New" pitchFamily="34" charset="0"/>
                <a:ea typeface="Courier New" pitchFamily="34" charset="-122"/>
                <a:cs typeface="Courier New" pitchFamily="34" charset="-120"/>
              </a:rPr>
              <a:t>Average age  : 39.3</a:t>
            </a:r>
            <a:endParaRPr lang="en-US" sz="1050" dirty="0"/>
          </a:p>
          <a:p>
            <a:pPr indent="0" marL="0">
              <a:buNone/>
            </a:pPr>
            <a:r>
              <a:rPr lang="en-US" sz="1050" dirty="0">
                <a:solidFill>
                  <a:srgbClr val="C9F2D6"/>
                </a:solidFill>
                <a:latin typeface="Courier New" pitchFamily="34" charset="0"/>
                <a:ea typeface="Courier New" pitchFamily="34" charset="-122"/>
                <a:cs typeface="Courier New" pitchFamily="34" charset="-120"/>
              </a:rPr>
              <a:t>Average pain : 4.3</a:t>
            </a:r>
            <a:endParaRPr lang="en-US" sz="1050" dirty="0"/>
          </a:p>
          <a:p>
            <a:pPr indent="0" marL="0">
              <a:buNone/>
            </a:pPr>
            <a:r>
              <a:rPr lang="en-US" sz="1050" dirty="0">
                <a:solidFill>
                  <a:srgbClr val="C9F2D6"/>
                </a:solidFill>
                <a:latin typeface="Courier New" pitchFamily="34" charset="0"/>
                <a:ea typeface="Courier New" pitchFamily="34" charset="-122"/>
                <a:cs typeface="Courier New" pitchFamily="34" charset="-120"/>
              </a:rPr>
              <a:t>Total pain   : 17</a:t>
            </a:r>
            <a:endParaRPr lang="en-US" sz="1050" dirty="0"/>
          </a:p>
        </p:txBody>
      </p:sp>
      <p:sp>
        <p:nvSpPr>
          <p:cNvPr id="15" name="Text 13"/>
          <p:cNvSpPr txBox="1"/>
          <p:nvPr/>
        </p:nvSpPr>
        <p:spPr>
          <a:xfrm>
            <a:off x="548640" y="4572000"/>
            <a:ext cx="8046720" cy="274320"/>
          </a:xfrm>
          <a:prstGeom prst="rect">
            <a:avLst/>
          </a:prstGeom>
          <a:noFill/>
          <a:ln/>
        </p:spPr>
        <p:txBody>
          <a:bodyPr wrap="square" lIns="0" tIns="0" rIns="0" bIns="0" rtlCol="0" anchor="ctr"/>
          <a:lstStyle/>
          <a:p>
            <a:pPr indent="0" marL="0">
              <a:buNone/>
            </a:pPr>
            <a:r>
              <a:rPr lang="en-US" sz="1100" dirty="0">
                <a:solidFill>
                  <a:srgbClr val="8FA9BF"/>
                </a:solidFill>
                <a:latin typeface="Calibri" pitchFamily="34" charset="0"/>
                <a:ea typeface="Calibri" pitchFamily="34" charset="-122"/>
                <a:cs typeface="Calibri" pitchFamily="34" charset="-120"/>
              </a:rPr>
              <a:t>Sample run with 5 patients (output captured from ER.java)</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1" name="Shape 31"/>
          <p:cNvSpPr/>
          <p:nvPr/>
        </p:nvSpPr>
        <p:spPr>
          <a:xfrm>
            <a:off x="457200" y="2302279"/>
            <a:ext cx="3794760" cy="2152111"/>
          </a:xfrm>
          <a:prstGeom prst="roundRect">
            <a:avLst>
              <a:gd name="adj" fmla="val 6000"/>
            </a:avLst>
          </a:prstGeom>
          <a:noFill/>
          <a:ln w="9525">
            <a:solidFill>
              <a:srgbClr val="5B6B7B"/>
            </a:solidFill>
            <a:prstDash val="dash"/>
          </a:ln>
        </p:spPr>
      </p:sp>
      <p:sp>
        <p:nvSpPr>
          <p:cNvPr id="11" name="Label 11"/>
          <p:cNvSpPr txBox="1"/>
          <p:nvPr/>
        </p:nvSpPr>
        <p:spPr>
          <a:xfrm>
            <a:off x="548640" y="320040"/>
            <a:ext cx="8046720" cy="566928"/>
          </a:xfrm>
          <a:prstGeom prst="rect">
            <a:avLst/>
          </a:prstGeom>
          <a:noFill/>
          <a:ln>
            <a:noFill/>
          </a:ln>
        </p:spPr>
        <p:txBody>
          <a:bodyPr wrap="square" lIns="0" tIns="0" rIns="0" bIns="0" rtlCol="0" anchor="ctr"/>
          <a:lstStyle/>
          <a:p>
            <a:pPr algn="l" indent="0" marL="0">
              <a:buNone/>
            </a:pPr>
            <a:r>
              <a:rPr lang="en-US" sz="3400" b="1" dirty="0">
                <a:solidFill>
                  <a:srgbClr val="16283A"/>
                </a:solidFill>
                <a:latin typeface="Cambria" pitchFamily="34" charset="0"/>
              </a:rPr>
              <a:t>Program Flow Chart</a:t>
            </a:r>
          </a:p>
        </p:txBody>
      </p:sp>
      <p:sp>
        <p:nvSpPr>
          <p:cNvPr id="12" name="Label 12"/>
          <p:cNvSpPr txBox="1"/>
          <p:nvPr/>
        </p:nvSpPr>
        <p:spPr>
          <a:xfrm>
            <a:off x="548640" y="960120"/>
            <a:ext cx="8046720" cy="457200"/>
          </a:xfrm>
          <a:prstGeom prst="rect">
            <a:avLst/>
          </a:prstGeom>
          <a:noFill/>
          <a:ln>
            <a:noFill/>
          </a:ln>
        </p:spPr>
        <p:txBody>
          <a:bodyPr wrap="square" lIns="0" tIns="0" rIns="0" bIns="0" rtlCol="0" anchor="t"/>
          <a:lstStyle/>
          <a:p>
            <a:pPr algn="l" indent="0" marL="0">
              <a:buNone/>
            </a:pPr>
            <a:r>
              <a:rPr lang="en-US" sz="1300" dirty="0">
                <a:solidFill>
                  <a:srgbClr val="16283A"/>
                </a:solidFill>
                <a:latin typeface="Calibri" pitchFamily="34" charset="0"/>
              </a:rPr>
              <a:t>Two phases: every patient is registered and triaged first, then the menu loop runs until Exit.</a:t>
            </a:r>
          </a:p>
        </p:txBody>
      </p:sp>
      <p:sp>
        <p:nvSpPr>
          <p:cNvPr id="13" name="Label 13"/>
          <p:cNvSpPr txBox="1"/>
          <p:nvPr/>
        </p:nvSpPr>
        <p:spPr>
          <a:xfrm>
            <a:off x="457200" y="1353312"/>
            <a:ext cx="3794760" cy="237744"/>
          </a:xfrm>
          <a:prstGeom prst="rect">
            <a:avLst/>
          </a:prstGeom>
          <a:noFill/>
          <a:ln>
            <a:noFill/>
          </a:ln>
        </p:spPr>
        <p:txBody>
          <a:bodyPr wrap="square" lIns="0" tIns="0" rIns="0" bIns="0" rtlCol="0" anchor="ctr"/>
          <a:lstStyle/>
          <a:p>
            <a:pPr algn="l" indent="0" marL="0">
              <a:buNone/>
            </a:pPr>
            <a:r>
              <a:rPr lang="en-US" sz="1150" b="1" dirty="0">
                <a:solidFill>
                  <a:srgbClr val="1FA2B8"/>
                </a:solidFill>
                <a:latin typeface="Calibri" pitchFamily="34" charset="0"/>
              </a:rPr>
              <a:t>PHASE 1  ·  REGISTER PATIENTS</a:t>
            </a:r>
          </a:p>
        </p:txBody>
      </p:sp>
      <p:sp>
        <p:nvSpPr>
          <p:cNvPr id="14" name="Shape 14"/>
          <p:cNvSpPr/>
          <p:nvPr/>
        </p:nvSpPr>
        <p:spPr>
          <a:xfrm>
            <a:off x="1440180" y="1627632"/>
            <a:ext cx="1828800" cy="237074"/>
          </a:xfrm>
          <a:prstGeom prst="roundRect">
            <a:avLst>
              <a:gd name="adj" fmla="val 50000"/>
            </a:avLst>
          </a:prstGeom>
          <a:solidFill>
            <a:srgbClr val="16283A"/>
          </a:solidFill>
          <a:ln>
            <a:noFill/>
          </a:ln>
        </p:spPr>
        <p:txBody>
          <a:bodyPr wrap="square" lIns="45720" tIns="18000" rIns="45720" bIns="18000" rtlCol="0" anchor="ctr">
            <a:normAutofit/>
          </a:bodyPr>
          <a:lstStyle/>
          <a:p>
            <a:pPr algn="ctr" indent="0" marL="0">
              <a:buNone/>
            </a:pPr>
            <a:r>
              <a:rPr lang="en-US" sz="1000" b="1" dirty="0">
                <a:solidFill>
                  <a:srgbClr val="FFFFFF"/>
                </a:solidFill>
                <a:latin typeface="Cambria" pitchFamily="34" charset="0"/>
              </a:rPr>
              <a:t>Start</a:t>
            </a:r>
          </a:p>
        </p:txBody>
      </p:sp>
      <p:sp>
        <p:nvSpPr>
          <p:cNvPr id="15" name="Arrow 15"/>
          <p:cNvSpPr/>
          <p:nvPr/>
        </p:nvSpPr>
        <p:spPr>
          <a:xfrm>
            <a:off x="2354580" y="1864706"/>
            <a:ext cx="0" cy="82064"/>
          </a:xfrm>
          <a:prstGeom prst="line">
            <a:avLst/>
          </a:prstGeom>
          <a:ln w="15875">
            <a:solidFill>
              <a:srgbClr val="5B6B7B"/>
            </a:solidFill>
            <a:tailEnd type="triangle" w="med" len="med"/>
          </a:ln>
        </p:spPr>
      </p:sp>
      <p:sp>
        <p:nvSpPr>
          <p:cNvPr id="16" name="Shape 16"/>
          <p:cNvSpPr/>
          <p:nvPr/>
        </p:nvSpPr>
        <p:spPr>
          <a:xfrm>
            <a:off x="777240" y="1946770"/>
            <a:ext cx="3154680" cy="310020"/>
          </a:xfrm>
          <a:prstGeom prst="roundRect">
            <a:avLst>
              <a:gd name="adj" fmla="val 12000"/>
            </a:avLst>
          </a:prstGeom>
          <a:solidFill>
            <a:srgbClr val="F4F7FA"/>
          </a:solidFill>
          <a:ln w="9525">
            <a:solidFill>
              <a:srgbClr val="DDE5EC"/>
            </a:solidFill>
            <a:prstDash val="solid"/>
          </a:ln>
        </p:spPr>
        <p:txBody>
          <a:bodyPr wrap="square" lIns="45720" tIns="18000" rIns="45720" bIns="18000" rtlCol="0" anchor="ctr">
            <a:normAutofit/>
          </a:bodyPr>
          <a:lstStyle/>
          <a:p>
            <a:pPr algn="ctr" indent="0" marL="0">
              <a:buNone/>
            </a:pPr>
            <a:r>
              <a:rPr lang="en-US" sz="900" dirty="0">
                <a:solidFill>
                  <a:srgbClr val="16283A"/>
                </a:solidFill>
                <a:latin typeface="Calibri" pitchFamily="34" charset="0"/>
              </a:rPr>
              <a:t>Ask number of patients</a:t>
            </a:r>
          </a:p>
        </p:txBody>
      </p:sp>
      <p:sp>
        <p:nvSpPr>
          <p:cNvPr id="17" name="Arrow 17"/>
          <p:cNvSpPr/>
          <p:nvPr/>
        </p:nvSpPr>
        <p:spPr>
          <a:xfrm>
            <a:off x="2354580" y="2256791"/>
            <a:ext cx="0" cy="82064"/>
          </a:xfrm>
          <a:prstGeom prst="line">
            <a:avLst/>
          </a:prstGeom>
          <a:ln w="15875">
            <a:solidFill>
              <a:srgbClr val="5B6B7B"/>
            </a:solidFill>
            <a:tailEnd type="triangle" w="med" len="med"/>
          </a:ln>
        </p:spPr>
      </p:sp>
      <p:sp>
        <p:nvSpPr>
          <p:cNvPr id="18" name="Label 18"/>
          <p:cNvSpPr txBox="1"/>
          <p:nvPr/>
        </p:nvSpPr>
        <p:spPr>
          <a:xfrm>
            <a:off x="777240" y="2338855"/>
            <a:ext cx="3154680" cy="200601"/>
          </a:xfrm>
          <a:prstGeom prst="rect">
            <a:avLst/>
          </a:prstGeom>
          <a:noFill/>
          <a:ln>
            <a:noFill/>
          </a:ln>
        </p:spPr>
        <p:txBody>
          <a:bodyPr wrap="square" lIns="0" tIns="0" rIns="0" bIns="0" rtlCol="0" anchor="ctr"/>
          <a:lstStyle/>
          <a:p>
            <a:pPr algn="l" indent="0" marL="0">
              <a:buNone/>
            </a:pPr>
            <a:r>
              <a:rPr lang="en-US" sz="850" b="1" dirty="0">
                <a:solidFill>
                  <a:srgbClr val="5B6B7B"/>
                </a:solidFill>
                <a:latin typeface="Calibri" pitchFamily="34" charset="0"/>
              </a:rPr>
              <a:t>LOOP — for each patient</a:t>
            </a:r>
          </a:p>
        </p:txBody>
      </p:sp>
      <p:sp>
        <p:nvSpPr>
          <p:cNvPr id="19" name="Shape 19"/>
          <p:cNvSpPr/>
          <p:nvPr/>
        </p:nvSpPr>
        <p:spPr>
          <a:xfrm>
            <a:off x="777240" y="2539456"/>
            <a:ext cx="3154680" cy="364730"/>
          </a:xfrm>
          <a:prstGeom prst="roundRect">
            <a:avLst>
              <a:gd name="adj" fmla="val 10000"/>
            </a:avLst>
          </a:prstGeom>
          <a:solidFill>
            <a:srgbClr val="F4F7FA"/>
          </a:solidFill>
          <a:ln w="9525">
            <a:solidFill>
              <a:srgbClr val="DDE5EC"/>
            </a:solidFill>
            <a:prstDash val="solid"/>
          </a:ln>
        </p:spPr>
        <p:txBody>
          <a:bodyPr wrap="square" lIns="45720" tIns="18000" rIns="45720" bIns="18000" rtlCol="0" anchor="ctr">
            <a:normAutofit/>
          </a:bodyPr>
          <a:lstStyle/>
          <a:p>
            <a:pPr algn="ctr" indent="0" marL="0">
              <a:buNone/>
            </a:pPr>
            <a:r>
              <a:rPr lang="en-US" sz="850" dirty="0">
                <a:solidFill>
                  <a:srgbClr val="16283A"/>
                </a:solidFill>
                <a:latin typeface="Calibri" pitchFamily="34" charset="0"/>
              </a:rPr>
              <a:t>Read name, age, consciousness,</a:t>
            </a:r>
          </a:p>
          <a:p>
            <a:pPr algn="ctr" indent="0" marL="0">
              <a:buNone/>
            </a:pPr>
            <a:r>
              <a:rPr lang="en-US" sz="850" dirty="0">
                <a:solidFill>
                  <a:srgbClr val="16283A"/>
                </a:solidFill>
                <a:latin typeface="Calibri" pitchFamily="34" charset="0"/>
              </a:rPr>
              <a:t>heart rate</a:t>
            </a:r>
          </a:p>
        </p:txBody>
      </p:sp>
      <p:sp>
        <p:nvSpPr>
          <p:cNvPr id="20" name="Arrow 20"/>
          <p:cNvSpPr/>
          <p:nvPr/>
        </p:nvSpPr>
        <p:spPr>
          <a:xfrm>
            <a:off x="2354580" y="2904186"/>
            <a:ext cx="0" cy="82064"/>
          </a:xfrm>
          <a:prstGeom prst="line">
            <a:avLst/>
          </a:prstGeom>
          <a:ln w="15875">
            <a:solidFill>
              <a:srgbClr val="5B6B7B"/>
            </a:solidFill>
            <a:tailEnd type="triangle" w="med" len="med"/>
          </a:ln>
        </p:spPr>
      </p:sp>
      <p:sp>
        <p:nvSpPr>
          <p:cNvPr id="21" name="Shape 21"/>
          <p:cNvSpPr/>
          <p:nvPr/>
        </p:nvSpPr>
        <p:spPr>
          <a:xfrm>
            <a:off x="1394460" y="2986250"/>
            <a:ext cx="1920240" cy="455912"/>
          </a:xfrm>
          <a:prstGeom prst="diamond">
            <a:avLst/>
          </a:prstGeom>
          <a:solidFill>
            <a:srgbClr val="E8A317"/>
          </a:solidFill>
          <a:ln>
            <a:noFill/>
          </a:ln>
        </p:spPr>
        <p:txBody>
          <a:bodyPr wrap="square" lIns="45720" tIns="18000" rIns="45720" bIns="18000" rtlCol="0" anchor="ctr">
            <a:normAutofit/>
          </a:bodyPr>
          <a:lstStyle/>
          <a:p>
            <a:pPr algn="ctr" indent="0" marL="0">
              <a:buNone/>
            </a:pPr>
            <a:r>
              <a:rPr lang="en-US" sz="850" b="1" dirty="0">
                <a:solidFill>
                  <a:srgbClr val="FFFFFF"/>
                </a:solidFill>
                <a:latin typeface="Calibri" pitchFamily="34" charset="0"/>
              </a:rPr>
              <a:t>Heart rate</a:t>
            </a:r>
          </a:p>
          <a:p>
            <a:pPr algn="ctr" indent="0" marL="0">
              <a:buNone/>
            </a:pPr>
            <a:r>
              <a:rPr lang="en-US" sz="850" b="1" dirty="0">
                <a:solidFill>
                  <a:srgbClr val="FFFFFF"/>
                </a:solidFill>
                <a:latin typeface="Calibri" pitchFamily="34" charset="0"/>
              </a:rPr>
              <a:t>= 0 ?</a:t>
            </a:r>
          </a:p>
        </p:txBody>
      </p:sp>
      <p:sp>
        <p:nvSpPr>
          <p:cNvPr id="22" name="Arrow 22"/>
          <p:cNvSpPr/>
          <p:nvPr/>
        </p:nvSpPr>
        <p:spPr>
          <a:xfrm>
            <a:off x="2354580" y="3442162"/>
            <a:ext cx="0" cy="127655"/>
          </a:xfrm>
          <a:prstGeom prst="line">
            <a:avLst/>
          </a:prstGeom>
          <a:ln w="15875">
            <a:solidFill>
              <a:srgbClr val="5B6B7B"/>
            </a:solidFill>
            <a:tailEnd type="triangle" w="med" len="med"/>
          </a:ln>
        </p:spPr>
      </p:sp>
      <p:sp>
        <p:nvSpPr>
          <p:cNvPr id="23" name="Label 23"/>
          <p:cNvSpPr txBox="1"/>
          <p:nvPr/>
        </p:nvSpPr>
        <p:spPr>
          <a:xfrm>
            <a:off x="777240" y="3551530"/>
            <a:ext cx="1485900" cy="146304"/>
          </a:xfrm>
          <a:prstGeom prst="rect">
            <a:avLst/>
          </a:prstGeom>
          <a:noFill/>
          <a:ln>
            <a:noFill/>
          </a:ln>
        </p:spPr>
        <p:txBody>
          <a:bodyPr wrap="square" lIns="0" tIns="0" rIns="0" bIns="0" rtlCol="0" anchor="ctr"/>
          <a:lstStyle/>
          <a:p>
            <a:pPr algn="ctr" indent="0" marL="0">
              <a:buNone/>
            </a:pPr>
            <a:r>
              <a:rPr lang="en-US" sz="800" b="1" dirty="0">
                <a:solidFill>
                  <a:srgbClr val="D64545"/>
                </a:solidFill>
                <a:latin typeface="Calibri" pitchFamily="34" charset="0"/>
              </a:rPr>
              <a:t>YES</a:t>
            </a:r>
          </a:p>
        </p:txBody>
      </p:sp>
      <p:sp>
        <p:nvSpPr>
          <p:cNvPr id="24" name="Label 24"/>
          <p:cNvSpPr txBox="1"/>
          <p:nvPr/>
        </p:nvSpPr>
        <p:spPr>
          <a:xfrm>
            <a:off x="2446020" y="3551530"/>
            <a:ext cx="1485900" cy="146304"/>
          </a:xfrm>
          <a:prstGeom prst="rect">
            <a:avLst/>
          </a:prstGeom>
          <a:noFill/>
          <a:ln>
            <a:noFill/>
          </a:ln>
        </p:spPr>
        <p:txBody>
          <a:bodyPr wrap="square" lIns="0" tIns="0" rIns="0" bIns="0" rtlCol="0" anchor="ctr"/>
          <a:lstStyle/>
          <a:p>
            <a:pPr algn="ctr" indent="0" marL="0">
              <a:buNone/>
            </a:pPr>
            <a:r>
              <a:rPr lang="en-US" sz="800" b="1" dirty="0">
                <a:solidFill>
                  <a:srgbClr val="5B6B7B"/>
                </a:solidFill>
                <a:latin typeface="Calibri" pitchFamily="34" charset="0"/>
              </a:rPr>
              <a:t>NO</a:t>
            </a:r>
          </a:p>
        </p:txBody>
      </p:sp>
      <p:sp>
        <p:nvSpPr>
          <p:cNvPr id="25" name="Shape 25"/>
          <p:cNvSpPr/>
          <p:nvPr/>
        </p:nvSpPr>
        <p:spPr>
          <a:xfrm>
            <a:off x="777240" y="3697834"/>
            <a:ext cx="1485900" cy="236714"/>
          </a:xfrm>
          <a:prstGeom prst="roundRect">
            <a:avLst>
              <a:gd name="adj" fmla="val 12000"/>
            </a:avLst>
          </a:prstGeom>
          <a:solidFill>
            <a:srgbClr val="FBEDEC"/>
          </a:solidFill>
          <a:ln w="9525">
            <a:solidFill>
              <a:srgbClr val="D64545"/>
            </a:solidFill>
            <a:prstDash val="solid"/>
          </a:ln>
        </p:spPr>
        <p:txBody>
          <a:bodyPr wrap="square" lIns="45720" tIns="18000" rIns="45720" bIns="18000" rtlCol="0" anchor="ctr">
            <a:normAutofit/>
          </a:bodyPr>
          <a:lstStyle/>
          <a:p>
            <a:pPr algn="ctr" indent="0" marL="0">
              <a:buNone/>
            </a:pPr>
            <a:r>
              <a:rPr lang="en-US" sz="750" dirty="0">
                <a:solidFill>
                  <a:srgbClr val="D64545"/>
                </a:solidFill>
                <a:latin typeface="Calibri" pitchFamily="34" charset="0"/>
              </a:rPr>
              <a:t>No pulse: mark,</a:t>
            </a:r>
          </a:p>
          <a:p>
            <a:pPr algn="ctr" indent="0" marL="0">
              <a:buNone/>
            </a:pPr>
            <a:r>
              <a:rPr lang="en-US" sz="750" dirty="0">
                <a:solidFill>
                  <a:srgbClr val="D64545"/>
                </a:solidFill>
                <a:latin typeface="Calibri" pitchFamily="34" charset="0"/>
              </a:rPr>
              <a:t>skip patient (continue)</a:t>
            </a:r>
          </a:p>
        </p:txBody>
      </p:sp>
      <p:sp>
        <p:nvSpPr>
          <p:cNvPr id="26" name="Shape 26"/>
          <p:cNvSpPr/>
          <p:nvPr/>
        </p:nvSpPr>
        <p:spPr>
          <a:xfrm>
            <a:off x="2446020" y="3697834"/>
            <a:ext cx="1485900" cy="236714"/>
          </a:xfrm>
          <a:prstGeom prst="roundRect">
            <a:avLst>
              <a:gd name="adj" fmla="val 12000"/>
            </a:avLst>
          </a:prstGeom>
          <a:solidFill>
            <a:srgbClr val="F4F7FA"/>
          </a:solidFill>
          <a:ln w="9525">
            <a:solidFill>
              <a:srgbClr val="DDE5EC"/>
            </a:solidFill>
            <a:prstDash val="solid"/>
          </a:ln>
        </p:spPr>
        <p:txBody>
          <a:bodyPr wrap="square" lIns="45720" tIns="18000" rIns="45720" bIns="18000" rtlCol="0" anchor="ctr">
            <a:normAutofit/>
          </a:bodyPr>
          <a:lstStyle/>
          <a:p>
            <a:pPr algn="ctr" indent="0" marL="0">
              <a:buNone/>
            </a:pPr>
            <a:r>
              <a:rPr lang="en-US" sz="750" dirty="0">
                <a:solidFill>
                  <a:srgbClr val="16283A"/>
                </a:solidFill>
                <a:latin typeface="Calibri" pitchFamily="34" charset="0"/>
              </a:rPr>
              <a:t>Read pain level &amp;</a:t>
            </a:r>
          </a:p>
          <a:p>
            <a:pPr algn="ctr" indent="0" marL="0">
              <a:buNone/>
            </a:pPr>
            <a:r>
              <a:rPr lang="en-US" sz="750" dirty="0">
                <a:solidFill>
                  <a:srgbClr val="16283A"/>
                </a:solidFill>
                <a:latin typeface="Calibri" pitchFamily="34" charset="0"/>
              </a:rPr>
              <a:t>complaint type</a:t>
            </a:r>
          </a:p>
        </p:txBody>
      </p:sp>
      <p:sp>
        <p:nvSpPr>
          <p:cNvPr id="27" name="Arrow 27"/>
          <p:cNvSpPr/>
          <p:nvPr/>
        </p:nvSpPr>
        <p:spPr>
          <a:xfrm>
            <a:off x="3188970" y="3934547"/>
            <a:ext cx="0" cy="82064"/>
          </a:xfrm>
          <a:prstGeom prst="line">
            <a:avLst/>
          </a:prstGeom>
          <a:ln w="15875">
            <a:solidFill>
              <a:srgbClr val="5B6B7B"/>
            </a:solidFill>
            <a:tailEnd type="triangle" w="med" len="med"/>
          </a:ln>
        </p:spPr>
      </p:sp>
      <p:sp>
        <p:nvSpPr>
          <p:cNvPr id="28" name="Shape 28"/>
          <p:cNvSpPr/>
          <p:nvPr/>
        </p:nvSpPr>
        <p:spPr>
          <a:xfrm>
            <a:off x="777240" y="4016611"/>
            <a:ext cx="3154680" cy="401203"/>
          </a:xfrm>
          <a:prstGeom prst="roundRect">
            <a:avLst>
              <a:gd name="adj" fmla="val 10000"/>
            </a:avLst>
          </a:prstGeom>
          <a:solidFill>
            <a:srgbClr val="F4F7FA"/>
          </a:solidFill>
          <a:ln w="9525">
            <a:solidFill>
              <a:srgbClr val="DDE5EC"/>
            </a:solidFill>
            <a:prstDash val="solid"/>
          </a:ln>
        </p:spPr>
        <p:txBody>
          <a:bodyPr wrap="square" lIns="45720" tIns="18000" rIns="45720" bIns="18000" rtlCol="0" anchor="ctr">
            <a:normAutofit/>
          </a:bodyPr>
          <a:lstStyle/>
          <a:p>
            <a:pPr algn="ctr" indent="0" marL="0">
              <a:buNone/>
            </a:pPr>
            <a:r>
              <a:rPr lang="en-US" sz="800" dirty="0">
                <a:solidFill>
                  <a:srgbClr val="16283A"/>
                </a:solidFill>
                <a:latin typeface="Calibri" pitchFamily="34" charset="0"/>
              </a:rPr>
              <a:t>triage() decides RED / YELLOW /</a:t>
            </a:r>
          </a:p>
          <a:p>
            <a:pPr algn="ctr" indent="0" marL="0">
              <a:buNone/>
            </a:pPr>
            <a:r>
              <a:rPr lang="en-US" sz="800" dirty="0">
                <a:solidFill>
                  <a:srgbClr val="16283A"/>
                </a:solidFill>
                <a:latin typeface="Calibri" pitchFamily="34" charset="0"/>
              </a:rPr>
              <a:t>GREEN; store in arrays, count++</a:t>
            </a:r>
          </a:p>
        </p:txBody>
      </p:sp>
      <p:sp>
        <p:nvSpPr>
          <p:cNvPr id="29" name="Arrow 29"/>
          <p:cNvSpPr/>
          <p:nvPr/>
        </p:nvSpPr>
        <p:spPr>
          <a:xfrm>
            <a:off x="2354580" y="4417814"/>
            <a:ext cx="0" cy="82064"/>
          </a:xfrm>
          <a:prstGeom prst="line">
            <a:avLst/>
          </a:prstGeom>
          <a:ln w="15875">
            <a:solidFill>
              <a:srgbClr val="5B6B7B"/>
            </a:solidFill>
            <a:tailEnd type="triangle" w="med" len="med"/>
          </a:ln>
        </p:spPr>
      </p:sp>
      <p:sp>
        <p:nvSpPr>
          <p:cNvPr id="30" name="Shape 30"/>
          <p:cNvSpPr/>
          <p:nvPr/>
        </p:nvSpPr>
        <p:spPr>
          <a:xfrm>
            <a:off x="640080" y="4499878"/>
            <a:ext cx="3429000" cy="364730"/>
          </a:xfrm>
          <a:prstGeom prst="roundRect">
            <a:avLst>
              <a:gd name="adj" fmla="val 18000"/>
            </a:avLst>
          </a:prstGeom>
          <a:solidFill>
            <a:srgbClr val="16283A"/>
          </a:solidFill>
          <a:ln>
            <a:noFill/>
          </a:ln>
        </p:spPr>
        <p:txBody>
          <a:bodyPr wrap="square" lIns="45720" tIns="18000" rIns="45720" bIns="18000" rtlCol="0" anchor="ctr">
            <a:normAutofit/>
          </a:bodyPr>
          <a:lstStyle/>
          <a:p>
            <a:pPr algn="ctr" indent="0" marL="0">
              <a:buNone/>
            </a:pPr>
            <a:r>
              <a:rPr lang="en-US" sz="900" b="1" dirty="0">
                <a:solidFill>
                  <a:srgbClr val="FFFFFF"/>
                </a:solidFill>
                <a:latin typeface="Cambria" pitchFamily="34" charset="0"/>
              </a:rPr>
              <a:t>All patients registered</a:t>
            </a:r>
          </a:p>
        </p:txBody>
      </p:sp>
      <p:sp>
        <p:nvSpPr>
          <p:cNvPr id="42" name="Shape 42"/>
          <p:cNvSpPr/>
          <p:nvPr/>
        </p:nvSpPr>
        <p:spPr>
          <a:xfrm>
            <a:off x="4892040" y="1591056"/>
            <a:ext cx="3794760" cy="2474351"/>
          </a:xfrm>
          <a:prstGeom prst="roundRect">
            <a:avLst>
              <a:gd name="adj" fmla="val 6000"/>
            </a:avLst>
          </a:prstGeom>
          <a:noFill/>
          <a:ln w="9525">
            <a:solidFill>
              <a:srgbClr val="5B6B7B"/>
            </a:solidFill>
            <a:prstDash val="dash"/>
          </a:ln>
        </p:spPr>
      </p:sp>
      <p:sp>
        <p:nvSpPr>
          <p:cNvPr id="32" name="Label 32"/>
          <p:cNvSpPr txBox="1"/>
          <p:nvPr/>
        </p:nvSpPr>
        <p:spPr>
          <a:xfrm>
            <a:off x="4892040" y="1353312"/>
            <a:ext cx="3794760" cy="237744"/>
          </a:xfrm>
          <a:prstGeom prst="rect">
            <a:avLst/>
          </a:prstGeom>
          <a:noFill/>
          <a:ln>
            <a:noFill/>
          </a:ln>
        </p:spPr>
        <p:txBody>
          <a:bodyPr wrap="square" lIns="0" tIns="0" rIns="0" bIns="0" rtlCol="0" anchor="ctr"/>
          <a:lstStyle/>
          <a:p>
            <a:pPr algn="l" indent="0" marL="0">
              <a:buNone/>
            </a:pPr>
            <a:r>
              <a:rPr lang="en-US" sz="1150" b="1" dirty="0">
                <a:solidFill>
                  <a:srgbClr val="2E9E6B"/>
                </a:solidFill>
                <a:latin typeface="Calibri" pitchFamily="34" charset="0"/>
              </a:rPr>
              <a:t>PHASE 2  ·  MENU LOOP</a:t>
            </a:r>
          </a:p>
        </p:txBody>
      </p:sp>
      <p:sp>
        <p:nvSpPr>
          <p:cNvPr id="33" name="Label 33"/>
          <p:cNvSpPr txBox="1"/>
          <p:nvPr/>
        </p:nvSpPr>
        <p:spPr>
          <a:xfrm>
            <a:off x="5212080" y="1627632"/>
            <a:ext cx="3154680" cy="119397"/>
          </a:xfrm>
          <a:prstGeom prst="rect">
            <a:avLst/>
          </a:prstGeom>
          <a:noFill/>
          <a:ln>
            <a:noFill/>
          </a:ln>
        </p:spPr>
        <p:txBody>
          <a:bodyPr wrap="square" lIns="0" tIns="0" rIns="0" bIns="0" rtlCol="0" anchor="ctr"/>
          <a:lstStyle/>
          <a:p>
            <a:pPr algn="l" indent="0" marL="0">
              <a:buNone/>
            </a:pPr>
            <a:r>
              <a:rPr lang="en-US" sz="850" b="1" dirty="0">
                <a:solidFill>
                  <a:srgbClr val="5B6B7B"/>
                </a:solidFill>
                <a:latin typeface="Calibri" pitchFamily="34" charset="0"/>
              </a:rPr>
              <a:t>LOOP — repeats until Exit</a:t>
            </a:r>
          </a:p>
        </p:txBody>
      </p:sp>
      <p:sp>
        <p:nvSpPr>
          <p:cNvPr id="34" name="Shape 34"/>
          <p:cNvSpPr/>
          <p:nvPr/>
        </p:nvSpPr>
        <p:spPr>
          <a:xfrm>
            <a:off x="5212080" y="1747029"/>
            <a:ext cx="3154680" cy="557184"/>
          </a:xfrm>
          <a:prstGeom prst="roundRect">
            <a:avLst>
              <a:gd name="adj" fmla="val 10000"/>
            </a:avLst>
          </a:prstGeom>
          <a:solidFill>
            <a:srgbClr val="F4F7FA"/>
          </a:solidFill>
          <a:ln w="9525">
            <a:solidFill>
              <a:srgbClr val="DDE5EC"/>
            </a:solidFill>
            <a:prstDash val="solid"/>
          </a:ln>
        </p:spPr>
        <p:txBody>
          <a:bodyPr wrap="square" lIns="45720" tIns="18000" rIns="45720" bIns="18000" rtlCol="0" anchor="ctr">
            <a:normAutofit/>
          </a:bodyPr>
          <a:lstStyle/>
          <a:p>
            <a:pPr algn="ctr" indent="0" marL="0">
              <a:buNone/>
            </a:pPr>
            <a:r>
              <a:rPr lang="en-US" sz="800" dirty="0">
                <a:solidFill>
                  <a:srgbClr val="16283A"/>
                </a:solidFill>
                <a:latin typeface="Calibri" pitchFamily="34" charset="0"/>
              </a:rPr>
              <a:t>Show menu:</a:t>
            </a:r>
          </a:p>
          <a:p>
            <a:pPr algn="ctr" indent="0" marL="0">
              <a:buNone/>
            </a:pPr>
            <a:r>
              <a:rPr lang="en-US" sz="800" dirty="0">
                <a:solidFill>
                  <a:srgbClr val="16283A"/>
                </a:solidFill>
                <a:latin typeface="Calibri" pitchFamily="34" charset="0"/>
              </a:rPr>
              <a:t>1 Queue   2 Search   3 Stats   4 Exit</a:t>
            </a:r>
          </a:p>
        </p:txBody>
      </p:sp>
      <p:sp>
        <p:nvSpPr>
          <p:cNvPr id="35" name="Arrow 35"/>
          <p:cNvSpPr/>
          <p:nvPr/>
        </p:nvSpPr>
        <p:spPr>
          <a:xfrm>
            <a:off x="6789420" y="2304213"/>
            <a:ext cx="0" cy="119397"/>
          </a:xfrm>
          <a:prstGeom prst="line">
            <a:avLst/>
          </a:prstGeom>
          <a:ln w="15875">
            <a:solidFill>
              <a:srgbClr val="5B6B7B"/>
            </a:solidFill>
            <a:tailEnd type="triangle" w="med" len="med"/>
          </a:ln>
        </p:spPr>
      </p:sp>
      <p:sp>
        <p:nvSpPr>
          <p:cNvPr id="36" name="Shape 36"/>
          <p:cNvSpPr/>
          <p:nvPr/>
        </p:nvSpPr>
        <p:spPr>
          <a:xfrm>
            <a:off x="5875020" y="2423610"/>
            <a:ext cx="1828800" cy="663315"/>
          </a:xfrm>
          <a:prstGeom prst="diamond">
            <a:avLst/>
          </a:prstGeom>
          <a:solidFill>
            <a:srgbClr val="E8A317"/>
          </a:solidFill>
          <a:ln>
            <a:noFill/>
          </a:ln>
        </p:spPr>
        <p:txBody>
          <a:bodyPr wrap="square" lIns="45720" tIns="18000" rIns="45720" bIns="18000" rtlCol="0" anchor="ctr">
            <a:normAutofit/>
          </a:bodyPr>
          <a:lstStyle/>
          <a:p>
            <a:pPr algn="ctr" indent="0" marL="0">
              <a:buNone/>
            </a:pPr>
            <a:r>
              <a:rPr lang="en-US" sz="900" b="1" dirty="0">
                <a:solidFill>
                  <a:srgbClr val="FFFFFF"/>
                </a:solidFill>
                <a:latin typeface="Calibri" pitchFamily="34" charset="0"/>
              </a:rPr>
              <a:t>Choice?</a:t>
            </a:r>
          </a:p>
        </p:txBody>
      </p:sp>
      <p:sp>
        <p:nvSpPr>
          <p:cNvPr id="37" name="Arrow 37"/>
          <p:cNvSpPr/>
          <p:nvPr/>
        </p:nvSpPr>
        <p:spPr>
          <a:xfrm>
            <a:off x="6789420" y="3086924"/>
            <a:ext cx="0" cy="119397"/>
          </a:xfrm>
          <a:prstGeom prst="line">
            <a:avLst/>
          </a:prstGeom>
          <a:ln w="15875">
            <a:solidFill>
              <a:srgbClr val="5B6B7B"/>
            </a:solidFill>
            <a:tailEnd type="triangle" w="med" len="med"/>
          </a:ln>
        </p:spPr>
      </p:sp>
      <p:sp>
        <p:nvSpPr>
          <p:cNvPr id="38" name="Shape 38"/>
          <p:cNvSpPr/>
          <p:nvPr/>
        </p:nvSpPr>
        <p:spPr>
          <a:xfrm>
            <a:off x="5212080" y="3206321"/>
            <a:ext cx="3154680" cy="822510"/>
          </a:xfrm>
          <a:prstGeom prst="roundRect">
            <a:avLst>
              <a:gd name="adj" fmla="val 10000"/>
            </a:avLst>
          </a:prstGeom>
          <a:solidFill>
            <a:srgbClr val="F4F7FA"/>
          </a:solidFill>
          <a:ln w="9525">
            <a:solidFill>
              <a:srgbClr val="DDE5EC"/>
            </a:solidFill>
            <a:prstDash val="solid"/>
          </a:ln>
        </p:spPr>
        <p:txBody>
          <a:bodyPr wrap="square" lIns="45720" tIns="18000" rIns="45720" bIns="18000" rtlCol="0" anchor="ctr">
            <a:normAutofit/>
          </a:bodyPr>
          <a:lstStyle/>
          <a:p>
            <a:pPr algn="ctr" indent="0" marL="0">
              <a:buNone/>
            </a:pPr>
            <a:r>
              <a:rPr lang="en-US" sz="750" dirty="0">
                <a:solidFill>
                  <a:srgbClr val="16283A"/>
                </a:solidFill>
                <a:latin typeface="Calibri" pitchFamily="34" charset="0"/>
              </a:rPr>
              <a:t>1 → showQueue()   2 → findPatient()</a:t>
            </a:r>
          </a:p>
          <a:p>
            <a:pPr algn="ctr" indent="0" marL="0">
              <a:buNone/>
            </a:pPr>
            <a:r>
              <a:rPr lang="en-US" sz="750" dirty="0">
                <a:solidFill>
                  <a:srgbClr val="16283A"/>
                </a:solidFill>
                <a:latin typeface="Calibri" pitchFamily="34" charset="0"/>
              </a:rPr>
              <a:t>3 → showStats()</a:t>
            </a:r>
          </a:p>
          <a:p>
            <a:pPr algn="ctr" indent="0" marL="0">
              <a:buNone/>
            </a:pPr>
            <a:r>
              <a:rPr lang="en-US" sz="750" dirty="0">
                <a:solidFill>
                  <a:srgbClr val="16283A"/>
                </a:solidFill>
                <a:latin typeface="Calibri" pitchFamily="34" charset="0"/>
              </a:rPr>
              <a:t>(1–3 print a result, then the menu shows again)</a:t>
            </a:r>
          </a:p>
        </p:txBody>
      </p:sp>
      <p:sp>
        <p:nvSpPr>
          <p:cNvPr id="39" name="Arrow 39"/>
          <p:cNvSpPr/>
          <p:nvPr/>
        </p:nvSpPr>
        <p:spPr>
          <a:xfrm>
            <a:off x="6789420" y="4028831"/>
            <a:ext cx="0" cy="185728"/>
          </a:xfrm>
          <a:prstGeom prst="line">
            <a:avLst/>
          </a:prstGeom>
          <a:ln w="15875">
            <a:solidFill>
              <a:srgbClr val="5B6B7B"/>
            </a:solidFill>
            <a:tailEnd type="triangle" w="med" len="med"/>
          </a:ln>
        </p:spPr>
      </p:sp>
      <p:sp>
        <p:nvSpPr>
          <p:cNvPr id="40" name="Label 40"/>
          <p:cNvSpPr txBox="1"/>
          <p:nvPr/>
        </p:nvSpPr>
        <p:spPr>
          <a:xfrm>
            <a:off x="6880860" y="4056691"/>
            <a:ext cx="914400" cy="182880"/>
          </a:xfrm>
          <a:prstGeom prst="rect">
            <a:avLst/>
          </a:prstGeom>
          <a:noFill/>
          <a:ln>
            <a:noFill/>
          </a:ln>
        </p:spPr>
        <p:txBody>
          <a:bodyPr wrap="square" lIns="0" tIns="0" rIns="0" bIns="0" rtlCol="0" anchor="ctr"/>
          <a:lstStyle/>
          <a:p>
            <a:pPr algn="l" indent="0" marL="0">
              <a:buNone/>
            </a:pPr>
            <a:r>
              <a:rPr lang="en-US" sz="800" b="1" dirty="0">
                <a:solidFill>
                  <a:srgbClr val="D64545"/>
                </a:solidFill>
                <a:latin typeface="Calibri" pitchFamily="34" charset="0"/>
              </a:rPr>
              <a:t>4</a:t>
            </a:r>
          </a:p>
        </p:txBody>
      </p:sp>
      <p:sp>
        <p:nvSpPr>
          <p:cNvPr id="41" name="Shape 41"/>
          <p:cNvSpPr/>
          <p:nvPr/>
        </p:nvSpPr>
        <p:spPr>
          <a:xfrm>
            <a:off x="5074920" y="4333956"/>
            <a:ext cx="3429000" cy="530652"/>
          </a:xfrm>
          <a:prstGeom prst="roundRect">
            <a:avLst>
              <a:gd name="adj" fmla="val 18000"/>
            </a:avLst>
          </a:prstGeom>
          <a:solidFill>
            <a:srgbClr val="16283A"/>
          </a:solidFill>
          <a:ln>
            <a:noFill/>
          </a:ln>
        </p:spPr>
        <p:txBody>
          <a:bodyPr wrap="square" lIns="45720" tIns="18000" rIns="45720" bIns="18000" rtlCol="0" anchor="ctr">
            <a:normAutofit/>
          </a:bodyPr>
          <a:lstStyle/>
          <a:p>
            <a:pPr algn="ctr" indent="0" marL="0">
              <a:buNone/>
            </a:pPr>
            <a:r>
              <a:rPr lang="en-US" sz="900" b="1" dirty="0">
                <a:solidFill>
                  <a:srgbClr val="FFFFFF"/>
                </a:solidFill>
                <a:latin typeface="Cambria" pitchFamily="34" charset="0"/>
              </a:rPr>
              <a:t>Exit — “Goodbye!” printed</a:t>
            </a: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2026-09-28T14:29:45Z</dcterms:created>
  <dcterms:modified xsi:type="dcterms:W3CDTF">2026-09-28T14:29:45Z</dcterms:modified>
</cp:coreProperties>
</file>